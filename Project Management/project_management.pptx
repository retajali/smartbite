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6"/>
  </p:notesMasterIdLst>
  <p:sldIdLst>
    <p:sldId id="256" r:id="rId2"/>
    <p:sldId id="257" r:id="rId3"/>
    <p:sldId id="258" r:id="rId4"/>
    <p:sldId id="259" r:id="rId5"/>
    <p:sldId id="267" r:id="rId6"/>
    <p:sldId id="260" r:id="rId7"/>
    <p:sldId id="268" r:id="rId8"/>
    <p:sldId id="269" r:id="rId9"/>
    <p:sldId id="272" r:id="rId10"/>
    <p:sldId id="270" r:id="rId11"/>
    <p:sldId id="271" r:id="rId12"/>
    <p:sldId id="273" r:id="rId13"/>
    <p:sldId id="275" r:id="rId14"/>
    <p:sldId id="265" r:id="rId15"/>
  </p:sldIdLst>
  <p:sldSz cx="18288000" cy="10287000"/>
  <p:notesSz cx="6858000" cy="9144000"/>
  <p:embeddedFontLst>
    <p:embeddedFont>
      <p:font typeface="DM Sans" pitchFamily="2" charset="0"/>
      <p:regular r:id="rId17"/>
      <p:bold r:id="rId18"/>
      <p:italic r:id="rId19"/>
      <p:boldItalic r:id="rId20"/>
    </p:embeddedFont>
    <p:embeddedFont>
      <p:font typeface="Poppins" panose="00000500000000000000" pitchFamily="2" charset="0"/>
      <p:regular r:id="rId21"/>
      <p:bold r:id="rId22"/>
      <p:italic r:id="rId23"/>
      <p:boldItalic r:id="rId24"/>
    </p:embeddedFont>
    <p:embeddedFont>
      <p:font typeface="Poppins Bold" panose="00000800000000000000" charset="0"/>
      <p:regular r:id="rId25"/>
    </p:embeddedFont>
    <p:embeddedFont>
      <p:font typeface="Poppins Semi-Bold" panose="020B0604020202020204" charset="0"/>
      <p:regular r:id="rId26"/>
    </p:embeddedFont>
  </p:embeddedFontLst>
  <p:custShowLst>
    <p:custShow name="Custom Show 1" id="0">
      <p:sldLst>
        <p:sld r:id="rId14"/>
      </p:sldLst>
    </p:custShow>
  </p:custShowLst>
  <p:defaultTextStyle>
    <a:defPPr>
      <a:defRPr lang="en-US"/>
    </a:defPPr>
    <a:lvl1pPr marL="0" algn="l" defTabSz="914265" rtl="0" eaLnBrk="1" latinLnBrk="0" hangingPunct="1">
      <a:defRPr sz="1800" kern="1200">
        <a:solidFill>
          <a:schemeClr val="tx1"/>
        </a:solidFill>
        <a:latin typeface="+mn-lt"/>
        <a:ea typeface="+mn-ea"/>
        <a:cs typeface="+mn-cs"/>
      </a:defRPr>
    </a:lvl1pPr>
    <a:lvl2pPr marL="457134" algn="l" defTabSz="914265" rtl="0" eaLnBrk="1" latinLnBrk="0" hangingPunct="1">
      <a:defRPr sz="1800" kern="1200">
        <a:solidFill>
          <a:schemeClr val="tx1"/>
        </a:solidFill>
        <a:latin typeface="+mn-lt"/>
        <a:ea typeface="+mn-ea"/>
        <a:cs typeface="+mn-cs"/>
      </a:defRPr>
    </a:lvl2pPr>
    <a:lvl3pPr marL="914265" algn="l" defTabSz="914265" rtl="0" eaLnBrk="1" latinLnBrk="0" hangingPunct="1">
      <a:defRPr sz="1800" kern="1200">
        <a:solidFill>
          <a:schemeClr val="tx1"/>
        </a:solidFill>
        <a:latin typeface="+mn-lt"/>
        <a:ea typeface="+mn-ea"/>
        <a:cs typeface="+mn-cs"/>
      </a:defRPr>
    </a:lvl3pPr>
    <a:lvl4pPr marL="1371399" algn="l" defTabSz="914265" rtl="0" eaLnBrk="1" latinLnBrk="0" hangingPunct="1">
      <a:defRPr sz="1800" kern="1200">
        <a:solidFill>
          <a:schemeClr val="tx1"/>
        </a:solidFill>
        <a:latin typeface="+mn-lt"/>
        <a:ea typeface="+mn-ea"/>
        <a:cs typeface="+mn-cs"/>
      </a:defRPr>
    </a:lvl4pPr>
    <a:lvl5pPr marL="1828532" algn="l" defTabSz="914265" rtl="0" eaLnBrk="1" latinLnBrk="0" hangingPunct="1">
      <a:defRPr sz="1800" kern="1200">
        <a:solidFill>
          <a:schemeClr val="tx1"/>
        </a:solidFill>
        <a:latin typeface="+mn-lt"/>
        <a:ea typeface="+mn-ea"/>
        <a:cs typeface="+mn-cs"/>
      </a:defRPr>
    </a:lvl5pPr>
    <a:lvl6pPr marL="2285664" algn="l" defTabSz="914265" rtl="0" eaLnBrk="1" latinLnBrk="0" hangingPunct="1">
      <a:defRPr sz="1800" kern="1200">
        <a:solidFill>
          <a:schemeClr val="tx1"/>
        </a:solidFill>
        <a:latin typeface="+mn-lt"/>
        <a:ea typeface="+mn-ea"/>
        <a:cs typeface="+mn-cs"/>
      </a:defRPr>
    </a:lvl6pPr>
    <a:lvl7pPr marL="2742797" algn="l" defTabSz="914265" rtl="0" eaLnBrk="1" latinLnBrk="0" hangingPunct="1">
      <a:defRPr sz="1800" kern="1200">
        <a:solidFill>
          <a:schemeClr val="tx1"/>
        </a:solidFill>
        <a:latin typeface="+mn-lt"/>
        <a:ea typeface="+mn-ea"/>
        <a:cs typeface="+mn-cs"/>
      </a:defRPr>
    </a:lvl7pPr>
    <a:lvl8pPr marL="3199929" algn="l" defTabSz="914265" rtl="0" eaLnBrk="1" latinLnBrk="0" hangingPunct="1">
      <a:defRPr sz="1800" kern="1200">
        <a:solidFill>
          <a:schemeClr val="tx1"/>
        </a:solidFill>
        <a:latin typeface="+mn-lt"/>
        <a:ea typeface="+mn-ea"/>
        <a:cs typeface="+mn-cs"/>
      </a:defRPr>
    </a:lvl8pPr>
    <a:lvl9pPr marL="3657062" algn="l" defTabSz="914265"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custShow id="0"/>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391EF"/>
    <a:srgbClr val="4632FF"/>
    <a:srgbClr val="6496FF"/>
    <a:srgbClr val="0064FF"/>
    <a:srgbClr val="0000FF"/>
    <a:srgbClr val="00B0FF"/>
    <a:srgbClr val="0064E1"/>
    <a:srgbClr val="0000E1"/>
    <a:srgbClr val="1F0CA8"/>
    <a:srgbClr val="4F81B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3969" autoAdjust="0"/>
  </p:normalViewPr>
  <p:slideViewPr>
    <p:cSldViewPr>
      <p:cViewPr varScale="1">
        <p:scale>
          <a:sx n="43" d="100"/>
          <a:sy n="43" d="100"/>
        </p:scale>
        <p:origin x="936"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A8C2F6F-F5C5-4A62-89EB-FF6D8667B6E2}" type="datetimeFigureOut">
              <a:rPr lang="en-US" smtClean="0"/>
              <a:t>29-Oct-25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4CD72B6-6F16-402A-A5C2-C8813793DB28}" type="slidenum">
              <a:rPr lang="en-US" smtClean="0"/>
              <a:t>‹#›</a:t>
            </a:fld>
            <a:endParaRPr lang="en-US"/>
          </a:p>
        </p:txBody>
      </p:sp>
    </p:spTree>
    <p:extLst>
      <p:ext uri="{BB962C8B-B14F-4D97-AF65-F5344CB8AC3E}">
        <p14:creationId xmlns:p14="http://schemas.microsoft.com/office/powerpoint/2010/main" val="2676161156"/>
      </p:ext>
    </p:extLst>
  </p:cSld>
  <p:clrMap bg1="lt1" tx1="dk1" bg2="lt2" tx2="dk2" accent1="accent1" accent2="accent2" accent3="accent3" accent4="accent4" accent5="accent5" accent6="accent6" hlink="hlink" folHlink="folHlink"/>
  <p:notesStyle>
    <a:lvl1pPr marL="0" algn="l" defTabSz="914265" rtl="0" eaLnBrk="1" latinLnBrk="0" hangingPunct="1">
      <a:defRPr sz="1200" kern="1200">
        <a:solidFill>
          <a:schemeClr val="tx1"/>
        </a:solidFill>
        <a:latin typeface="+mn-lt"/>
        <a:ea typeface="+mn-ea"/>
        <a:cs typeface="+mn-cs"/>
      </a:defRPr>
    </a:lvl1pPr>
    <a:lvl2pPr marL="457134" algn="l" defTabSz="914265" rtl="0" eaLnBrk="1" latinLnBrk="0" hangingPunct="1">
      <a:defRPr sz="1200" kern="1200">
        <a:solidFill>
          <a:schemeClr val="tx1"/>
        </a:solidFill>
        <a:latin typeface="+mn-lt"/>
        <a:ea typeface="+mn-ea"/>
        <a:cs typeface="+mn-cs"/>
      </a:defRPr>
    </a:lvl2pPr>
    <a:lvl3pPr marL="914265" algn="l" defTabSz="914265" rtl="0" eaLnBrk="1" latinLnBrk="0" hangingPunct="1">
      <a:defRPr sz="1200" kern="1200">
        <a:solidFill>
          <a:schemeClr val="tx1"/>
        </a:solidFill>
        <a:latin typeface="+mn-lt"/>
        <a:ea typeface="+mn-ea"/>
        <a:cs typeface="+mn-cs"/>
      </a:defRPr>
    </a:lvl3pPr>
    <a:lvl4pPr marL="1371399" algn="l" defTabSz="914265" rtl="0" eaLnBrk="1" latinLnBrk="0" hangingPunct="1">
      <a:defRPr sz="1200" kern="1200">
        <a:solidFill>
          <a:schemeClr val="tx1"/>
        </a:solidFill>
        <a:latin typeface="+mn-lt"/>
        <a:ea typeface="+mn-ea"/>
        <a:cs typeface="+mn-cs"/>
      </a:defRPr>
    </a:lvl4pPr>
    <a:lvl5pPr marL="1828532" algn="l" defTabSz="914265" rtl="0" eaLnBrk="1" latinLnBrk="0" hangingPunct="1">
      <a:defRPr sz="1200" kern="1200">
        <a:solidFill>
          <a:schemeClr val="tx1"/>
        </a:solidFill>
        <a:latin typeface="+mn-lt"/>
        <a:ea typeface="+mn-ea"/>
        <a:cs typeface="+mn-cs"/>
      </a:defRPr>
    </a:lvl5pPr>
    <a:lvl6pPr marL="2285664" algn="l" defTabSz="914265" rtl="0" eaLnBrk="1" latinLnBrk="0" hangingPunct="1">
      <a:defRPr sz="1200" kern="1200">
        <a:solidFill>
          <a:schemeClr val="tx1"/>
        </a:solidFill>
        <a:latin typeface="+mn-lt"/>
        <a:ea typeface="+mn-ea"/>
        <a:cs typeface="+mn-cs"/>
      </a:defRPr>
    </a:lvl6pPr>
    <a:lvl7pPr marL="2742797" algn="l" defTabSz="914265" rtl="0" eaLnBrk="1" latinLnBrk="0" hangingPunct="1">
      <a:defRPr sz="1200" kern="1200">
        <a:solidFill>
          <a:schemeClr val="tx1"/>
        </a:solidFill>
        <a:latin typeface="+mn-lt"/>
        <a:ea typeface="+mn-ea"/>
        <a:cs typeface="+mn-cs"/>
      </a:defRPr>
    </a:lvl7pPr>
    <a:lvl8pPr marL="3199929" algn="l" defTabSz="914265" rtl="0" eaLnBrk="1" latinLnBrk="0" hangingPunct="1">
      <a:defRPr sz="1200" kern="1200">
        <a:solidFill>
          <a:schemeClr val="tx1"/>
        </a:solidFill>
        <a:latin typeface="+mn-lt"/>
        <a:ea typeface="+mn-ea"/>
        <a:cs typeface="+mn-cs"/>
      </a:defRPr>
    </a:lvl8pPr>
    <a:lvl9pPr marL="3657062" algn="l" defTabSz="914265"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4CD72B6-6F16-402A-A5C2-C8813793DB28}" type="slidenum">
              <a:rPr lang="en-US" smtClean="0"/>
              <a:t>13</a:t>
            </a:fld>
            <a:endParaRPr lang="en-US"/>
          </a:p>
        </p:txBody>
      </p:sp>
    </p:spTree>
    <p:extLst>
      <p:ext uri="{BB962C8B-B14F-4D97-AF65-F5344CB8AC3E}">
        <p14:creationId xmlns:p14="http://schemas.microsoft.com/office/powerpoint/2010/main" val="5342105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16" y="2130428"/>
            <a:ext cx="7772402" cy="1470027"/>
          </a:xfrm>
        </p:spPr>
        <p:txBody>
          <a:bodyPr/>
          <a:lstStyle/>
          <a:p>
            <a:r>
              <a:rPr lang="en-US"/>
              <a:t>Click to edit Master title style</a:t>
            </a:r>
          </a:p>
        </p:txBody>
      </p:sp>
      <p:sp>
        <p:nvSpPr>
          <p:cNvPr id="3" name="Subtitle 2"/>
          <p:cNvSpPr>
            <a:spLocks noGrp="1"/>
          </p:cNvSpPr>
          <p:nvPr>
            <p:ph type="subTitle" idx="1"/>
          </p:nvPr>
        </p:nvSpPr>
        <p:spPr>
          <a:xfrm>
            <a:off x="1371602" y="3886202"/>
            <a:ext cx="6400800" cy="1752600"/>
          </a:xfrm>
        </p:spPr>
        <p:txBody>
          <a:bodyPr/>
          <a:lstStyle>
            <a:lvl1pPr marL="0" indent="0" algn="ctr">
              <a:buNone/>
              <a:defRPr>
                <a:solidFill>
                  <a:schemeClr val="tx1">
                    <a:tint val="75000"/>
                  </a:schemeClr>
                </a:solidFill>
              </a:defRPr>
            </a:lvl1pPr>
            <a:lvl2pPr marL="457181" indent="0" algn="ctr">
              <a:buNone/>
              <a:defRPr>
                <a:solidFill>
                  <a:schemeClr val="tx1">
                    <a:tint val="75000"/>
                  </a:schemeClr>
                </a:solidFill>
              </a:defRPr>
            </a:lvl2pPr>
            <a:lvl3pPr marL="914363" indent="0" algn="ctr">
              <a:buNone/>
              <a:defRPr>
                <a:solidFill>
                  <a:schemeClr val="tx1">
                    <a:tint val="75000"/>
                  </a:schemeClr>
                </a:solidFill>
              </a:defRPr>
            </a:lvl3pPr>
            <a:lvl4pPr marL="1371546" indent="0" algn="ctr">
              <a:buNone/>
              <a:defRPr>
                <a:solidFill>
                  <a:schemeClr val="tx1">
                    <a:tint val="75000"/>
                  </a:schemeClr>
                </a:solidFill>
              </a:defRPr>
            </a:lvl4pPr>
            <a:lvl5pPr marL="1828733" indent="0" algn="ctr">
              <a:buNone/>
              <a:defRPr>
                <a:solidFill>
                  <a:schemeClr val="tx1">
                    <a:tint val="75000"/>
                  </a:schemeClr>
                </a:solidFill>
              </a:defRPr>
            </a:lvl5pPr>
            <a:lvl6pPr marL="2285918" indent="0" algn="ctr">
              <a:buNone/>
              <a:defRPr>
                <a:solidFill>
                  <a:schemeClr val="tx1">
                    <a:tint val="75000"/>
                  </a:schemeClr>
                </a:solidFill>
              </a:defRPr>
            </a:lvl6pPr>
            <a:lvl7pPr marL="2743095" indent="0" algn="ctr">
              <a:buNone/>
              <a:defRPr>
                <a:solidFill>
                  <a:schemeClr val="tx1">
                    <a:tint val="75000"/>
                  </a:schemeClr>
                </a:solidFill>
              </a:defRPr>
            </a:lvl7pPr>
            <a:lvl8pPr marL="3200276" indent="0" algn="ctr">
              <a:buNone/>
              <a:defRPr>
                <a:solidFill>
                  <a:schemeClr val="tx1">
                    <a:tint val="75000"/>
                  </a:schemeClr>
                </a:solidFill>
              </a:defRPr>
            </a:lvl8pPr>
            <a:lvl9pPr marL="3657459"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29-Oct-25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29-Oct-25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29" y="4406907"/>
            <a:ext cx="7772402" cy="1362075"/>
          </a:xfrm>
        </p:spPr>
        <p:txBody>
          <a:bodyPr anchor="t"/>
          <a:lstStyle>
            <a:lvl1pPr algn="l">
              <a:defRPr sz="4001" b="1" cap="all"/>
            </a:lvl1pPr>
          </a:lstStyle>
          <a:p>
            <a:r>
              <a:rPr lang="en-US"/>
              <a:t>Click to edit Master title style</a:t>
            </a:r>
          </a:p>
        </p:txBody>
      </p:sp>
      <p:sp>
        <p:nvSpPr>
          <p:cNvPr id="3" name="Text Placeholder 2"/>
          <p:cNvSpPr>
            <a:spLocks noGrp="1"/>
          </p:cNvSpPr>
          <p:nvPr>
            <p:ph type="body" idx="1"/>
          </p:nvPr>
        </p:nvSpPr>
        <p:spPr>
          <a:xfrm>
            <a:off x="722329" y="2906728"/>
            <a:ext cx="7772402" cy="1500189"/>
          </a:xfrm>
        </p:spPr>
        <p:txBody>
          <a:bodyPr anchor="b"/>
          <a:lstStyle>
            <a:lvl1pPr marL="0" indent="0">
              <a:buNone/>
              <a:defRPr sz="2000">
                <a:solidFill>
                  <a:schemeClr val="tx1">
                    <a:tint val="75000"/>
                  </a:schemeClr>
                </a:solidFill>
              </a:defRPr>
            </a:lvl1pPr>
            <a:lvl2pPr marL="457181" indent="0">
              <a:buNone/>
              <a:defRPr sz="1800">
                <a:solidFill>
                  <a:schemeClr val="tx1">
                    <a:tint val="75000"/>
                  </a:schemeClr>
                </a:solidFill>
              </a:defRPr>
            </a:lvl2pPr>
            <a:lvl3pPr marL="914363" indent="0">
              <a:buNone/>
              <a:defRPr sz="1601">
                <a:solidFill>
                  <a:schemeClr val="tx1">
                    <a:tint val="75000"/>
                  </a:schemeClr>
                </a:solidFill>
              </a:defRPr>
            </a:lvl3pPr>
            <a:lvl4pPr marL="1371546" indent="0">
              <a:buNone/>
              <a:defRPr sz="1400">
                <a:solidFill>
                  <a:schemeClr val="tx1">
                    <a:tint val="75000"/>
                  </a:schemeClr>
                </a:solidFill>
              </a:defRPr>
            </a:lvl4pPr>
            <a:lvl5pPr marL="1828733" indent="0">
              <a:buNone/>
              <a:defRPr sz="1400">
                <a:solidFill>
                  <a:schemeClr val="tx1">
                    <a:tint val="75000"/>
                  </a:schemeClr>
                </a:solidFill>
              </a:defRPr>
            </a:lvl5pPr>
            <a:lvl6pPr marL="2285918" indent="0">
              <a:buNone/>
              <a:defRPr sz="1400">
                <a:solidFill>
                  <a:schemeClr val="tx1">
                    <a:tint val="75000"/>
                  </a:schemeClr>
                </a:solidFill>
              </a:defRPr>
            </a:lvl6pPr>
            <a:lvl7pPr marL="2743095" indent="0">
              <a:buNone/>
              <a:defRPr sz="1400">
                <a:solidFill>
                  <a:schemeClr val="tx1">
                    <a:tint val="75000"/>
                  </a:schemeClr>
                </a:solidFill>
              </a:defRPr>
            </a:lvl7pPr>
            <a:lvl8pPr marL="3200276" indent="0">
              <a:buNone/>
              <a:defRPr sz="1400">
                <a:solidFill>
                  <a:schemeClr val="tx1">
                    <a:tint val="75000"/>
                  </a:schemeClr>
                </a:solidFill>
              </a:defRPr>
            </a:lvl8pPr>
            <a:lvl9pPr marL="3657459"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29-Oct-25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2" y="1600222"/>
            <a:ext cx="4038600" cy="4525964"/>
          </a:xfrm>
        </p:spPr>
        <p:txBody>
          <a:bodyPr/>
          <a:lstStyle>
            <a:lvl1pPr>
              <a:defRPr sz="2801"/>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22"/>
            <a:ext cx="4038600" cy="4525964"/>
          </a:xfrm>
        </p:spPr>
        <p:txBody>
          <a:bodyPr/>
          <a:lstStyle>
            <a:lvl1pPr>
              <a:defRPr sz="2801"/>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29-Oct-25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19" y="1535117"/>
            <a:ext cx="4040189" cy="639762"/>
          </a:xfrm>
        </p:spPr>
        <p:txBody>
          <a:bodyPr anchor="b"/>
          <a:lstStyle>
            <a:lvl1pPr marL="0" indent="0">
              <a:buNone/>
              <a:defRPr sz="2400" b="1"/>
            </a:lvl1pPr>
            <a:lvl2pPr marL="457181" indent="0">
              <a:buNone/>
              <a:defRPr sz="2000" b="1"/>
            </a:lvl2pPr>
            <a:lvl3pPr marL="914363" indent="0">
              <a:buNone/>
              <a:defRPr sz="1800" b="1"/>
            </a:lvl3pPr>
            <a:lvl4pPr marL="1371546" indent="0">
              <a:buNone/>
              <a:defRPr sz="1601" b="1"/>
            </a:lvl4pPr>
            <a:lvl5pPr marL="1828733" indent="0">
              <a:buNone/>
              <a:defRPr sz="1601" b="1"/>
            </a:lvl5pPr>
            <a:lvl6pPr marL="2285918" indent="0">
              <a:buNone/>
              <a:defRPr sz="1601" b="1"/>
            </a:lvl6pPr>
            <a:lvl7pPr marL="2743095" indent="0">
              <a:buNone/>
              <a:defRPr sz="1601" b="1"/>
            </a:lvl7pPr>
            <a:lvl8pPr marL="3200276" indent="0">
              <a:buNone/>
              <a:defRPr sz="1601" b="1"/>
            </a:lvl8pPr>
            <a:lvl9pPr marL="3657459" indent="0">
              <a:buNone/>
              <a:defRPr sz="1601" b="1"/>
            </a:lvl9pPr>
          </a:lstStyle>
          <a:p>
            <a:pPr lvl="0"/>
            <a:r>
              <a:rPr lang="en-US"/>
              <a:t>Click to edit Master text styles</a:t>
            </a:r>
          </a:p>
        </p:txBody>
      </p:sp>
      <p:sp>
        <p:nvSpPr>
          <p:cNvPr id="4" name="Content Placeholder 3"/>
          <p:cNvSpPr>
            <a:spLocks noGrp="1"/>
          </p:cNvSpPr>
          <p:nvPr>
            <p:ph sz="half" idx="2"/>
          </p:nvPr>
        </p:nvSpPr>
        <p:spPr>
          <a:xfrm>
            <a:off x="457219" y="2174885"/>
            <a:ext cx="4040189" cy="3951290"/>
          </a:xfrm>
        </p:spPr>
        <p:txBody>
          <a:bodyPr/>
          <a:lstStyle>
            <a:lvl1pPr>
              <a:defRPr sz="2400"/>
            </a:lvl1pPr>
            <a:lvl2pPr>
              <a:defRPr sz="2000"/>
            </a:lvl2pPr>
            <a:lvl3pPr>
              <a:defRPr sz="1800"/>
            </a:lvl3pPr>
            <a:lvl4pPr>
              <a:defRPr sz="1601"/>
            </a:lvl4pPr>
            <a:lvl5pPr>
              <a:defRPr sz="1601"/>
            </a:lvl5pPr>
            <a:lvl6pPr>
              <a:defRPr sz="1601"/>
            </a:lvl6pPr>
            <a:lvl7pPr>
              <a:defRPr sz="1601"/>
            </a:lvl7pPr>
            <a:lvl8pPr>
              <a:defRPr sz="1601"/>
            </a:lvl8pPr>
            <a:lvl9pPr>
              <a:defRPr sz="1601"/>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43" y="1535117"/>
            <a:ext cx="4041776" cy="639762"/>
          </a:xfrm>
        </p:spPr>
        <p:txBody>
          <a:bodyPr anchor="b"/>
          <a:lstStyle>
            <a:lvl1pPr marL="0" indent="0">
              <a:buNone/>
              <a:defRPr sz="2400" b="1"/>
            </a:lvl1pPr>
            <a:lvl2pPr marL="457181" indent="0">
              <a:buNone/>
              <a:defRPr sz="2000" b="1"/>
            </a:lvl2pPr>
            <a:lvl3pPr marL="914363" indent="0">
              <a:buNone/>
              <a:defRPr sz="1800" b="1"/>
            </a:lvl3pPr>
            <a:lvl4pPr marL="1371546" indent="0">
              <a:buNone/>
              <a:defRPr sz="1601" b="1"/>
            </a:lvl4pPr>
            <a:lvl5pPr marL="1828733" indent="0">
              <a:buNone/>
              <a:defRPr sz="1601" b="1"/>
            </a:lvl5pPr>
            <a:lvl6pPr marL="2285918" indent="0">
              <a:buNone/>
              <a:defRPr sz="1601" b="1"/>
            </a:lvl6pPr>
            <a:lvl7pPr marL="2743095" indent="0">
              <a:buNone/>
              <a:defRPr sz="1601" b="1"/>
            </a:lvl7pPr>
            <a:lvl8pPr marL="3200276" indent="0">
              <a:buNone/>
              <a:defRPr sz="1601" b="1"/>
            </a:lvl8pPr>
            <a:lvl9pPr marL="3657459" indent="0">
              <a:buNone/>
              <a:defRPr sz="1601" b="1"/>
            </a:lvl9pPr>
          </a:lstStyle>
          <a:p>
            <a:pPr lvl="0"/>
            <a:r>
              <a:rPr lang="en-US"/>
              <a:t>Click to edit Master text styles</a:t>
            </a:r>
          </a:p>
        </p:txBody>
      </p:sp>
      <p:sp>
        <p:nvSpPr>
          <p:cNvPr id="6" name="Content Placeholder 5"/>
          <p:cNvSpPr>
            <a:spLocks noGrp="1"/>
          </p:cNvSpPr>
          <p:nvPr>
            <p:ph sz="quarter" idx="4"/>
          </p:nvPr>
        </p:nvSpPr>
        <p:spPr>
          <a:xfrm>
            <a:off x="4645043" y="2174885"/>
            <a:ext cx="4041776" cy="3951290"/>
          </a:xfrm>
        </p:spPr>
        <p:txBody>
          <a:bodyPr/>
          <a:lstStyle>
            <a:lvl1pPr>
              <a:defRPr sz="2400"/>
            </a:lvl1pPr>
            <a:lvl2pPr>
              <a:defRPr sz="2000"/>
            </a:lvl2pPr>
            <a:lvl3pPr>
              <a:defRPr sz="1800"/>
            </a:lvl3pPr>
            <a:lvl4pPr>
              <a:defRPr sz="1601"/>
            </a:lvl4pPr>
            <a:lvl5pPr>
              <a:defRPr sz="1601"/>
            </a:lvl5pPr>
            <a:lvl6pPr>
              <a:defRPr sz="1601"/>
            </a:lvl6pPr>
            <a:lvl7pPr>
              <a:defRPr sz="1601"/>
            </a:lvl7pPr>
            <a:lvl8pPr>
              <a:defRPr sz="1601"/>
            </a:lvl8pPr>
            <a:lvl9pPr>
              <a:defRPr sz="1601"/>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29-Oct-25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29-Oct-25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29-Oct-25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17" y="273050"/>
            <a:ext cx="3008315"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3" y="273070"/>
            <a:ext cx="5111753" cy="5853113"/>
          </a:xfrm>
        </p:spPr>
        <p:txBody>
          <a:bodyPr/>
          <a:lstStyle>
            <a:lvl1pPr>
              <a:defRPr sz="3200"/>
            </a:lvl1pPr>
            <a:lvl2pPr>
              <a:defRPr sz="2801"/>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17" y="1435121"/>
            <a:ext cx="3008315" cy="4691063"/>
          </a:xfrm>
        </p:spPr>
        <p:txBody>
          <a:bodyPr/>
          <a:lstStyle>
            <a:lvl1pPr marL="0" indent="0">
              <a:buNone/>
              <a:defRPr sz="1400"/>
            </a:lvl1pPr>
            <a:lvl2pPr marL="457181" indent="0">
              <a:buNone/>
              <a:defRPr sz="1200"/>
            </a:lvl2pPr>
            <a:lvl3pPr marL="914363" indent="0">
              <a:buNone/>
              <a:defRPr sz="1001"/>
            </a:lvl3pPr>
            <a:lvl4pPr marL="1371546" indent="0">
              <a:buNone/>
              <a:defRPr sz="900"/>
            </a:lvl4pPr>
            <a:lvl5pPr marL="1828733" indent="0">
              <a:buNone/>
              <a:defRPr sz="900"/>
            </a:lvl5pPr>
            <a:lvl6pPr marL="2285918" indent="0">
              <a:buNone/>
              <a:defRPr sz="900"/>
            </a:lvl6pPr>
            <a:lvl7pPr marL="2743095" indent="0">
              <a:buNone/>
              <a:defRPr sz="900"/>
            </a:lvl7pPr>
            <a:lvl8pPr marL="3200276" indent="0">
              <a:buNone/>
              <a:defRPr sz="900"/>
            </a:lvl8pPr>
            <a:lvl9pPr marL="3657459"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29-Oct-25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9" y="4800614"/>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9" y="612777"/>
            <a:ext cx="5486400" cy="4114800"/>
          </a:xfrm>
        </p:spPr>
        <p:txBody>
          <a:bodyPr/>
          <a:lstStyle>
            <a:lvl1pPr marL="0" indent="0">
              <a:buNone/>
              <a:defRPr sz="3200"/>
            </a:lvl1pPr>
            <a:lvl2pPr marL="457181" indent="0">
              <a:buNone/>
              <a:defRPr sz="2801"/>
            </a:lvl2pPr>
            <a:lvl3pPr marL="914363" indent="0">
              <a:buNone/>
              <a:defRPr sz="2400"/>
            </a:lvl3pPr>
            <a:lvl4pPr marL="1371546" indent="0">
              <a:buNone/>
              <a:defRPr sz="2000"/>
            </a:lvl4pPr>
            <a:lvl5pPr marL="1828733" indent="0">
              <a:buNone/>
              <a:defRPr sz="2000"/>
            </a:lvl5pPr>
            <a:lvl6pPr marL="2285918" indent="0">
              <a:buNone/>
              <a:defRPr sz="2000"/>
            </a:lvl6pPr>
            <a:lvl7pPr marL="2743095" indent="0">
              <a:buNone/>
              <a:defRPr sz="2000"/>
            </a:lvl7pPr>
            <a:lvl8pPr marL="3200276" indent="0">
              <a:buNone/>
              <a:defRPr sz="2000"/>
            </a:lvl8pPr>
            <a:lvl9pPr marL="3657459" indent="0">
              <a:buNone/>
              <a:defRPr sz="2000"/>
            </a:lvl9pPr>
          </a:lstStyle>
          <a:p>
            <a:endParaRPr lang="en-US" dirty="0"/>
          </a:p>
        </p:txBody>
      </p:sp>
      <p:sp>
        <p:nvSpPr>
          <p:cNvPr id="4" name="Text Placeholder 3"/>
          <p:cNvSpPr>
            <a:spLocks noGrp="1"/>
          </p:cNvSpPr>
          <p:nvPr>
            <p:ph type="body" sz="half" idx="2"/>
          </p:nvPr>
        </p:nvSpPr>
        <p:spPr>
          <a:xfrm>
            <a:off x="1792289" y="5367349"/>
            <a:ext cx="5486400" cy="804863"/>
          </a:xfrm>
        </p:spPr>
        <p:txBody>
          <a:bodyPr/>
          <a:lstStyle>
            <a:lvl1pPr marL="0" indent="0">
              <a:buNone/>
              <a:defRPr sz="1400"/>
            </a:lvl1pPr>
            <a:lvl2pPr marL="457181" indent="0">
              <a:buNone/>
              <a:defRPr sz="1200"/>
            </a:lvl2pPr>
            <a:lvl3pPr marL="914363" indent="0">
              <a:buNone/>
              <a:defRPr sz="1001"/>
            </a:lvl3pPr>
            <a:lvl4pPr marL="1371546" indent="0">
              <a:buNone/>
              <a:defRPr sz="900"/>
            </a:lvl4pPr>
            <a:lvl5pPr marL="1828733" indent="0">
              <a:buNone/>
              <a:defRPr sz="900"/>
            </a:lvl5pPr>
            <a:lvl6pPr marL="2285918" indent="0">
              <a:buNone/>
              <a:defRPr sz="900"/>
            </a:lvl6pPr>
            <a:lvl7pPr marL="2743095" indent="0">
              <a:buNone/>
              <a:defRPr sz="900"/>
            </a:lvl7pPr>
            <a:lvl8pPr marL="3200276" indent="0">
              <a:buNone/>
              <a:defRPr sz="900"/>
            </a:lvl8pPr>
            <a:lvl9pPr marL="3657459"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29-Oct-25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29-Oct-25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9"/>
            <a:ext cx="2057400" cy="585152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49"/>
            <a:ext cx="6019800" cy="585152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29-Oct-25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2" y="274641"/>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2" y="1600222"/>
            <a:ext cx="8229600" cy="452596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61"/>
            <a:ext cx="2133600" cy="365127"/>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29-Oct-25</a:t>
            </a:fld>
            <a:endParaRPr lang="en-US" dirty="0"/>
          </a:p>
        </p:txBody>
      </p:sp>
      <p:sp>
        <p:nvSpPr>
          <p:cNvPr id="5" name="Footer Placeholder 4"/>
          <p:cNvSpPr>
            <a:spLocks noGrp="1"/>
          </p:cNvSpPr>
          <p:nvPr>
            <p:ph type="ftr" sz="quarter" idx="3"/>
          </p:nvPr>
        </p:nvSpPr>
        <p:spPr>
          <a:xfrm>
            <a:off x="3124202" y="6356361"/>
            <a:ext cx="2895600" cy="365127"/>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61"/>
            <a:ext cx="2133600" cy="365127"/>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363" rtl="0" eaLnBrk="1" latinLnBrk="0" hangingPunct="1">
        <a:spcBef>
          <a:spcPct val="0"/>
        </a:spcBef>
        <a:buNone/>
        <a:defRPr sz="4400" kern="1200">
          <a:solidFill>
            <a:schemeClr val="tx1"/>
          </a:solidFill>
          <a:latin typeface="+mj-lt"/>
          <a:ea typeface="+mj-ea"/>
          <a:cs typeface="+mj-cs"/>
        </a:defRPr>
      </a:lvl1pPr>
    </p:titleStyle>
    <p:bodyStyle>
      <a:lvl1pPr marL="342888" indent="-342888" algn="l" defTabSz="914363"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28" indent="-285741" algn="l" defTabSz="914363" rtl="0" eaLnBrk="1" latinLnBrk="0" hangingPunct="1">
        <a:spcBef>
          <a:spcPct val="20000"/>
        </a:spcBef>
        <a:buFont typeface="Arial" pitchFamily="34" charset="0"/>
        <a:buChar char="–"/>
        <a:defRPr sz="2801" kern="1200">
          <a:solidFill>
            <a:schemeClr val="tx1"/>
          </a:solidFill>
          <a:latin typeface="+mn-lt"/>
          <a:ea typeface="+mn-ea"/>
          <a:cs typeface="+mn-cs"/>
        </a:defRPr>
      </a:lvl2pPr>
      <a:lvl3pPr marL="1142955" indent="-228593" algn="l" defTabSz="914363"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139" indent="-228593"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321" indent="-228593"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506" indent="-228593"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8" indent="-228593"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71" indent="-228593"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53" indent="-228593"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63" rtl="0" eaLnBrk="1" latinLnBrk="0" hangingPunct="1">
        <a:defRPr sz="1800" kern="1200">
          <a:solidFill>
            <a:schemeClr val="tx1"/>
          </a:solidFill>
          <a:latin typeface="+mn-lt"/>
          <a:ea typeface="+mn-ea"/>
          <a:cs typeface="+mn-cs"/>
        </a:defRPr>
      </a:lvl1pPr>
      <a:lvl2pPr marL="457181"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6" algn="l" defTabSz="914363" rtl="0" eaLnBrk="1" latinLnBrk="0" hangingPunct="1">
        <a:defRPr sz="1800" kern="1200">
          <a:solidFill>
            <a:schemeClr val="tx1"/>
          </a:solidFill>
          <a:latin typeface="+mn-lt"/>
          <a:ea typeface="+mn-ea"/>
          <a:cs typeface="+mn-cs"/>
        </a:defRPr>
      </a:lvl4pPr>
      <a:lvl5pPr marL="1828733" algn="l" defTabSz="914363" rtl="0" eaLnBrk="1" latinLnBrk="0" hangingPunct="1">
        <a:defRPr sz="1800" kern="1200">
          <a:solidFill>
            <a:schemeClr val="tx1"/>
          </a:solidFill>
          <a:latin typeface="+mn-lt"/>
          <a:ea typeface="+mn-ea"/>
          <a:cs typeface="+mn-cs"/>
        </a:defRPr>
      </a:lvl5pPr>
      <a:lvl6pPr marL="2285918" algn="l" defTabSz="914363" rtl="0" eaLnBrk="1" latinLnBrk="0" hangingPunct="1">
        <a:defRPr sz="1800" kern="1200">
          <a:solidFill>
            <a:schemeClr val="tx1"/>
          </a:solidFill>
          <a:latin typeface="+mn-lt"/>
          <a:ea typeface="+mn-ea"/>
          <a:cs typeface="+mn-cs"/>
        </a:defRPr>
      </a:lvl6pPr>
      <a:lvl7pPr marL="2743095" algn="l" defTabSz="914363" rtl="0" eaLnBrk="1" latinLnBrk="0" hangingPunct="1">
        <a:defRPr sz="1800" kern="1200">
          <a:solidFill>
            <a:schemeClr val="tx1"/>
          </a:solidFill>
          <a:latin typeface="+mn-lt"/>
          <a:ea typeface="+mn-ea"/>
          <a:cs typeface="+mn-cs"/>
        </a:defRPr>
      </a:lvl7pPr>
      <a:lvl8pPr marL="3200276" algn="l" defTabSz="914363" rtl="0" eaLnBrk="1" latinLnBrk="0" hangingPunct="1">
        <a:defRPr sz="1800" kern="1200">
          <a:solidFill>
            <a:schemeClr val="tx1"/>
          </a:solidFill>
          <a:latin typeface="+mn-lt"/>
          <a:ea typeface="+mn-ea"/>
          <a:cs typeface="+mn-cs"/>
        </a:defRPr>
      </a:lvl8pPr>
      <a:lvl9pPr marL="3657459" algn="l" defTabSz="914363"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jpeg"/><Relationship Id="rId1" Type="http://schemas.openxmlformats.org/officeDocument/2006/relationships/slideLayout" Target="../slideLayouts/slideLayout7.xml"/><Relationship Id="rId6" Type="http://schemas.openxmlformats.org/officeDocument/2006/relationships/image" Target="../media/image6.svg"/><Relationship Id="rId5" Type="http://schemas.openxmlformats.org/officeDocument/2006/relationships/image" Target="../media/image5.png"/><Relationship Id="rId10" Type="http://schemas.openxmlformats.org/officeDocument/2006/relationships/image" Target="../media/image10.svg"/><Relationship Id="rId4" Type="http://schemas.openxmlformats.org/officeDocument/2006/relationships/image" Target="../media/image4.svg"/><Relationship Id="rId9"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101622" y="-767350"/>
            <a:ext cx="22013892" cy="12354774"/>
          </a:xfrm>
          <a:custGeom>
            <a:avLst/>
            <a:gdLst/>
            <a:ahLst/>
            <a:cxnLst/>
            <a:rect l="l" t="t" r="r" b="b"/>
            <a:pathLst>
              <a:path w="22013892" h="12354774">
                <a:moveTo>
                  <a:pt x="0" y="0"/>
                </a:moveTo>
                <a:lnTo>
                  <a:pt x="22013891" y="0"/>
                </a:lnTo>
                <a:lnTo>
                  <a:pt x="22013891" y="12354775"/>
                </a:lnTo>
                <a:lnTo>
                  <a:pt x="0" y="12354775"/>
                </a:lnTo>
                <a:lnTo>
                  <a:pt x="0" y="0"/>
                </a:lnTo>
                <a:close/>
              </a:path>
            </a:pathLst>
          </a:custGeom>
          <a:blipFill>
            <a:blip r:embed="rId2"/>
            <a:stretch>
              <a:fillRect t="-9467" b="-9467"/>
            </a:stretch>
          </a:blipFill>
        </p:spPr>
        <p:txBody>
          <a:bodyPr/>
          <a:lstStyle/>
          <a:p>
            <a:endParaRPr lang="en-US" sz="1200" dirty="0"/>
          </a:p>
        </p:txBody>
      </p:sp>
      <p:grpSp>
        <p:nvGrpSpPr>
          <p:cNvPr id="3" name="Group 3"/>
          <p:cNvGrpSpPr/>
          <p:nvPr/>
        </p:nvGrpSpPr>
        <p:grpSpPr>
          <a:xfrm>
            <a:off x="-2101622" y="-767350"/>
            <a:ext cx="22013892" cy="12692650"/>
            <a:chOff x="0" y="0"/>
            <a:chExt cx="5913785" cy="3084566"/>
          </a:xfrm>
        </p:grpSpPr>
        <p:sp>
          <p:nvSpPr>
            <p:cNvPr id="4" name="Freeform 4"/>
            <p:cNvSpPr/>
            <p:nvPr/>
          </p:nvSpPr>
          <p:spPr>
            <a:xfrm>
              <a:off x="0" y="0"/>
              <a:ext cx="5913785" cy="3084567"/>
            </a:xfrm>
            <a:custGeom>
              <a:avLst/>
              <a:gdLst/>
              <a:ahLst/>
              <a:cxnLst/>
              <a:rect l="l" t="t" r="r" b="b"/>
              <a:pathLst>
                <a:path w="5913785" h="3084567">
                  <a:moveTo>
                    <a:pt x="0" y="0"/>
                  </a:moveTo>
                  <a:lnTo>
                    <a:pt x="5913785" y="0"/>
                  </a:lnTo>
                  <a:lnTo>
                    <a:pt x="5913785" y="3084567"/>
                  </a:lnTo>
                  <a:lnTo>
                    <a:pt x="0" y="3084567"/>
                  </a:lnTo>
                  <a:close/>
                </a:path>
              </a:pathLst>
            </a:custGeom>
            <a:solidFill>
              <a:srgbClr val="AAD7D4">
                <a:alpha val="28627"/>
              </a:srgbClr>
            </a:solidFill>
          </p:spPr>
          <p:txBody>
            <a:bodyPr/>
            <a:lstStyle/>
            <a:p>
              <a:endParaRPr lang="en-US" sz="1200" dirty="0"/>
            </a:p>
          </p:txBody>
        </p:sp>
        <p:sp>
          <p:nvSpPr>
            <p:cNvPr id="5" name="TextBox 5"/>
            <p:cNvSpPr txBox="1"/>
            <p:nvPr/>
          </p:nvSpPr>
          <p:spPr>
            <a:xfrm>
              <a:off x="0" y="-38100"/>
              <a:ext cx="5913785" cy="3122666"/>
            </a:xfrm>
            <a:prstGeom prst="rect">
              <a:avLst/>
            </a:prstGeom>
          </p:spPr>
          <p:txBody>
            <a:bodyPr lIns="50801" tIns="50801" rIns="50801" bIns="50801" rtlCol="0" anchor="ctr"/>
            <a:lstStyle/>
            <a:p>
              <a:pPr algn="ctr">
                <a:lnSpc>
                  <a:spcPts val="2663"/>
                </a:lnSpc>
              </a:pPr>
              <a:endParaRPr sz="1200" dirty="0"/>
            </a:p>
          </p:txBody>
        </p:sp>
      </p:grpSp>
      <p:grpSp>
        <p:nvGrpSpPr>
          <p:cNvPr id="6" name="Group 6"/>
          <p:cNvGrpSpPr/>
          <p:nvPr/>
        </p:nvGrpSpPr>
        <p:grpSpPr>
          <a:xfrm>
            <a:off x="5366377" y="5031002"/>
            <a:ext cx="7992470" cy="3341736"/>
            <a:chOff x="0" y="0"/>
            <a:chExt cx="1839192" cy="176247"/>
          </a:xfrm>
        </p:grpSpPr>
        <p:sp>
          <p:nvSpPr>
            <p:cNvPr id="7" name="Freeform 7"/>
            <p:cNvSpPr/>
            <p:nvPr/>
          </p:nvSpPr>
          <p:spPr>
            <a:xfrm>
              <a:off x="0" y="0"/>
              <a:ext cx="1839192" cy="176247"/>
            </a:xfrm>
            <a:custGeom>
              <a:avLst/>
              <a:gdLst/>
              <a:ahLst/>
              <a:cxnLst/>
              <a:rect l="l" t="t" r="r" b="b"/>
              <a:pathLst>
                <a:path w="1839192" h="176247">
                  <a:moveTo>
                    <a:pt x="0" y="0"/>
                  </a:moveTo>
                  <a:lnTo>
                    <a:pt x="1839192" y="0"/>
                  </a:lnTo>
                  <a:lnTo>
                    <a:pt x="1839192" y="176247"/>
                  </a:lnTo>
                  <a:lnTo>
                    <a:pt x="0" y="176247"/>
                  </a:lnTo>
                  <a:close/>
                </a:path>
              </a:pathLst>
            </a:custGeom>
            <a:solidFill>
              <a:srgbClr val="AAD7D4"/>
            </a:solidFill>
            <a:ln w="28575" cap="sq">
              <a:solidFill>
                <a:srgbClr val="1C2120"/>
              </a:solidFill>
              <a:prstDash val="solid"/>
              <a:miter/>
            </a:ln>
          </p:spPr>
          <p:txBody>
            <a:bodyPr/>
            <a:lstStyle/>
            <a:p>
              <a:endParaRPr lang="en-US" sz="1200" dirty="0"/>
            </a:p>
          </p:txBody>
        </p:sp>
        <p:sp>
          <p:nvSpPr>
            <p:cNvPr id="8" name="TextBox 8"/>
            <p:cNvSpPr txBox="1"/>
            <p:nvPr/>
          </p:nvSpPr>
          <p:spPr>
            <a:xfrm>
              <a:off x="0" y="-38100"/>
              <a:ext cx="1839192" cy="214347"/>
            </a:xfrm>
            <a:prstGeom prst="rect">
              <a:avLst/>
            </a:prstGeom>
          </p:spPr>
          <p:txBody>
            <a:bodyPr lIns="50801" tIns="50801" rIns="50801" bIns="50801" rtlCol="0" anchor="ctr"/>
            <a:lstStyle/>
            <a:p>
              <a:pPr algn="ctr">
                <a:lnSpc>
                  <a:spcPts val="2663"/>
                </a:lnSpc>
              </a:pPr>
              <a:endParaRPr sz="1200" dirty="0"/>
            </a:p>
          </p:txBody>
        </p:sp>
      </p:grpSp>
      <p:sp>
        <p:nvSpPr>
          <p:cNvPr id="9" name="TextBox 9"/>
          <p:cNvSpPr txBox="1"/>
          <p:nvPr/>
        </p:nvSpPr>
        <p:spPr>
          <a:xfrm>
            <a:off x="2057285" y="2324114"/>
            <a:ext cx="14610641" cy="2912913"/>
          </a:xfrm>
          <a:prstGeom prst="rect">
            <a:avLst/>
          </a:prstGeom>
        </p:spPr>
        <p:txBody>
          <a:bodyPr wrap="square" lIns="0" tIns="0" rIns="0" bIns="0" rtlCol="0" anchor="t">
            <a:spAutoFit/>
          </a:bodyPr>
          <a:lstStyle/>
          <a:p>
            <a:pPr algn="ctr">
              <a:lnSpc>
                <a:spcPts val="10916"/>
              </a:lnSpc>
            </a:pPr>
            <a:r>
              <a:rPr lang="en-US" sz="12998" b="1" spc="-701" dirty="0">
                <a:solidFill>
                  <a:srgbClr val="1C2120"/>
                </a:solidFill>
                <a:latin typeface="Poppins Semi-Bold"/>
                <a:ea typeface="Poppins Semi-Bold"/>
                <a:cs typeface="Poppins Semi-Bold"/>
                <a:sym typeface="Poppins Semi-Bold"/>
              </a:rPr>
              <a:t>PROJECT CHARTER: Smart Bite</a:t>
            </a:r>
          </a:p>
        </p:txBody>
      </p:sp>
      <p:sp>
        <p:nvSpPr>
          <p:cNvPr id="10" name="TextBox 10"/>
          <p:cNvSpPr txBox="1"/>
          <p:nvPr/>
        </p:nvSpPr>
        <p:spPr>
          <a:xfrm>
            <a:off x="5848835" y="5143516"/>
            <a:ext cx="7027520" cy="3479735"/>
          </a:xfrm>
          <a:prstGeom prst="rect">
            <a:avLst/>
          </a:prstGeom>
        </p:spPr>
        <p:txBody>
          <a:bodyPr wrap="square" lIns="0" tIns="0" rIns="0" bIns="0" rtlCol="0" anchor="t">
            <a:spAutoFit/>
          </a:bodyPr>
          <a:lstStyle/>
          <a:p>
            <a:pPr algn="ctr">
              <a:lnSpc>
                <a:spcPts val="3444"/>
              </a:lnSpc>
            </a:pPr>
            <a:r>
              <a:rPr lang="en-US" sz="2801" spc="-71" dirty="0">
                <a:solidFill>
                  <a:srgbClr val="1C2120"/>
                </a:solidFill>
                <a:latin typeface="Poppins"/>
                <a:ea typeface="Poppins"/>
                <a:cs typeface="Poppins"/>
                <a:sym typeface="Poppins"/>
              </a:rPr>
              <a:t>PRESENTED BY:</a:t>
            </a:r>
          </a:p>
          <a:p>
            <a:pPr algn="ctr">
              <a:lnSpc>
                <a:spcPts val="3444"/>
              </a:lnSpc>
            </a:pPr>
            <a:r>
              <a:rPr lang="en-US" sz="2801" spc="-71" dirty="0">
                <a:solidFill>
                  <a:srgbClr val="1C2120"/>
                </a:solidFill>
                <a:latin typeface="Poppins"/>
                <a:ea typeface="Poppins"/>
                <a:cs typeface="Poppins"/>
                <a:sym typeface="Poppins"/>
              </a:rPr>
              <a:t>Mahmoud Samer 231006523 </a:t>
            </a:r>
          </a:p>
          <a:p>
            <a:pPr algn="ctr">
              <a:lnSpc>
                <a:spcPts val="3444"/>
              </a:lnSpc>
            </a:pPr>
            <a:r>
              <a:rPr lang="en-US" sz="2801" spc="-71" dirty="0">
                <a:solidFill>
                  <a:srgbClr val="1C2120"/>
                </a:solidFill>
                <a:latin typeface="Poppins"/>
                <a:ea typeface="Poppins"/>
                <a:cs typeface="Poppins"/>
                <a:sym typeface="Poppins"/>
              </a:rPr>
              <a:t>Rawan Atef  231005789</a:t>
            </a:r>
          </a:p>
          <a:p>
            <a:pPr algn="ctr">
              <a:lnSpc>
                <a:spcPts val="3444"/>
              </a:lnSpc>
            </a:pPr>
            <a:r>
              <a:rPr lang="en-US" sz="2801" spc="-71" dirty="0">
                <a:solidFill>
                  <a:srgbClr val="1C2120"/>
                </a:solidFill>
                <a:latin typeface="Poppins"/>
                <a:ea typeface="Poppins"/>
                <a:cs typeface="Poppins"/>
                <a:sym typeface="Poppins"/>
              </a:rPr>
              <a:t>Rokaya Hamdy 231006586</a:t>
            </a:r>
          </a:p>
          <a:p>
            <a:pPr algn="ctr">
              <a:lnSpc>
                <a:spcPts val="3444"/>
              </a:lnSpc>
            </a:pPr>
            <a:r>
              <a:rPr lang="en-US" sz="2801" spc="-71" dirty="0">
                <a:solidFill>
                  <a:srgbClr val="1C2120"/>
                </a:solidFill>
                <a:latin typeface="Poppins"/>
                <a:ea typeface="Poppins"/>
                <a:cs typeface="Poppins"/>
                <a:sym typeface="Poppins"/>
              </a:rPr>
              <a:t>Retaj Ali 231005689</a:t>
            </a:r>
          </a:p>
          <a:p>
            <a:pPr algn="ctr">
              <a:lnSpc>
                <a:spcPts val="3444"/>
              </a:lnSpc>
            </a:pPr>
            <a:r>
              <a:rPr lang="en-US" sz="2801" spc="-71" dirty="0">
                <a:solidFill>
                  <a:srgbClr val="1C2120"/>
                </a:solidFill>
                <a:latin typeface="Poppins"/>
                <a:ea typeface="Poppins"/>
                <a:cs typeface="Poppins"/>
                <a:sym typeface="Poppins"/>
              </a:rPr>
              <a:t>Youssef Karim 231014449</a:t>
            </a:r>
          </a:p>
          <a:p>
            <a:pPr algn="ctr">
              <a:lnSpc>
                <a:spcPts val="3444"/>
              </a:lnSpc>
            </a:pPr>
            <a:r>
              <a:rPr lang="en-US" sz="2801" spc="-71" dirty="0">
                <a:solidFill>
                  <a:srgbClr val="1C2120"/>
                </a:solidFill>
                <a:latin typeface="Poppins"/>
                <a:ea typeface="Poppins"/>
                <a:cs typeface="Poppins"/>
                <a:sym typeface="Poppins"/>
              </a:rPr>
              <a:t>Youssef Mahmoud 231006058</a:t>
            </a:r>
          </a:p>
          <a:p>
            <a:pPr algn="ctr">
              <a:lnSpc>
                <a:spcPts val="3444"/>
              </a:lnSpc>
            </a:pPr>
            <a:endParaRPr lang="en-US" sz="2801" spc="-71" dirty="0">
              <a:solidFill>
                <a:srgbClr val="1C2120"/>
              </a:solidFill>
              <a:latin typeface="Poppins"/>
              <a:ea typeface="Poppins"/>
              <a:cs typeface="Poppins"/>
              <a:sym typeface="Poppi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2" y="0"/>
            <a:ext cx="7454364" cy="10287000"/>
            <a:chOff x="0" y="0"/>
            <a:chExt cx="1963290" cy="2792187"/>
          </a:xfrm>
        </p:grpSpPr>
        <p:sp>
          <p:nvSpPr>
            <p:cNvPr id="4" name="Freeform 4"/>
            <p:cNvSpPr/>
            <p:nvPr/>
          </p:nvSpPr>
          <p:spPr>
            <a:xfrm>
              <a:off x="0" y="0"/>
              <a:ext cx="1963290" cy="2792187"/>
            </a:xfrm>
            <a:custGeom>
              <a:avLst/>
              <a:gdLst/>
              <a:ahLst/>
              <a:cxnLst/>
              <a:rect l="l" t="t" r="r" b="b"/>
              <a:pathLst>
                <a:path w="1963290" h="2792187">
                  <a:moveTo>
                    <a:pt x="0" y="0"/>
                  </a:moveTo>
                  <a:lnTo>
                    <a:pt x="1963290" y="0"/>
                  </a:lnTo>
                  <a:lnTo>
                    <a:pt x="1963290" y="2792187"/>
                  </a:lnTo>
                  <a:lnTo>
                    <a:pt x="0" y="2792187"/>
                  </a:lnTo>
                  <a:close/>
                </a:path>
              </a:pathLst>
            </a:custGeom>
            <a:solidFill>
              <a:srgbClr val="AAD7D4">
                <a:alpha val="55686"/>
              </a:srgbClr>
            </a:solidFill>
          </p:spPr>
          <p:txBody>
            <a:bodyPr/>
            <a:lstStyle/>
            <a:p>
              <a:endParaRPr lang="en-US" sz="1200" dirty="0"/>
            </a:p>
          </p:txBody>
        </p:sp>
        <p:sp>
          <p:nvSpPr>
            <p:cNvPr id="5" name="TextBox 5"/>
            <p:cNvSpPr txBox="1"/>
            <p:nvPr/>
          </p:nvSpPr>
          <p:spPr>
            <a:xfrm>
              <a:off x="0" y="-38100"/>
              <a:ext cx="1963290" cy="2830287"/>
            </a:xfrm>
            <a:prstGeom prst="rect">
              <a:avLst/>
            </a:prstGeom>
          </p:spPr>
          <p:txBody>
            <a:bodyPr lIns="50801" tIns="50801" rIns="50801" bIns="50801" rtlCol="0" anchor="ctr"/>
            <a:lstStyle/>
            <a:p>
              <a:pPr algn="ctr">
                <a:lnSpc>
                  <a:spcPts val="2663"/>
                </a:lnSpc>
              </a:pPr>
              <a:endParaRPr sz="1200" dirty="0"/>
            </a:p>
          </p:txBody>
        </p:sp>
      </p:grpSp>
      <p:sp>
        <p:nvSpPr>
          <p:cNvPr id="9" name="TextBox 9"/>
          <p:cNvSpPr txBox="1"/>
          <p:nvPr/>
        </p:nvSpPr>
        <p:spPr>
          <a:xfrm>
            <a:off x="8508097" y="800109"/>
            <a:ext cx="8484512" cy="2026196"/>
          </a:xfrm>
          <a:prstGeom prst="rect">
            <a:avLst/>
          </a:prstGeom>
        </p:spPr>
        <p:txBody>
          <a:bodyPr wrap="square" lIns="0" tIns="0" rIns="0" bIns="0" rtlCol="0" anchor="t">
            <a:spAutoFit/>
          </a:bodyPr>
          <a:lstStyle/>
          <a:p>
            <a:pPr>
              <a:lnSpc>
                <a:spcPts val="7933"/>
              </a:lnSpc>
            </a:pPr>
            <a:r>
              <a:rPr lang="en-US" sz="6600" b="1" dirty="0">
                <a:solidFill>
                  <a:srgbClr val="1C2120"/>
                </a:solidFill>
                <a:latin typeface="Poppins Bold"/>
                <a:ea typeface="Poppins Bold"/>
                <a:cs typeface="Poppins Bold"/>
                <a:sym typeface="Poppins Bold"/>
              </a:rPr>
              <a:t>Project overview and goals</a:t>
            </a:r>
          </a:p>
        </p:txBody>
      </p:sp>
      <p:sp>
        <p:nvSpPr>
          <p:cNvPr id="10" name="TextBox 10"/>
          <p:cNvSpPr txBox="1"/>
          <p:nvPr/>
        </p:nvSpPr>
        <p:spPr>
          <a:xfrm>
            <a:off x="8508107" y="3009908"/>
            <a:ext cx="7898288" cy="7114192"/>
          </a:xfrm>
          <a:prstGeom prst="rect">
            <a:avLst/>
          </a:prstGeom>
        </p:spPr>
        <p:txBody>
          <a:bodyPr lIns="0" tIns="0" rIns="0" bIns="0" rtlCol="0" anchor="t">
            <a:spAutoFit/>
          </a:bodyPr>
          <a:lstStyle/>
          <a:p>
            <a:pPr>
              <a:spcBef>
                <a:spcPct val="0"/>
              </a:spcBef>
            </a:pPr>
            <a:r>
              <a:rPr lang="en-GB" sz="2801" spc="110" dirty="0">
                <a:solidFill>
                  <a:srgbClr val="000000"/>
                </a:solidFill>
                <a:latin typeface="DM Sans"/>
                <a:ea typeface="DM Sans"/>
                <a:cs typeface="DM Sans"/>
                <a:sym typeface="DM Sans"/>
              </a:rPr>
              <a:t>Smart Bite is an AI-driven recipe maker created to transform ordinary kitchen ingredients into practical, healthy meals.</a:t>
            </a:r>
          </a:p>
          <a:p>
            <a:pPr>
              <a:spcBef>
                <a:spcPct val="0"/>
              </a:spcBef>
            </a:pPr>
            <a:endParaRPr lang="en-GB" sz="2801" spc="110" dirty="0">
              <a:solidFill>
                <a:srgbClr val="000000"/>
              </a:solidFill>
              <a:latin typeface="DM Sans"/>
              <a:ea typeface="DM Sans"/>
              <a:cs typeface="DM Sans"/>
              <a:sym typeface="DM Sans"/>
            </a:endParaRPr>
          </a:p>
          <a:p>
            <a:pPr>
              <a:spcBef>
                <a:spcPct val="0"/>
              </a:spcBef>
            </a:pPr>
            <a:r>
              <a:rPr lang="en-GB" sz="2801" spc="110" dirty="0">
                <a:solidFill>
                  <a:srgbClr val="000000"/>
                </a:solidFill>
                <a:latin typeface="DM Sans"/>
                <a:ea typeface="DM Sans"/>
                <a:cs typeface="DM Sans"/>
                <a:sym typeface="DM Sans"/>
              </a:rPr>
              <a:t>The app aims to solve the everyday question: “What should I cook?”, Smart Bite focuses on a clear purpose of connecting the ingredients people already have to meals they can make.</a:t>
            </a:r>
          </a:p>
          <a:p>
            <a:pPr>
              <a:spcBef>
                <a:spcPct val="0"/>
              </a:spcBef>
            </a:pPr>
            <a:endParaRPr lang="en-GB" sz="2801" spc="110" dirty="0">
              <a:solidFill>
                <a:srgbClr val="000000"/>
              </a:solidFill>
              <a:latin typeface="DM Sans"/>
              <a:ea typeface="DM Sans"/>
              <a:cs typeface="DM Sans"/>
              <a:sym typeface="DM Sans"/>
            </a:endParaRPr>
          </a:p>
          <a:p>
            <a:pPr>
              <a:spcBef>
                <a:spcPct val="0"/>
              </a:spcBef>
            </a:pPr>
            <a:r>
              <a:rPr lang="en-GB" sz="2801" spc="110" dirty="0">
                <a:solidFill>
                  <a:srgbClr val="000000"/>
                </a:solidFill>
                <a:latin typeface="DM Sans"/>
                <a:ea typeface="DM Sans"/>
                <a:cs typeface="DM Sans"/>
                <a:sym typeface="DM Sans"/>
              </a:rPr>
              <a:t>Smart Bite reduces food waste, saves money, encourages healthier eating habits and simplifies decision-making by instantly turning available items into cost-effective, nutritious recipes.</a:t>
            </a:r>
          </a:p>
          <a:p>
            <a:pPr>
              <a:lnSpc>
                <a:spcPts val="2453"/>
              </a:lnSpc>
              <a:spcBef>
                <a:spcPct val="0"/>
              </a:spcBef>
            </a:pPr>
            <a:endParaRPr lang="en-GB" sz="2400" spc="110" dirty="0">
              <a:solidFill>
                <a:srgbClr val="000000"/>
              </a:solidFill>
              <a:latin typeface="DM Sans"/>
              <a:ea typeface="DM Sans"/>
              <a:cs typeface="DM Sans"/>
              <a:sym typeface="DM Sans"/>
            </a:endParaRPr>
          </a:p>
          <a:p>
            <a:pPr>
              <a:lnSpc>
                <a:spcPts val="2453"/>
              </a:lnSpc>
              <a:spcBef>
                <a:spcPct val="0"/>
              </a:spcBef>
            </a:pPr>
            <a:endParaRPr lang="en-US" sz="2400" spc="110" dirty="0">
              <a:solidFill>
                <a:srgbClr val="000000"/>
              </a:solidFill>
              <a:latin typeface="DM Sans"/>
              <a:ea typeface="DM Sans"/>
              <a:cs typeface="DM Sans"/>
              <a:sym typeface="DM Sa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02644" y="2203207"/>
            <a:ext cx="15368184" cy="1908104"/>
            <a:chOff x="0" y="0"/>
            <a:chExt cx="2286638" cy="712528"/>
          </a:xfrm>
        </p:grpSpPr>
        <p:sp>
          <p:nvSpPr>
            <p:cNvPr id="3" name="Freeform 3"/>
            <p:cNvSpPr/>
            <p:nvPr/>
          </p:nvSpPr>
          <p:spPr>
            <a:xfrm>
              <a:off x="0" y="0"/>
              <a:ext cx="2286638" cy="712528"/>
            </a:xfrm>
            <a:prstGeom prst="flowChartAlternateProcess">
              <a:avLst/>
            </a:prstGeom>
            <a:solidFill>
              <a:srgbClr val="AAD7D4"/>
            </a:solidFill>
            <a:ln>
              <a:noFill/>
            </a:ln>
          </p:spPr>
          <p:txBody>
            <a:bodyPr/>
            <a:lstStyle/>
            <a:p>
              <a:endParaRPr lang="en-US" sz="1200" dirty="0"/>
            </a:p>
          </p:txBody>
        </p:sp>
        <p:sp>
          <p:nvSpPr>
            <p:cNvPr id="4" name="TextBox 4"/>
            <p:cNvSpPr txBox="1"/>
            <p:nvPr/>
          </p:nvSpPr>
          <p:spPr>
            <a:xfrm>
              <a:off x="0" y="85725"/>
              <a:ext cx="2286638" cy="626803"/>
            </a:xfrm>
            <a:prstGeom prst="flowChartAlternateProcess">
              <a:avLst/>
            </a:prstGeom>
            <a:ln>
              <a:noFill/>
            </a:ln>
          </p:spPr>
          <p:txBody>
            <a:bodyPr lIns="50801" tIns="50801" rIns="50801" bIns="50801" rtlCol="0" anchor="ctr"/>
            <a:lstStyle/>
            <a:p>
              <a:pPr algn="ctr">
                <a:lnSpc>
                  <a:spcPts val="1925"/>
                </a:lnSpc>
              </a:pPr>
              <a:endParaRPr sz="1200" dirty="0"/>
            </a:p>
          </p:txBody>
        </p:sp>
      </p:grpSp>
      <p:sp>
        <p:nvSpPr>
          <p:cNvPr id="14" name="TextBox 14"/>
          <p:cNvSpPr txBox="1"/>
          <p:nvPr/>
        </p:nvSpPr>
        <p:spPr>
          <a:xfrm>
            <a:off x="802654" y="723909"/>
            <a:ext cx="9280496" cy="1191480"/>
          </a:xfrm>
          <a:prstGeom prst="rect">
            <a:avLst/>
          </a:prstGeom>
        </p:spPr>
        <p:txBody>
          <a:bodyPr wrap="square" lIns="0" tIns="0" rIns="0" bIns="0" rtlCol="0" anchor="t">
            <a:spAutoFit/>
          </a:bodyPr>
          <a:lstStyle/>
          <a:p>
            <a:pPr>
              <a:lnSpc>
                <a:spcPts val="9659"/>
              </a:lnSpc>
            </a:pPr>
            <a:r>
              <a:rPr lang="en-US" sz="7200" b="1" dirty="0">
                <a:solidFill>
                  <a:srgbClr val="1C2120"/>
                </a:solidFill>
                <a:latin typeface="Poppins Bold"/>
                <a:ea typeface="Poppins Bold"/>
                <a:cs typeface="Poppins Bold"/>
                <a:sym typeface="Poppins Bold"/>
              </a:rPr>
              <a:t>SMART Objectives</a:t>
            </a:r>
          </a:p>
        </p:txBody>
      </p:sp>
      <p:sp>
        <p:nvSpPr>
          <p:cNvPr id="16" name="TextBox 16"/>
          <p:cNvSpPr txBox="1"/>
          <p:nvPr/>
        </p:nvSpPr>
        <p:spPr>
          <a:xfrm>
            <a:off x="1066800" y="2510934"/>
            <a:ext cx="14859000" cy="1293046"/>
          </a:xfrm>
          <a:prstGeom prst="rect">
            <a:avLst/>
          </a:prstGeom>
        </p:spPr>
        <p:txBody>
          <a:bodyPr wrap="square" lIns="0" tIns="0" rIns="0" bIns="0" rtlCol="0" anchor="t">
            <a:spAutoFit/>
          </a:bodyPr>
          <a:lstStyle/>
          <a:p>
            <a:pPr algn="just">
              <a:spcBef>
                <a:spcPct val="0"/>
              </a:spcBef>
            </a:pPr>
            <a:r>
              <a:rPr lang="en-GB" sz="2801" b="1" spc="20" dirty="0">
                <a:solidFill>
                  <a:srgbClr val="1C2120"/>
                </a:solidFill>
                <a:latin typeface="DM Sans"/>
                <a:ea typeface="DM Sans"/>
                <a:cs typeface="DM Sans"/>
                <a:sym typeface="DM Sans"/>
              </a:rPr>
              <a:t>Reduce food waste by 90% within 1 month, </a:t>
            </a:r>
          </a:p>
          <a:p>
            <a:pPr algn="just">
              <a:spcBef>
                <a:spcPct val="0"/>
              </a:spcBef>
            </a:pPr>
            <a:r>
              <a:rPr lang="en-GB" sz="2801" spc="20" dirty="0">
                <a:solidFill>
                  <a:srgbClr val="1C2120"/>
                </a:solidFill>
                <a:latin typeface="DM Sans"/>
                <a:ea typeface="DM Sans"/>
                <a:cs typeface="DM Sans"/>
                <a:sym typeface="DM Sans"/>
              </a:rPr>
              <a:t>The app will suggest recipes based on ingredients users already have, so less food is thrown away.</a:t>
            </a:r>
            <a:endParaRPr lang="en-US" sz="2801" spc="20" dirty="0">
              <a:solidFill>
                <a:srgbClr val="1C2120"/>
              </a:solidFill>
              <a:latin typeface="DM Sans"/>
              <a:ea typeface="DM Sans"/>
              <a:cs typeface="DM Sans"/>
              <a:sym typeface="DM Sans"/>
            </a:endParaRPr>
          </a:p>
        </p:txBody>
      </p:sp>
      <p:grpSp>
        <p:nvGrpSpPr>
          <p:cNvPr id="50" name="Group 2">
            <a:extLst>
              <a:ext uri="{FF2B5EF4-FFF2-40B4-BE49-F238E27FC236}">
                <a16:creationId xmlns:a16="http://schemas.microsoft.com/office/drawing/2014/main" id="{9F6CFBD5-A7C9-7A1F-60DD-DC59B814F7A8}"/>
              </a:ext>
            </a:extLst>
          </p:cNvPr>
          <p:cNvGrpSpPr/>
          <p:nvPr/>
        </p:nvGrpSpPr>
        <p:grpSpPr>
          <a:xfrm>
            <a:off x="802644" y="4399127"/>
            <a:ext cx="15368184" cy="1908104"/>
            <a:chOff x="0" y="0"/>
            <a:chExt cx="2286638" cy="712528"/>
          </a:xfrm>
        </p:grpSpPr>
        <p:sp>
          <p:nvSpPr>
            <p:cNvPr id="51" name="Freeform 3">
              <a:extLst>
                <a:ext uri="{FF2B5EF4-FFF2-40B4-BE49-F238E27FC236}">
                  <a16:creationId xmlns:a16="http://schemas.microsoft.com/office/drawing/2014/main" id="{3CC7E4E0-3ECB-C485-58BC-83E155F5DB6B}"/>
                </a:ext>
              </a:extLst>
            </p:cNvPr>
            <p:cNvSpPr/>
            <p:nvPr/>
          </p:nvSpPr>
          <p:spPr>
            <a:xfrm>
              <a:off x="0" y="0"/>
              <a:ext cx="2286638" cy="712528"/>
            </a:xfrm>
            <a:prstGeom prst="flowChartAlternateProcess">
              <a:avLst/>
            </a:prstGeom>
            <a:solidFill>
              <a:srgbClr val="AAD7D4"/>
            </a:solidFill>
            <a:ln>
              <a:noFill/>
            </a:ln>
          </p:spPr>
          <p:txBody>
            <a:bodyPr/>
            <a:lstStyle/>
            <a:p>
              <a:endParaRPr lang="en-US" sz="1200" dirty="0"/>
            </a:p>
          </p:txBody>
        </p:sp>
        <p:sp>
          <p:nvSpPr>
            <p:cNvPr id="52" name="TextBox 4">
              <a:extLst>
                <a:ext uri="{FF2B5EF4-FFF2-40B4-BE49-F238E27FC236}">
                  <a16:creationId xmlns:a16="http://schemas.microsoft.com/office/drawing/2014/main" id="{181A6AC4-51D5-C1A9-DFD6-C112DEADA131}"/>
                </a:ext>
              </a:extLst>
            </p:cNvPr>
            <p:cNvSpPr txBox="1"/>
            <p:nvPr/>
          </p:nvSpPr>
          <p:spPr>
            <a:xfrm>
              <a:off x="0" y="85725"/>
              <a:ext cx="2286638" cy="626803"/>
            </a:xfrm>
            <a:prstGeom prst="flowChartAlternateProcess">
              <a:avLst/>
            </a:prstGeom>
            <a:ln>
              <a:noFill/>
            </a:ln>
          </p:spPr>
          <p:txBody>
            <a:bodyPr lIns="50801" tIns="50801" rIns="50801" bIns="50801" rtlCol="0" anchor="ctr"/>
            <a:lstStyle/>
            <a:p>
              <a:pPr algn="ctr">
                <a:lnSpc>
                  <a:spcPts val="1925"/>
                </a:lnSpc>
              </a:pPr>
              <a:endParaRPr sz="1200" dirty="0"/>
            </a:p>
          </p:txBody>
        </p:sp>
      </p:grpSp>
      <p:sp>
        <p:nvSpPr>
          <p:cNvPr id="53" name="TextBox 16">
            <a:extLst>
              <a:ext uri="{FF2B5EF4-FFF2-40B4-BE49-F238E27FC236}">
                <a16:creationId xmlns:a16="http://schemas.microsoft.com/office/drawing/2014/main" id="{7FB0C405-224A-9D62-AA1C-01D53494F850}"/>
              </a:ext>
            </a:extLst>
          </p:cNvPr>
          <p:cNvSpPr txBox="1"/>
          <p:nvPr/>
        </p:nvSpPr>
        <p:spPr>
          <a:xfrm>
            <a:off x="1066800" y="4706858"/>
            <a:ext cx="14859000" cy="1293046"/>
          </a:xfrm>
          <a:prstGeom prst="rect">
            <a:avLst/>
          </a:prstGeom>
        </p:spPr>
        <p:txBody>
          <a:bodyPr wrap="square" lIns="0" tIns="0" rIns="0" bIns="0" rtlCol="0" anchor="t">
            <a:spAutoFit/>
          </a:bodyPr>
          <a:lstStyle/>
          <a:p>
            <a:pPr algn="just">
              <a:spcBef>
                <a:spcPct val="0"/>
              </a:spcBef>
            </a:pPr>
            <a:r>
              <a:rPr lang="en-GB" sz="2801" b="1" spc="20" dirty="0">
                <a:solidFill>
                  <a:srgbClr val="1C2120"/>
                </a:solidFill>
                <a:latin typeface="DM Sans"/>
                <a:ea typeface="DM Sans"/>
                <a:cs typeface="DM Sans"/>
                <a:sym typeface="DM Sans"/>
              </a:rPr>
              <a:t>Reduce the cost of eating out by 70% within 2 months,</a:t>
            </a:r>
          </a:p>
          <a:p>
            <a:pPr algn="just">
              <a:spcBef>
                <a:spcPct val="0"/>
              </a:spcBef>
            </a:pPr>
            <a:r>
              <a:rPr lang="en-GB" sz="2801" spc="20" dirty="0">
                <a:solidFill>
                  <a:srgbClr val="1C2120"/>
                </a:solidFill>
                <a:latin typeface="DM Sans"/>
                <a:ea typeface="DM Sans"/>
                <a:cs typeface="DM Sans"/>
                <a:sym typeface="DM Sans"/>
              </a:rPr>
              <a:t>Users can cook affordable meals at home using budget-friendly recipes generated by the app.</a:t>
            </a:r>
            <a:endParaRPr lang="en-US" sz="2801" spc="20" dirty="0">
              <a:solidFill>
                <a:srgbClr val="1C2120"/>
              </a:solidFill>
              <a:latin typeface="DM Sans"/>
              <a:ea typeface="DM Sans"/>
              <a:cs typeface="DM Sans"/>
              <a:sym typeface="DM Sans"/>
            </a:endParaRPr>
          </a:p>
        </p:txBody>
      </p:sp>
      <p:grpSp>
        <p:nvGrpSpPr>
          <p:cNvPr id="56" name="Group 2">
            <a:extLst>
              <a:ext uri="{FF2B5EF4-FFF2-40B4-BE49-F238E27FC236}">
                <a16:creationId xmlns:a16="http://schemas.microsoft.com/office/drawing/2014/main" id="{E8162068-CD30-D50B-A6F1-72D5E7C5EEE0}"/>
              </a:ext>
            </a:extLst>
          </p:cNvPr>
          <p:cNvGrpSpPr/>
          <p:nvPr/>
        </p:nvGrpSpPr>
        <p:grpSpPr>
          <a:xfrm>
            <a:off x="802644" y="6595051"/>
            <a:ext cx="15368184" cy="1908104"/>
            <a:chOff x="0" y="0"/>
            <a:chExt cx="2286638" cy="712528"/>
          </a:xfrm>
        </p:grpSpPr>
        <p:sp>
          <p:nvSpPr>
            <p:cNvPr id="57" name="Freeform 3">
              <a:extLst>
                <a:ext uri="{FF2B5EF4-FFF2-40B4-BE49-F238E27FC236}">
                  <a16:creationId xmlns:a16="http://schemas.microsoft.com/office/drawing/2014/main" id="{9F895725-309F-2D3C-0E80-76876329F9CF}"/>
                </a:ext>
              </a:extLst>
            </p:cNvPr>
            <p:cNvSpPr/>
            <p:nvPr/>
          </p:nvSpPr>
          <p:spPr>
            <a:xfrm>
              <a:off x="0" y="0"/>
              <a:ext cx="2286638" cy="712528"/>
            </a:xfrm>
            <a:prstGeom prst="flowChartAlternateProcess">
              <a:avLst/>
            </a:prstGeom>
            <a:solidFill>
              <a:srgbClr val="AAD7D4"/>
            </a:solidFill>
            <a:ln>
              <a:noFill/>
            </a:ln>
          </p:spPr>
          <p:txBody>
            <a:bodyPr/>
            <a:lstStyle/>
            <a:p>
              <a:endParaRPr lang="en-US" sz="1200" dirty="0"/>
            </a:p>
          </p:txBody>
        </p:sp>
        <p:sp>
          <p:nvSpPr>
            <p:cNvPr id="58" name="TextBox 4">
              <a:extLst>
                <a:ext uri="{FF2B5EF4-FFF2-40B4-BE49-F238E27FC236}">
                  <a16:creationId xmlns:a16="http://schemas.microsoft.com/office/drawing/2014/main" id="{DF18C0E5-4EB9-F36F-AB12-EDBB13827AA1}"/>
                </a:ext>
              </a:extLst>
            </p:cNvPr>
            <p:cNvSpPr txBox="1"/>
            <p:nvPr/>
          </p:nvSpPr>
          <p:spPr>
            <a:xfrm>
              <a:off x="0" y="85725"/>
              <a:ext cx="2286638" cy="626803"/>
            </a:xfrm>
            <a:prstGeom prst="flowChartAlternateProcess">
              <a:avLst/>
            </a:prstGeom>
            <a:ln>
              <a:noFill/>
            </a:ln>
          </p:spPr>
          <p:txBody>
            <a:bodyPr lIns="50801" tIns="50801" rIns="50801" bIns="50801" rtlCol="0" anchor="ctr"/>
            <a:lstStyle/>
            <a:p>
              <a:pPr algn="ctr">
                <a:lnSpc>
                  <a:spcPts val="1925"/>
                </a:lnSpc>
              </a:pPr>
              <a:endParaRPr sz="1200" dirty="0"/>
            </a:p>
          </p:txBody>
        </p:sp>
      </p:grpSp>
      <p:sp>
        <p:nvSpPr>
          <p:cNvPr id="59" name="TextBox 16">
            <a:extLst>
              <a:ext uri="{FF2B5EF4-FFF2-40B4-BE49-F238E27FC236}">
                <a16:creationId xmlns:a16="http://schemas.microsoft.com/office/drawing/2014/main" id="{76042EEC-0AF1-FE1E-B322-B61CF4358553}"/>
              </a:ext>
            </a:extLst>
          </p:cNvPr>
          <p:cNvSpPr txBox="1"/>
          <p:nvPr/>
        </p:nvSpPr>
        <p:spPr>
          <a:xfrm>
            <a:off x="1066800" y="6902778"/>
            <a:ext cx="14859000" cy="1293046"/>
          </a:xfrm>
          <a:prstGeom prst="rect">
            <a:avLst/>
          </a:prstGeom>
        </p:spPr>
        <p:txBody>
          <a:bodyPr wrap="square" lIns="0" tIns="0" rIns="0" bIns="0" rtlCol="0" anchor="t">
            <a:spAutoFit/>
          </a:bodyPr>
          <a:lstStyle/>
          <a:p>
            <a:pPr algn="just">
              <a:spcBef>
                <a:spcPct val="0"/>
              </a:spcBef>
            </a:pPr>
            <a:r>
              <a:rPr lang="en-GB" sz="2801" b="1" spc="20" dirty="0">
                <a:solidFill>
                  <a:srgbClr val="1C2120"/>
                </a:solidFill>
                <a:latin typeface="DM Sans"/>
                <a:ea typeface="DM Sans"/>
                <a:cs typeface="DM Sans"/>
                <a:sym typeface="DM Sans"/>
              </a:rPr>
              <a:t>Improve health and nutrition by 80% within 6 months, </a:t>
            </a:r>
          </a:p>
          <a:p>
            <a:pPr algn="just">
              <a:spcBef>
                <a:spcPct val="0"/>
              </a:spcBef>
            </a:pPr>
            <a:r>
              <a:rPr lang="en-GB" sz="2801" spc="20" dirty="0">
                <a:solidFill>
                  <a:srgbClr val="1C2120"/>
                </a:solidFill>
                <a:latin typeface="DM Sans"/>
                <a:ea typeface="DM Sans"/>
                <a:cs typeface="DM Sans"/>
                <a:sym typeface="DM Sans"/>
              </a:rPr>
              <a:t>The app will calculate meal calories and protein to help users eat balanced, nutritious meals.</a:t>
            </a:r>
            <a:endParaRPr lang="en-US" sz="2801" spc="20" dirty="0">
              <a:solidFill>
                <a:srgbClr val="1C2120"/>
              </a:solidFill>
              <a:latin typeface="DM Sans"/>
              <a:ea typeface="DM Sans"/>
              <a:cs typeface="DM Sans"/>
              <a:sym typeface="DM San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6"/>
          <p:cNvSpPr txBox="1"/>
          <p:nvPr/>
        </p:nvSpPr>
        <p:spPr>
          <a:xfrm>
            <a:off x="644273" y="2175089"/>
            <a:ext cx="10293881" cy="738664"/>
          </a:xfrm>
          <a:prstGeom prst="rect">
            <a:avLst/>
          </a:prstGeom>
        </p:spPr>
        <p:txBody>
          <a:bodyPr wrap="square" lIns="0" tIns="0" rIns="0" bIns="0" rtlCol="0" anchor="t">
            <a:spAutoFit/>
          </a:bodyPr>
          <a:lstStyle/>
          <a:p>
            <a:pPr algn="l"/>
            <a:r>
              <a:rPr lang="en-US" sz="4800" b="1" dirty="0">
                <a:solidFill>
                  <a:srgbClr val="1C2120"/>
                </a:solidFill>
                <a:latin typeface="Poppins Bold"/>
                <a:ea typeface="Poppins Bold"/>
                <a:cs typeface="Poppins Bold"/>
                <a:sym typeface="Poppins Bold"/>
              </a:rPr>
              <a:t>1. Smart Bite Mobile Application</a:t>
            </a:r>
          </a:p>
        </p:txBody>
      </p:sp>
      <p:sp>
        <p:nvSpPr>
          <p:cNvPr id="18" name="TextBox 18"/>
          <p:cNvSpPr txBox="1"/>
          <p:nvPr/>
        </p:nvSpPr>
        <p:spPr>
          <a:xfrm>
            <a:off x="1219200" y="3165203"/>
            <a:ext cx="9220200" cy="2155077"/>
          </a:xfrm>
          <a:prstGeom prst="rect">
            <a:avLst/>
          </a:prstGeom>
        </p:spPr>
        <p:txBody>
          <a:bodyPr wrap="square" lIns="0" tIns="0" rIns="0" bIns="0" rtlCol="0" anchor="t">
            <a:spAutoFit/>
          </a:bodyPr>
          <a:lstStyle/>
          <a:p>
            <a:pPr>
              <a:spcBef>
                <a:spcPct val="0"/>
              </a:spcBef>
            </a:pPr>
            <a:r>
              <a:rPr lang="en-US" sz="2801" spc="113" dirty="0">
                <a:solidFill>
                  <a:srgbClr val="000000"/>
                </a:solidFill>
                <a:latin typeface="DM Sans"/>
                <a:ea typeface="DM Sans"/>
                <a:cs typeface="DM Sans"/>
                <a:sym typeface="DM Sans"/>
              </a:rPr>
              <a:t>Format and Completion criteria:</a:t>
            </a:r>
          </a:p>
          <a:p>
            <a:pPr marL="457181" indent="-457181">
              <a:spcBef>
                <a:spcPct val="0"/>
              </a:spcBef>
              <a:buFont typeface="Arial" panose="020B0604020202020204" pitchFamily="34" charset="0"/>
              <a:buChar char="•"/>
            </a:pPr>
            <a:r>
              <a:rPr lang="en-US" sz="2801" spc="113" dirty="0">
                <a:solidFill>
                  <a:srgbClr val="000000"/>
                </a:solidFill>
                <a:latin typeface="DM Sans"/>
                <a:ea typeface="DM Sans"/>
                <a:cs typeface="DM Sans"/>
                <a:sym typeface="DM Sans"/>
              </a:rPr>
              <a:t>Functional mobile app prototype</a:t>
            </a:r>
          </a:p>
          <a:p>
            <a:pPr marL="457181" indent="-457181">
              <a:spcBef>
                <a:spcPct val="0"/>
              </a:spcBef>
              <a:buFont typeface="Arial" panose="020B0604020202020204" pitchFamily="34" charset="0"/>
              <a:buChar char="•"/>
            </a:pPr>
            <a:r>
              <a:rPr lang="en-US" sz="2801" spc="113" dirty="0">
                <a:solidFill>
                  <a:srgbClr val="000000"/>
                </a:solidFill>
                <a:latin typeface="DM Sans"/>
                <a:ea typeface="DM Sans"/>
                <a:cs typeface="DM Sans"/>
                <a:sym typeface="DM Sans"/>
              </a:rPr>
              <a:t>Able to scan or input ingredients</a:t>
            </a:r>
          </a:p>
          <a:p>
            <a:pPr marL="457181" indent="-457181">
              <a:spcBef>
                <a:spcPct val="0"/>
              </a:spcBef>
              <a:buFont typeface="Arial" panose="020B0604020202020204" pitchFamily="34" charset="0"/>
              <a:buChar char="•"/>
            </a:pPr>
            <a:r>
              <a:rPr lang="en-US" sz="2801" spc="113" dirty="0">
                <a:solidFill>
                  <a:srgbClr val="000000"/>
                </a:solidFill>
                <a:latin typeface="DM Sans"/>
                <a:ea typeface="DM Sans"/>
                <a:cs typeface="DM Sans"/>
                <a:sym typeface="DM Sans"/>
              </a:rPr>
              <a:t>Generates recipes based on user input</a:t>
            </a:r>
          </a:p>
          <a:p>
            <a:pPr marL="457181" indent="-457181">
              <a:spcBef>
                <a:spcPct val="0"/>
              </a:spcBef>
              <a:buFont typeface="Arial" panose="020B0604020202020204" pitchFamily="34" charset="0"/>
              <a:buChar char="•"/>
            </a:pPr>
            <a:r>
              <a:rPr lang="en-US" sz="2801" spc="113" dirty="0">
                <a:solidFill>
                  <a:srgbClr val="000000"/>
                </a:solidFill>
                <a:latin typeface="DM Sans"/>
                <a:ea typeface="DM Sans"/>
                <a:cs typeface="DM Sans"/>
                <a:sym typeface="DM Sans"/>
              </a:rPr>
              <a:t>Displays nutrition details (calories, protein, etc.)</a:t>
            </a:r>
          </a:p>
        </p:txBody>
      </p:sp>
      <p:sp>
        <p:nvSpPr>
          <p:cNvPr id="28" name="TextBox 16">
            <a:extLst>
              <a:ext uri="{FF2B5EF4-FFF2-40B4-BE49-F238E27FC236}">
                <a16:creationId xmlns:a16="http://schemas.microsoft.com/office/drawing/2014/main" id="{42BCCD2D-8182-1B57-DB48-0DCC1C2C1259}"/>
              </a:ext>
            </a:extLst>
          </p:cNvPr>
          <p:cNvSpPr txBox="1"/>
          <p:nvPr/>
        </p:nvSpPr>
        <p:spPr>
          <a:xfrm>
            <a:off x="644273" y="5964975"/>
            <a:ext cx="10293881" cy="738664"/>
          </a:xfrm>
          <a:prstGeom prst="rect">
            <a:avLst/>
          </a:prstGeom>
        </p:spPr>
        <p:txBody>
          <a:bodyPr wrap="square" lIns="0" tIns="0" rIns="0" bIns="0" rtlCol="0" anchor="t">
            <a:spAutoFit/>
          </a:bodyPr>
          <a:lstStyle/>
          <a:p>
            <a:pPr algn="l"/>
            <a:r>
              <a:rPr lang="en-US" sz="4800" b="1" dirty="0">
                <a:solidFill>
                  <a:srgbClr val="1C2120"/>
                </a:solidFill>
                <a:latin typeface="Poppins Bold"/>
                <a:ea typeface="Poppins Bold"/>
                <a:cs typeface="Poppins Bold"/>
                <a:sym typeface="Poppins Bold"/>
              </a:rPr>
              <a:t>2. Recipe Generation Engine</a:t>
            </a:r>
          </a:p>
        </p:txBody>
      </p:sp>
      <p:sp>
        <p:nvSpPr>
          <p:cNvPr id="29" name="TextBox 18">
            <a:extLst>
              <a:ext uri="{FF2B5EF4-FFF2-40B4-BE49-F238E27FC236}">
                <a16:creationId xmlns:a16="http://schemas.microsoft.com/office/drawing/2014/main" id="{C9274082-108E-FFDA-C272-61F11CBAF377}"/>
              </a:ext>
            </a:extLst>
          </p:cNvPr>
          <p:cNvSpPr txBox="1"/>
          <p:nvPr/>
        </p:nvSpPr>
        <p:spPr>
          <a:xfrm>
            <a:off x="1219200" y="6955096"/>
            <a:ext cx="9220200" cy="1724062"/>
          </a:xfrm>
          <a:prstGeom prst="rect">
            <a:avLst/>
          </a:prstGeom>
        </p:spPr>
        <p:txBody>
          <a:bodyPr wrap="square" lIns="0" tIns="0" rIns="0" bIns="0" rtlCol="0" anchor="t">
            <a:spAutoFit/>
          </a:bodyPr>
          <a:lstStyle/>
          <a:p>
            <a:pPr>
              <a:spcBef>
                <a:spcPct val="0"/>
              </a:spcBef>
            </a:pPr>
            <a:r>
              <a:rPr lang="en-US" sz="2801" spc="113" dirty="0">
                <a:solidFill>
                  <a:srgbClr val="000000"/>
                </a:solidFill>
                <a:latin typeface="DM Sans"/>
                <a:ea typeface="DM Sans"/>
                <a:cs typeface="DM Sans"/>
                <a:sym typeface="DM Sans"/>
              </a:rPr>
              <a:t>Format and Completion criteria:</a:t>
            </a:r>
          </a:p>
          <a:p>
            <a:pPr marL="457181" indent="-457181">
              <a:spcBef>
                <a:spcPct val="0"/>
              </a:spcBef>
              <a:buFont typeface="Arial" panose="020B0604020202020204" pitchFamily="34" charset="0"/>
              <a:buChar char="•"/>
            </a:pPr>
            <a:r>
              <a:rPr lang="en-US" sz="2801" spc="113" dirty="0">
                <a:solidFill>
                  <a:srgbClr val="000000"/>
                </a:solidFill>
                <a:latin typeface="DM Sans"/>
                <a:ea typeface="DM Sans"/>
                <a:cs typeface="DM Sans"/>
                <a:sym typeface="DM Sans"/>
              </a:rPr>
              <a:t>Generates step-by-step recipes instantly</a:t>
            </a:r>
          </a:p>
          <a:p>
            <a:pPr marL="457181" indent="-457181">
              <a:spcBef>
                <a:spcPct val="0"/>
              </a:spcBef>
              <a:buFont typeface="Arial" panose="020B0604020202020204" pitchFamily="34" charset="0"/>
              <a:buChar char="•"/>
            </a:pPr>
            <a:r>
              <a:rPr lang="en-US" sz="2801" spc="113" dirty="0">
                <a:solidFill>
                  <a:srgbClr val="000000"/>
                </a:solidFill>
                <a:latin typeface="DM Sans"/>
                <a:ea typeface="DM Sans"/>
                <a:cs typeface="DM Sans"/>
                <a:sym typeface="DM Sans"/>
              </a:rPr>
              <a:t>Suggests meals that minimize food waste</a:t>
            </a:r>
          </a:p>
          <a:p>
            <a:pPr marL="457181" indent="-457181">
              <a:spcBef>
                <a:spcPct val="0"/>
              </a:spcBef>
              <a:buFont typeface="Arial" panose="020B0604020202020204" pitchFamily="34" charset="0"/>
              <a:buChar char="•"/>
            </a:pPr>
            <a:r>
              <a:rPr lang="en-US" sz="2801" spc="113" dirty="0">
                <a:solidFill>
                  <a:srgbClr val="000000"/>
                </a:solidFill>
                <a:latin typeface="DM Sans"/>
                <a:ea typeface="DM Sans"/>
                <a:cs typeface="DM Sans"/>
                <a:sym typeface="DM Sans"/>
              </a:rPr>
              <a:t>Includes nutritional information </a:t>
            </a:r>
          </a:p>
        </p:txBody>
      </p:sp>
      <p:grpSp>
        <p:nvGrpSpPr>
          <p:cNvPr id="35" name="Group 3">
            <a:extLst>
              <a:ext uri="{FF2B5EF4-FFF2-40B4-BE49-F238E27FC236}">
                <a16:creationId xmlns:a16="http://schemas.microsoft.com/office/drawing/2014/main" id="{D116BE1F-E275-6E7D-4021-72353EF2A15B}"/>
              </a:ext>
            </a:extLst>
          </p:cNvPr>
          <p:cNvGrpSpPr/>
          <p:nvPr/>
        </p:nvGrpSpPr>
        <p:grpSpPr>
          <a:xfrm>
            <a:off x="10833644" y="0"/>
            <a:ext cx="7454364" cy="10287000"/>
            <a:chOff x="0" y="0"/>
            <a:chExt cx="1963290" cy="2792187"/>
          </a:xfrm>
        </p:grpSpPr>
        <p:sp>
          <p:nvSpPr>
            <p:cNvPr id="36" name="Freeform 4">
              <a:extLst>
                <a:ext uri="{FF2B5EF4-FFF2-40B4-BE49-F238E27FC236}">
                  <a16:creationId xmlns:a16="http://schemas.microsoft.com/office/drawing/2014/main" id="{C4D15A02-D05A-5143-CC85-A279FEAC4321}"/>
                </a:ext>
              </a:extLst>
            </p:cNvPr>
            <p:cNvSpPr/>
            <p:nvPr/>
          </p:nvSpPr>
          <p:spPr>
            <a:xfrm>
              <a:off x="0" y="0"/>
              <a:ext cx="1963290" cy="2792187"/>
            </a:xfrm>
            <a:custGeom>
              <a:avLst/>
              <a:gdLst/>
              <a:ahLst/>
              <a:cxnLst/>
              <a:rect l="l" t="t" r="r" b="b"/>
              <a:pathLst>
                <a:path w="1963290" h="2792187">
                  <a:moveTo>
                    <a:pt x="0" y="0"/>
                  </a:moveTo>
                  <a:lnTo>
                    <a:pt x="1963290" y="0"/>
                  </a:lnTo>
                  <a:lnTo>
                    <a:pt x="1963290" y="2792187"/>
                  </a:lnTo>
                  <a:lnTo>
                    <a:pt x="0" y="2792187"/>
                  </a:lnTo>
                  <a:close/>
                </a:path>
              </a:pathLst>
            </a:custGeom>
            <a:solidFill>
              <a:srgbClr val="AAD7D4">
                <a:alpha val="55686"/>
              </a:srgbClr>
            </a:solidFill>
          </p:spPr>
          <p:txBody>
            <a:bodyPr/>
            <a:lstStyle/>
            <a:p>
              <a:endParaRPr lang="en-US" sz="1200" dirty="0"/>
            </a:p>
          </p:txBody>
        </p:sp>
        <p:sp>
          <p:nvSpPr>
            <p:cNvPr id="37" name="TextBox 5">
              <a:extLst>
                <a:ext uri="{FF2B5EF4-FFF2-40B4-BE49-F238E27FC236}">
                  <a16:creationId xmlns:a16="http://schemas.microsoft.com/office/drawing/2014/main" id="{629A6542-B383-A04F-D935-C22395ABC5A6}"/>
                </a:ext>
              </a:extLst>
            </p:cNvPr>
            <p:cNvSpPr txBox="1"/>
            <p:nvPr/>
          </p:nvSpPr>
          <p:spPr>
            <a:xfrm>
              <a:off x="0" y="-38100"/>
              <a:ext cx="1963290" cy="2830287"/>
            </a:xfrm>
            <a:prstGeom prst="rect">
              <a:avLst/>
            </a:prstGeom>
          </p:spPr>
          <p:txBody>
            <a:bodyPr lIns="50801" tIns="50801" rIns="50801" bIns="50801" rtlCol="0" anchor="ctr"/>
            <a:lstStyle/>
            <a:p>
              <a:pPr algn="ctr">
                <a:lnSpc>
                  <a:spcPts val="2663"/>
                </a:lnSpc>
              </a:pPr>
              <a:endParaRPr sz="1200" dirty="0"/>
            </a:p>
          </p:txBody>
        </p:sp>
      </p:grpSp>
      <p:sp>
        <p:nvSpPr>
          <p:cNvPr id="38" name="TextBox 15">
            <a:extLst>
              <a:ext uri="{FF2B5EF4-FFF2-40B4-BE49-F238E27FC236}">
                <a16:creationId xmlns:a16="http://schemas.microsoft.com/office/drawing/2014/main" id="{0E4F219E-3367-FB64-E945-6727926A1ABD}"/>
              </a:ext>
            </a:extLst>
          </p:cNvPr>
          <p:cNvSpPr txBox="1"/>
          <p:nvPr/>
        </p:nvSpPr>
        <p:spPr>
          <a:xfrm>
            <a:off x="644267" y="821018"/>
            <a:ext cx="5560655" cy="1112228"/>
          </a:xfrm>
          <a:prstGeom prst="rect">
            <a:avLst/>
          </a:prstGeom>
        </p:spPr>
        <p:txBody>
          <a:bodyPr wrap="square" lIns="0" tIns="0" rIns="0" bIns="0" rtlCol="0" anchor="t">
            <a:spAutoFit/>
          </a:bodyPr>
          <a:lstStyle/>
          <a:p>
            <a:pPr algn="ctr">
              <a:lnSpc>
                <a:spcPts val="9053"/>
              </a:lnSpc>
            </a:pPr>
            <a:r>
              <a:rPr lang="en-US" sz="6600" b="1" dirty="0">
                <a:solidFill>
                  <a:srgbClr val="1C2120"/>
                </a:solidFill>
                <a:latin typeface="Poppins Bold"/>
                <a:ea typeface="Poppins Bold"/>
                <a:cs typeface="Poppins Bold"/>
                <a:sym typeface="Poppins Bold"/>
              </a:rPr>
              <a:t>Deliverables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00BE06-D18F-D98C-AF0B-2E3D4FC520C3}"/>
            </a:ext>
          </a:extLst>
        </p:cNvPr>
        <p:cNvGrpSpPr/>
        <p:nvPr/>
      </p:nvGrpSpPr>
      <p:grpSpPr>
        <a:xfrm>
          <a:off x="0" y="0"/>
          <a:ext cx="0" cy="0"/>
          <a:chOff x="0" y="0"/>
          <a:chExt cx="0" cy="0"/>
        </a:xfrm>
      </p:grpSpPr>
      <p:sp>
        <p:nvSpPr>
          <p:cNvPr id="15" name="TextBox 15">
            <a:extLst>
              <a:ext uri="{FF2B5EF4-FFF2-40B4-BE49-F238E27FC236}">
                <a16:creationId xmlns:a16="http://schemas.microsoft.com/office/drawing/2014/main" id="{5253091A-5B3D-370F-9B5A-6A74EE44D2B2}"/>
              </a:ext>
            </a:extLst>
          </p:cNvPr>
          <p:cNvSpPr txBox="1"/>
          <p:nvPr/>
        </p:nvSpPr>
        <p:spPr>
          <a:xfrm>
            <a:off x="629026" y="856664"/>
            <a:ext cx="5560655" cy="1112228"/>
          </a:xfrm>
          <a:prstGeom prst="rect">
            <a:avLst/>
          </a:prstGeom>
        </p:spPr>
        <p:txBody>
          <a:bodyPr wrap="square" lIns="0" tIns="0" rIns="0" bIns="0" rtlCol="0" anchor="t">
            <a:spAutoFit/>
          </a:bodyPr>
          <a:lstStyle/>
          <a:p>
            <a:pPr algn="ctr">
              <a:lnSpc>
                <a:spcPts val="9053"/>
              </a:lnSpc>
            </a:pPr>
            <a:r>
              <a:rPr lang="en-US" sz="6600" b="1" dirty="0">
                <a:solidFill>
                  <a:srgbClr val="1C2120"/>
                </a:solidFill>
                <a:latin typeface="Poppins Bold"/>
                <a:ea typeface="Poppins Bold"/>
                <a:cs typeface="Poppins Bold"/>
                <a:sym typeface="Poppins Bold"/>
              </a:rPr>
              <a:t>Deliverables</a:t>
            </a:r>
          </a:p>
        </p:txBody>
      </p:sp>
      <p:sp>
        <p:nvSpPr>
          <p:cNvPr id="16" name="TextBox 16">
            <a:extLst>
              <a:ext uri="{FF2B5EF4-FFF2-40B4-BE49-F238E27FC236}">
                <a16:creationId xmlns:a16="http://schemas.microsoft.com/office/drawing/2014/main" id="{C0713399-6546-054E-9B20-D5455B2B32B9}"/>
              </a:ext>
            </a:extLst>
          </p:cNvPr>
          <p:cNvSpPr txBox="1"/>
          <p:nvPr/>
        </p:nvSpPr>
        <p:spPr>
          <a:xfrm>
            <a:off x="644273" y="2175092"/>
            <a:ext cx="10293881" cy="738664"/>
          </a:xfrm>
          <a:prstGeom prst="rect">
            <a:avLst/>
          </a:prstGeom>
        </p:spPr>
        <p:txBody>
          <a:bodyPr wrap="square" lIns="0" tIns="0" rIns="0" bIns="0" rtlCol="0" anchor="t">
            <a:spAutoFit/>
          </a:bodyPr>
          <a:lstStyle/>
          <a:p>
            <a:pPr algn="l"/>
            <a:r>
              <a:rPr lang="en-US" sz="4800" b="1" dirty="0">
                <a:solidFill>
                  <a:srgbClr val="1C2120"/>
                </a:solidFill>
                <a:latin typeface="Poppins Bold"/>
                <a:ea typeface="Poppins Bold"/>
                <a:cs typeface="Poppins Bold"/>
                <a:sym typeface="Poppins Bold"/>
              </a:rPr>
              <a:t>3. Project Documentation</a:t>
            </a:r>
          </a:p>
        </p:txBody>
      </p:sp>
      <p:sp>
        <p:nvSpPr>
          <p:cNvPr id="18" name="TextBox 18">
            <a:extLst>
              <a:ext uri="{FF2B5EF4-FFF2-40B4-BE49-F238E27FC236}">
                <a16:creationId xmlns:a16="http://schemas.microsoft.com/office/drawing/2014/main" id="{5BCCB491-DAFA-9219-2186-1404F9391D62}"/>
              </a:ext>
            </a:extLst>
          </p:cNvPr>
          <p:cNvSpPr txBox="1"/>
          <p:nvPr/>
        </p:nvSpPr>
        <p:spPr>
          <a:xfrm>
            <a:off x="1219200" y="3165195"/>
            <a:ext cx="9220200" cy="2586093"/>
          </a:xfrm>
          <a:prstGeom prst="rect">
            <a:avLst/>
          </a:prstGeom>
        </p:spPr>
        <p:txBody>
          <a:bodyPr wrap="square" lIns="0" tIns="0" rIns="0" bIns="0" rtlCol="0" anchor="t">
            <a:spAutoFit/>
          </a:bodyPr>
          <a:lstStyle/>
          <a:p>
            <a:pPr>
              <a:spcBef>
                <a:spcPct val="0"/>
              </a:spcBef>
            </a:pPr>
            <a:r>
              <a:rPr lang="en-US" sz="2801" spc="113" dirty="0">
                <a:solidFill>
                  <a:srgbClr val="000000"/>
                </a:solidFill>
                <a:latin typeface="DM Sans"/>
                <a:ea typeface="DM Sans"/>
                <a:cs typeface="DM Sans"/>
                <a:sym typeface="DM Sans"/>
              </a:rPr>
              <a:t>Format and Completion criteria:</a:t>
            </a:r>
          </a:p>
          <a:p>
            <a:pPr marL="457181" indent="-457181">
              <a:spcBef>
                <a:spcPct val="0"/>
              </a:spcBef>
              <a:buFont typeface="Arial" panose="020B0604020202020204" pitchFamily="34" charset="0"/>
              <a:buChar char="•"/>
            </a:pPr>
            <a:r>
              <a:rPr lang="en-GB" sz="2801" spc="113" dirty="0">
                <a:solidFill>
                  <a:srgbClr val="000000"/>
                </a:solidFill>
                <a:latin typeface="DM Sans"/>
                <a:ea typeface="DM Sans"/>
                <a:cs typeface="DM Sans"/>
                <a:sym typeface="DM Sans"/>
              </a:rPr>
              <a:t>Final report including problem analysis, objectives, system design, testing results, and conclusions</a:t>
            </a:r>
          </a:p>
          <a:p>
            <a:pPr marL="457181" indent="-457181">
              <a:spcBef>
                <a:spcPct val="0"/>
              </a:spcBef>
              <a:buFont typeface="Arial" panose="020B0604020202020204" pitchFamily="34" charset="0"/>
              <a:buChar char="•"/>
            </a:pPr>
            <a:r>
              <a:rPr lang="en-GB" sz="2801" spc="113" dirty="0">
                <a:solidFill>
                  <a:srgbClr val="000000"/>
                </a:solidFill>
                <a:latin typeface="DM Sans"/>
                <a:ea typeface="DM Sans"/>
                <a:cs typeface="DM Sans"/>
                <a:sym typeface="DM Sans"/>
              </a:rPr>
              <a:t>User guide/manual explaining how to use the app</a:t>
            </a:r>
            <a:endParaRPr lang="en-US" sz="2801" spc="113" dirty="0">
              <a:solidFill>
                <a:srgbClr val="000000"/>
              </a:solidFill>
              <a:latin typeface="DM Sans"/>
              <a:ea typeface="DM Sans"/>
              <a:cs typeface="DM Sans"/>
              <a:sym typeface="DM Sans"/>
            </a:endParaRPr>
          </a:p>
        </p:txBody>
      </p:sp>
      <p:sp>
        <p:nvSpPr>
          <p:cNvPr id="28" name="TextBox 16">
            <a:extLst>
              <a:ext uri="{FF2B5EF4-FFF2-40B4-BE49-F238E27FC236}">
                <a16:creationId xmlns:a16="http://schemas.microsoft.com/office/drawing/2014/main" id="{22B096A3-F591-5AAC-F3CB-7033E1E229C1}"/>
              </a:ext>
            </a:extLst>
          </p:cNvPr>
          <p:cNvSpPr txBox="1"/>
          <p:nvPr/>
        </p:nvSpPr>
        <p:spPr>
          <a:xfrm>
            <a:off x="644273" y="5964977"/>
            <a:ext cx="10293881" cy="1477328"/>
          </a:xfrm>
          <a:prstGeom prst="rect">
            <a:avLst/>
          </a:prstGeom>
        </p:spPr>
        <p:txBody>
          <a:bodyPr wrap="square" lIns="0" tIns="0" rIns="0" bIns="0" rtlCol="0" anchor="t">
            <a:spAutoFit/>
          </a:bodyPr>
          <a:lstStyle/>
          <a:p>
            <a:pPr algn="l"/>
            <a:r>
              <a:rPr lang="en-US" sz="4800" b="1" dirty="0">
                <a:solidFill>
                  <a:srgbClr val="1C2120"/>
                </a:solidFill>
                <a:latin typeface="Poppins Bold"/>
                <a:ea typeface="Poppins Bold"/>
                <a:cs typeface="Poppins Bold"/>
                <a:sym typeface="Poppins Bold"/>
              </a:rPr>
              <a:t>4. Final Presentation and Documentation</a:t>
            </a:r>
          </a:p>
        </p:txBody>
      </p:sp>
      <p:sp>
        <p:nvSpPr>
          <p:cNvPr id="29" name="TextBox 18">
            <a:extLst>
              <a:ext uri="{FF2B5EF4-FFF2-40B4-BE49-F238E27FC236}">
                <a16:creationId xmlns:a16="http://schemas.microsoft.com/office/drawing/2014/main" id="{0F38B754-8639-627E-691A-FA3659C912E2}"/>
              </a:ext>
            </a:extLst>
          </p:cNvPr>
          <p:cNvSpPr txBox="1"/>
          <p:nvPr/>
        </p:nvSpPr>
        <p:spPr>
          <a:xfrm>
            <a:off x="1225853" y="7658113"/>
            <a:ext cx="9220200" cy="1724062"/>
          </a:xfrm>
          <a:prstGeom prst="rect">
            <a:avLst/>
          </a:prstGeom>
        </p:spPr>
        <p:txBody>
          <a:bodyPr wrap="square" lIns="0" tIns="0" rIns="0" bIns="0" rtlCol="0" anchor="t">
            <a:spAutoFit/>
          </a:bodyPr>
          <a:lstStyle/>
          <a:p>
            <a:pPr>
              <a:spcBef>
                <a:spcPct val="0"/>
              </a:spcBef>
            </a:pPr>
            <a:r>
              <a:rPr lang="en-US" sz="2801" spc="113" dirty="0">
                <a:solidFill>
                  <a:srgbClr val="000000"/>
                </a:solidFill>
                <a:latin typeface="DM Sans"/>
                <a:ea typeface="DM Sans"/>
                <a:cs typeface="DM Sans"/>
                <a:sym typeface="DM Sans"/>
              </a:rPr>
              <a:t>Format and Completion criteria:</a:t>
            </a:r>
          </a:p>
          <a:p>
            <a:pPr marL="457181" indent="-457181">
              <a:spcBef>
                <a:spcPct val="0"/>
              </a:spcBef>
              <a:buFont typeface="Arial" panose="020B0604020202020204" pitchFamily="34" charset="0"/>
              <a:buChar char="•"/>
            </a:pPr>
            <a:r>
              <a:rPr lang="en-GB" sz="2801" spc="113" dirty="0">
                <a:solidFill>
                  <a:srgbClr val="000000"/>
                </a:solidFill>
                <a:latin typeface="DM Sans"/>
                <a:ea typeface="DM Sans"/>
                <a:cs typeface="DM Sans"/>
                <a:sym typeface="DM Sans"/>
              </a:rPr>
              <a:t>PowerPoint or slideshow format</a:t>
            </a:r>
          </a:p>
          <a:p>
            <a:pPr marL="457181" indent="-457181">
              <a:spcBef>
                <a:spcPct val="0"/>
              </a:spcBef>
              <a:buFont typeface="Arial" panose="020B0604020202020204" pitchFamily="34" charset="0"/>
              <a:buChar char="•"/>
            </a:pPr>
            <a:r>
              <a:rPr lang="en-GB" sz="2801" spc="113" dirty="0">
                <a:solidFill>
                  <a:srgbClr val="000000"/>
                </a:solidFill>
                <a:latin typeface="DM Sans"/>
                <a:ea typeface="DM Sans"/>
                <a:cs typeface="DM Sans"/>
                <a:sym typeface="DM Sans"/>
              </a:rPr>
              <a:t>Demonstration of working prototype</a:t>
            </a:r>
          </a:p>
          <a:p>
            <a:pPr marL="457181" indent="-457181">
              <a:spcBef>
                <a:spcPct val="0"/>
              </a:spcBef>
              <a:buFont typeface="Arial" panose="020B0604020202020204" pitchFamily="34" charset="0"/>
              <a:buChar char="•"/>
            </a:pPr>
            <a:r>
              <a:rPr lang="en-GB" sz="2801" spc="113" dirty="0">
                <a:solidFill>
                  <a:srgbClr val="000000"/>
                </a:solidFill>
                <a:latin typeface="DM Sans"/>
                <a:ea typeface="DM Sans"/>
                <a:cs typeface="DM Sans"/>
                <a:sym typeface="DM Sans"/>
              </a:rPr>
              <a:t>Explanation of SMART objectives achieved</a:t>
            </a:r>
            <a:endParaRPr lang="en-US" sz="2801" spc="113" dirty="0">
              <a:solidFill>
                <a:srgbClr val="000000"/>
              </a:solidFill>
              <a:latin typeface="DM Sans"/>
              <a:ea typeface="DM Sans"/>
              <a:cs typeface="DM Sans"/>
              <a:sym typeface="DM Sans"/>
            </a:endParaRPr>
          </a:p>
        </p:txBody>
      </p:sp>
      <p:grpSp>
        <p:nvGrpSpPr>
          <p:cNvPr id="35" name="Group 3">
            <a:extLst>
              <a:ext uri="{FF2B5EF4-FFF2-40B4-BE49-F238E27FC236}">
                <a16:creationId xmlns:a16="http://schemas.microsoft.com/office/drawing/2014/main" id="{00C13DF5-1C80-A2D6-8DFD-9353B7643738}"/>
              </a:ext>
            </a:extLst>
          </p:cNvPr>
          <p:cNvGrpSpPr/>
          <p:nvPr/>
        </p:nvGrpSpPr>
        <p:grpSpPr>
          <a:xfrm>
            <a:off x="10833644" y="0"/>
            <a:ext cx="7454364" cy="10287000"/>
            <a:chOff x="0" y="0"/>
            <a:chExt cx="1963290" cy="2792187"/>
          </a:xfrm>
        </p:grpSpPr>
        <p:sp>
          <p:nvSpPr>
            <p:cNvPr id="36" name="Freeform 4">
              <a:extLst>
                <a:ext uri="{FF2B5EF4-FFF2-40B4-BE49-F238E27FC236}">
                  <a16:creationId xmlns:a16="http://schemas.microsoft.com/office/drawing/2014/main" id="{9BF56F20-C707-4E24-AE67-D541D60323E7}"/>
                </a:ext>
              </a:extLst>
            </p:cNvPr>
            <p:cNvSpPr/>
            <p:nvPr/>
          </p:nvSpPr>
          <p:spPr>
            <a:xfrm>
              <a:off x="0" y="0"/>
              <a:ext cx="1963290" cy="2792187"/>
            </a:xfrm>
            <a:custGeom>
              <a:avLst/>
              <a:gdLst/>
              <a:ahLst/>
              <a:cxnLst/>
              <a:rect l="l" t="t" r="r" b="b"/>
              <a:pathLst>
                <a:path w="1963290" h="2792187">
                  <a:moveTo>
                    <a:pt x="0" y="0"/>
                  </a:moveTo>
                  <a:lnTo>
                    <a:pt x="1963290" y="0"/>
                  </a:lnTo>
                  <a:lnTo>
                    <a:pt x="1963290" y="2792187"/>
                  </a:lnTo>
                  <a:lnTo>
                    <a:pt x="0" y="2792187"/>
                  </a:lnTo>
                  <a:close/>
                </a:path>
              </a:pathLst>
            </a:custGeom>
            <a:solidFill>
              <a:srgbClr val="AAD7D4">
                <a:alpha val="55686"/>
              </a:srgbClr>
            </a:solidFill>
          </p:spPr>
          <p:txBody>
            <a:bodyPr/>
            <a:lstStyle/>
            <a:p>
              <a:endParaRPr lang="en-US" sz="1200" dirty="0"/>
            </a:p>
          </p:txBody>
        </p:sp>
        <p:sp>
          <p:nvSpPr>
            <p:cNvPr id="37" name="TextBox 5">
              <a:extLst>
                <a:ext uri="{FF2B5EF4-FFF2-40B4-BE49-F238E27FC236}">
                  <a16:creationId xmlns:a16="http://schemas.microsoft.com/office/drawing/2014/main" id="{B9E2C5D3-0CCD-E952-E240-8A0373A19CAA}"/>
                </a:ext>
              </a:extLst>
            </p:cNvPr>
            <p:cNvSpPr txBox="1"/>
            <p:nvPr/>
          </p:nvSpPr>
          <p:spPr>
            <a:xfrm>
              <a:off x="0" y="-38100"/>
              <a:ext cx="1963290" cy="2830287"/>
            </a:xfrm>
            <a:prstGeom prst="rect">
              <a:avLst/>
            </a:prstGeom>
          </p:spPr>
          <p:txBody>
            <a:bodyPr lIns="50801" tIns="50801" rIns="50801" bIns="50801" rtlCol="0" anchor="ctr"/>
            <a:lstStyle/>
            <a:p>
              <a:pPr algn="ctr">
                <a:lnSpc>
                  <a:spcPts val="2663"/>
                </a:lnSpc>
              </a:pPr>
              <a:endParaRPr sz="1200" dirty="0"/>
            </a:p>
          </p:txBody>
        </p:sp>
      </p:grpSp>
    </p:spTree>
    <p:extLst>
      <p:ext uri="{BB962C8B-B14F-4D97-AF65-F5344CB8AC3E}">
        <p14:creationId xmlns:p14="http://schemas.microsoft.com/office/powerpoint/2010/main" val="4321058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558814" y="2697176"/>
            <a:ext cx="4892678" cy="4892678"/>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31222" r="-69951"/>
              </a:stretch>
            </a:blipFill>
          </p:spPr>
          <p:txBody>
            <a:bodyPr/>
            <a:lstStyle/>
            <a:p>
              <a:endParaRPr lang="en-US" sz="1200" dirty="0"/>
            </a:p>
          </p:txBody>
        </p:sp>
      </p:grpSp>
      <p:grpSp>
        <p:nvGrpSpPr>
          <p:cNvPr id="4" name="Group 4"/>
          <p:cNvGrpSpPr/>
          <p:nvPr/>
        </p:nvGrpSpPr>
        <p:grpSpPr>
          <a:xfrm>
            <a:off x="12796276" y="1028716"/>
            <a:ext cx="1463219" cy="1463219"/>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AD7D4"/>
            </a:solidFill>
          </p:spPr>
          <p:txBody>
            <a:bodyPr/>
            <a:lstStyle/>
            <a:p>
              <a:endParaRPr lang="en-US" sz="1200" dirty="0"/>
            </a:p>
          </p:txBody>
        </p:sp>
        <p:sp>
          <p:nvSpPr>
            <p:cNvPr id="6" name="TextBox 6"/>
            <p:cNvSpPr txBox="1"/>
            <p:nvPr/>
          </p:nvSpPr>
          <p:spPr>
            <a:xfrm>
              <a:off x="76200" y="38100"/>
              <a:ext cx="660400" cy="698500"/>
            </a:xfrm>
            <a:prstGeom prst="rect">
              <a:avLst/>
            </a:prstGeom>
          </p:spPr>
          <p:txBody>
            <a:bodyPr lIns="50801" tIns="50801" rIns="50801" bIns="50801" rtlCol="0" anchor="ctr"/>
            <a:lstStyle/>
            <a:p>
              <a:pPr algn="ctr">
                <a:lnSpc>
                  <a:spcPts val="2663"/>
                </a:lnSpc>
              </a:pPr>
              <a:endParaRPr sz="1200" dirty="0"/>
            </a:p>
          </p:txBody>
        </p:sp>
      </p:grpSp>
      <p:grpSp>
        <p:nvGrpSpPr>
          <p:cNvPr id="7" name="Group 7"/>
          <p:cNvGrpSpPr/>
          <p:nvPr/>
        </p:nvGrpSpPr>
        <p:grpSpPr>
          <a:xfrm>
            <a:off x="15567329" y="2697173"/>
            <a:ext cx="1463219" cy="1463219"/>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AD7D4"/>
            </a:solidFill>
          </p:spPr>
          <p:txBody>
            <a:bodyPr/>
            <a:lstStyle/>
            <a:p>
              <a:endParaRPr lang="en-US" sz="1200" dirty="0"/>
            </a:p>
          </p:txBody>
        </p:sp>
        <p:sp>
          <p:nvSpPr>
            <p:cNvPr id="9" name="TextBox 9"/>
            <p:cNvSpPr txBox="1"/>
            <p:nvPr/>
          </p:nvSpPr>
          <p:spPr>
            <a:xfrm>
              <a:off x="76200" y="38100"/>
              <a:ext cx="660400" cy="698500"/>
            </a:xfrm>
            <a:prstGeom prst="rect">
              <a:avLst/>
            </a:prstGeom>
          </p:spPr>
          <p:txBody>
            <a:bodyPr lIns="50801" tIns="50801" rIns="50801" bIns="50801" rtlCol="0" anchor="ctr"/>
            <a:lstStyle/>
            <a:p>
              <a:pPr algn="ctr">
                <a:lnSpc>
                  <a:spcPts val="2663"/>
                </a:lnSpc>
              </a:pPr>
              <a:endParaRPr sz="1200" dirty="0"/>
            </a:p>
          </p:txBody>
        </p:sp>
      </p:grpSp>
      <p:grpSp>
        <p:nvGrpSpPr>
          <p:cNvPr id="10" name="Group 10"/>
          <p:cNvGrpSpPr/>
          <p:nvPr/>
        </p:nvGrpSpPr>
        <p:grpSpPr>
          <a:xfrm>
            <a:off x="15567329" y="5927236"/>
            <a:ext cx="1463219" cy="1463219"/>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AD7D4"/>
            </a:solidFill>
          </p:spPr>
          <p:txBody>
            <a:bodyPr/>
            <a:lstStyle/>
            <a:p>
              <a:endParaRPr lang="en-US" sz="1200" dirty="0"/>
            </a:p>
          </p:txBody>
        </p:sp>
        <p:sp>
          <p:nvSpPr>
            <p:cNvPr id="12" name="TextBox 12"/>
            <p:cNvSpPr txBox="1"/>
            <p:nvPr/>
          </p:nvSpPr>
          <p:spPr>
            <a:xfrm>
              <a:off x="76200" y="38100"/>
              <a:ext cx="660400" cy="698500"/>
            </a:xfrm>
            <a:prstGeom prst="rect">
              <a:avLst/>
            </a:prstGeom>
          </p:spPr>
          <p:txBody>
            <a:bodyPr lIns="50801" tIns="50801" rIns="50801" bIns="50801" rtlCol="0" anchor="ctr"/>
            <a:lstStyle/>
            <a:p>
              <a:pPr algn="ctr">
                <a:lnSpc>
                  <a:spcPts val="2663"/>
                </a:lnSpc>
              </a:pPr>
              <a:endParaRPr sz="1200" dirty="0"/>
            </a:p>
          </p:txBody>
        </p:sp>
      </p:grpSp>
      <p:grpSp>
        <p:nvGrpSpPr>
          <p:cNvPr id="13" name="Group 13"/>
          <p:cNvGrpSpPr/>
          <p:nvPr/>
        </p:nvGrpSpPr>
        <p:grpSpPr>
          <a:xfrm>
            <a:off x="10028134" y="1639418"/>
            <a:ext cx="1463219" cy="1463219"/>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AD7D4"/>
            </a:solidFill>
          </p:spPr>
          <p:txBody>
            <a:bodyPr/>
            <a:lstStyle/>
            <a:p>
              <a:endParaRPr lang="en-US" sz="1200" dirty="0"/>
            </a:p>
          </p:txBody>
        </p:sp>
        <p:sp>
          <p:nvSpPr>
            <p:cNvPr id="15" name="TextBox 15"/>
            <p:cNvSpPr txBox="1"/>
            <p:nvPr/>
          </p:nvSpPr>
          <p:spPr>
            <a:xfrm>
              <a:off x="76200" y="38100"/>
              <a:ext cx="660400" cy="698500"/>
            </a:xfrm>
            <a:prstGeom prst="rect">
              <a:avLst/>
            </a:prstGeom>
          </p:spPr>
          <p:txBody>
            <a:bodyPr lIns="50801" tIns="50801" rIns="50801" bIns="50801" rtlCol="0" anchor="ctr"/>
            <a:lstStyle/>
            <a:p>
              <a:pPr algn="ctr">
                <a:lnSpc>
                  <a:spcPts val="2663"/>
                </a:lnSpc>
              </a:pPr>
              <a:endParaRPr sz="1200" dirty="0"/>
            </a:p>
          </p:txBody>
        </p:sp>
      </p:grpSp>
      <p:sp>
        <p:nvSpPr>
          <p:cNvPr id="16" name="Freeform 16"/>
          <p:cNvSpPr/>
          <p:nvPr/>
        </p:nvSpPr>
        <p:spPr>
          <a:xfrm>
            <a:off x="10388869" y="2066905"/>
            <a:ext cx="741752" cy="608237"/>
          </a:xfrm>
          <a:custGeom>
            <a:avLst/>
            <a:gdLst/>
            <a:ahLst/>
            <a:cxnLst/>
            <a:rect l="l" t="t" r="r" b="b"/>
            <a:pathLst>
              <a:path w="741751" h="608236">
                <a:moveTo>
                  <a:pt x="0" y="0"/>
                </a:moveTo>
                <a:lnTo>
                  <a:pt x="741751" y="0"/>
                </a:lnTo>
                <a:lnTo>
                  <a:pt x="741751" y="608236"/>
                </a:lnTo>
                <a:lnTo>
                  <a:pt x="0" y="60823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sz="1200" dirty="0"/>
          </a:p>
        </p:txBody>
      </p:sp>
      <p:sp>
        <p:nvSpPr>
          <p:cNvPr id="17" name="Freeform 17"/>
          <p:cNvSpPr/>
          <p:nvPr/>
        </p:nvSpPr>
        <p:spPr>
          <a:xfrm>
            <a:off x="13175932" y="1332998"/>
            <a:ext cx="703919" cy="854645"/>
          </a:xfrm>
          <a:custGeom>
            <a:avLst/>
            <a:gdLst/>
            <a:ahLst/>
            <a:cxnLst/>
            <a:rect l="l" t="t" r="r" b="b"/>
            <a:pathLst>
              <a:path w="703917" h="854645">
                <a:moveTo>
                  <a:pt x="0" y="0"/>
                </a:moveTo>
                <a:lnTo>
                  <a:pt x="703917" y="0"/>
                </a:lnTo>
                <a:lnTo>
                  <a:pt x="703917" y="854645"/>
                </a:lnTo>
                <a:lnTo>
                  <a:pt x="0" y="854645"/>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sz="1200" dirty="0"/>
          </a:p>
        </p:txBody>
      </p:sp>
      <p:sp>
        <p:nvSpPr>
          <p:cNvPr id="18" name="Freeform 18"/>
          <p:cNvSpPr/>
          <p:nvPr/>
        </p:nvSpPr>
        <p:spPr>
          <a:xfrm>
            <a:off x="15804773" y="3102632"/>
            <a:ext cx="988331" cy="652296"/>
          </a:xfrm>
          <a:custGeom>
            <a:avLst/>
            <a:gdLst/>
            <a:ahLst/>
            <a:cxnLst/>
            <a:rect l="l" t="t" r="r" b="b"/>
            <a:pathLst>
              <a:path w="988326" h="652295">
                <a:moveTo>
                  <a:pt x="0" y="0"/>
                </a:moveTo>
                <a:lnTo>
                  <a:pt x="988326" y="0"/>
                </a:lnTo>
                <a:lnTo>
                  <a:pt x="988326" y="652295"/>
                </a:lnTo>
                <a:lnTo>
                  <a:pt x="0" y="652295"/>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sz="1200" dirty="0"/>
          </a:p>
        </p:txBody>
      </p:sp>
      <p:sp>
        <p:nvSpPr>
          <p:cNvPr id="19" name="Freeform 19"/>
          <p:cNvSpPr/>
          <p:nvPr/>
        </p:nvSpPr>
        <p:spPr>
          <a:xfrm>
            <a:off x="15875219" y="6240506"/>
            <a:ext cx="847451" cy="836664"/>
          </a:xfrm>
          <a:custGeom>
            <a:avLst/>
            <a:gdLst/>
            <a:ahLst/>
            <a:cxnLst/>
            <a:rect l="l" t="t" r="r" b="b"/>
            <a:pathLst>
              <a:path w="847451" h="836665">
                <a:moveTo>
                  <a:pt x="0" y="0"/>
                </a:moveTo>
                <a:lnTo>
                  <a:pt x="847451" y="0"/>
                </a:lnTo>
                <a:lnTo>
                  <a:pt x="847451" y="836665"/>
                </a:lnTo>
                <a:lnTo>
                  <a:pt x="0" y="836665"/>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US" sz="1200" dirty="0"/>
          </a:p>
        </p:txBody>
      </p:sp>
      <p:sp>
        <p:nvSpPr>
          <p:cNvPr id="20" name="TextBox 20"/>
          <p:cNvSpPr txBox="1"/>
          <p:nvPr/>
        </p:nvSpPr>
        <p:spPr>
          <a:xfrm>
            <a:off x="975367" y="1444947"/>
            <a:ext cx="8537477" cy="1169936"/>
          </a:xfrm>
          <a:prstGeom prst="rect">
            <a:avLst/>
          </a:prstGeom>
        </p:spPr>
        <p:txBody>
          <a:bodyPr lIns="0" tIns="0" rIns="0" bIns="0" rtlCol="0" anchor="t">
            <a:spAutoFit/>
          </a:bodyPr>
          <a:lstStyle/>
          <a:p>
            <a:pPr>
              <a:lnSpc>
                <a:spcPts val="9659"/>
              </a:lnSpc>
            </a:pPr>
            <a:r>
              <a:rPr lang="en-US" sz="6600" b="1" dirty="0">
                <a:solidFill>
                  <a:srgbClr val="1C2120"/>
                </a:solidFill>
                <a:latin typeface="Poppins Bold"/>
                <a:ea typeface="Poppins Bold"/>
                <a:cs typeface="Poppins Bold"/>
                <a:sym typeface="Poppins Bold"/>
              </a:rPr>
              <a:t>Scope definition</a:t>
            </a:r>
          </a:p>
        </p:txBody>
      </p:sp>
      <p:sp>
        <p:nvSpPr>
          <p:cNvPr id="21" name="TextBox 21"/>
          <p:cNvSpPr txBox="1"/>
          <p:nvPr/>
        </p:nvSpPr>
        <p:spPr>
          <a:xfrm>
            <a:off x="975368" y="2909765"/>
            <a:ext cx="7284527" cy="6647974"/>
          </a:xfrm>
          <a:prstGeom prst="rect">
            <a:avLst/>
          </a:prstGeom>
        </p:spPr>
        <p:txBody>
          <a:bodyPr wrap="square" lIns="0" tIns="0" rIns="0" bIns="0" rtlCol="0" anchor="t">
            <a:spAutoFit/>
          </a:bodyPr>
          <a:lstStyle/>
          <a:p>
            <a:pPr lvl="0">
              <a:spcBef>
                <a:spcPct val="0"/>
              </a:spcBef>
            </a:pPr>
            <a:r>
              <a:rPr lang="en-GB" sz="2400" spc="113" dirty="0">
                <a:solidFill>
                  <a:srgbClr val="000000"/>
                </a:solidFill>
                <a:latin typeface="DM Sans"/>
                <a:ea typeface="DM Sans"/>
                <a:cs typeface="DM Sans"/>
                <a:sym typeface="DM Sans"/>
              </a:rPr>
              <a:t>Smart Bite is not designed to replace the grocery store, meal delivery services or professional nutrition counselling. Instead, its role is focused &amp; clear: to help users make the most of what they already have at home. The product directly addresses common problems like wasted groceries, limited cooking skills and lack of time to plan meals.</a:t>
            </a:r>
          </a:p>
          <a:p>
            <a:pPr lvl="0">
              <a:spcBef>
                <a:spcPct val="0"/>
              </a:spcBef>
            </a:pPr>
            <a:endParaRPr lang="en-GB" sz="2400" spc="113" dirty="0">
              <a:solidFill>
                <a:srgbClr val="000000"/>
              </a:solidFill>
              <a:latin typeface="DM Sans"/>
              <a:ea typeface="DM Sans"/>
              <a:cs typeface="DM Sans"/>
              <a:sym typeface="DM Sans"/>
            </a:endParaRPr>
          </a:p>
          <a:p>
            <a:pPr lvl="0">
              <a:spcBef>
                <a:spcPct val="0"/>
              </a:spcBef>
            </a:pPr>
            <a:r>
              <a:rPr lang="en-GB" sz="2400" spc="113" dirty="0">
                <a:solidFill>
                  <a:srgbClr val="000000"/>
                </a:solidFill>
                <a:latin typeface="DM Sans"/>
                <a:ea typeface="DM Sans"/>
                <a:cs typeface="DM Sans"/>
                <a:sym typeface="DM Sans"/>
              </a:rPr>
              <a:t>The project is limited to converting the user’s existing ingredients into ready-to-cook recipes. It does not include external integrations such as online stores or health tracking services. These boundaries ensure that Smart Bite stays focused on its core purpose; bridging the gap between a cluttered fridge and a finished dish — while preventing scope creep. </a:t>
            </a:r>
            <a:endParaRPr lang="en-US" sz="2400" spc="113" dirty="0">
              <a:solidFill>
                <a:srgbClr val="000000"/>
              </a:solidFill>
              <a:latin typeface="DM Sans"/>
              <a:ea typeface="DM Sans"/>
              <a:cs typeface="DM Sans"/>
              <a:sym typeface="DM San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222D21-A9C9-F667-693E-4F4E6F72D4C4}"/>
            </a:ext>
          </a:extLst>
        </p:cNvPr>
        <p:cNvGrpSpPr/>
        <p:nvPr/>
      </p:nvGrpSpPr>
      <p:grpSpPr>
        <a:xfrm>
          <a:off x="0" y="0"/>
          <a:ext cx="0" cy="0"/>
          <a:chOff x="0" y="0"/>
          <a:chExt cx="0" cy="0"/>
        </a:xfrm>
      </p:grpSpPr>
      <p:sp>
        <p:nvSpPr>
          <p:cNvPr id="20" name="TextBox 20">
            <a:extLst>
              <a:ext uri="{FF2B5EF4-FFF2-40B4-BE49-F238E27FC236}">
                <a16:creationId xmlns:a16="http://schemas.microsoft.com/office/drawing/2014/main" id="{3260AB12-19C3-7CD3-19B5-F1D609A632C0}"/>
              </a:ext>
            </a:extLst>
          </p:cNvPr>
          <p:cNvSpPr txBox="1"/>
          <p:nvPr/>
        </p:nvSpPr>
        <p:spPr>
          <a:xfrm>
            <a:off x="1737379" y="849376"/>
            <a:ext cx="3749042" cy="1126847"/>
          </a:xfrm>
          <a:prstGeom prst="rect">
            <a:avLst/>
          </a:prstGeom>
        </p:spPr>
        <p:txBody>
          <a:bodyPr wrap="square" lIns="0" tIns="0" rIns="0" bIns="0" rtlCol="0" anchor="t">
            <a:spAutoFit/>
          </a:bodyPr>
          <a:lstStyle/>
          <a:p>
            <a:pPr>
              <a:lnSpc>
                <a:spcPts val="9659"/>
              </a:lnSpc>
            </a:pPr>
            <a:r>
              <a:rPr lang="en-US" sz="5400" b="1" dirty="0">
                <a:solidFill>
                  <a:srgbClr val="1C2120"/>
                </a:solidFill>
                <a:latin typeface="Poppins Bold"/>
                <a:ea typeface="Poppins Bold"/>
                <a:cs typeface="Poppins Bold"/>
                <a:sym typeface="Poppins Bold"/>
              </a:rPr>
              <a:t>Inclusions</a:t>
            </a:r>
          </a:p>
        </p:txBody>
      </p:sp>
      <p:sp>
        <p:nvSpPr>
          <p:cNvPr id="21" name="TextBox 21">
            <a:extLst>
              <a:ext uri="{FF2B5EF4-FFF2-40B4-BE49-F238E27FC236}">
                <a16:creationId xmlns:a16="http://schemas.microsoft.com/office/drawing/2014/main" id="{F06D7106-9BB4-28D0-A5E4-F778A3AAA964}"/>
              </a:ext>
            </a:extLst>
          </p:cNvPr>
          <p:cNvSpPr txBox="1"/>
          <p:nvPr/>
        </p:nvSpPr>
        <p:spPr>
          <a:xfrm>
            <a:off x="609619" y="2324111"/>
            <a:ext cx="6949442" cy="4310154"/>
          </a:xfrm>
          <a:prstGeom prst="rect">
            <a:avLst/>
          </a:prstGeom>
        </p:spPr>
        <p:txBody>
          <a:bodyPr wrap="square" lIns="0" tIns="0" rIns="0" bIns="0" rtlCol="0" anchor="t">
            <a:spAutoFit/>
          </a:bodyPr>
          <a:lstStyle/>
          <a:p>
            <a:pPr marL="342888" indent="-342888">
              <a:spcBef>
                <a:spcPct val="0"/>
              </a:spcBef>
              <a:buFont typeface="Arial" panose="020B0604020202020204" pitchFamily="34" charset="0"/>
              <a:buChar char="•"/>
            </a:pPr>
            <a:r>
              <a:rPr lang="en-GB" sz="2801" spc="113" dirty="0">
                <a:solidFill>
                  <a:srgbClr val="000000"/>
                </a:solidFill>
                <a:latin typeface="DM Sans"/>
                <a:ea typeface="DM Sans"/>
                <a:cs typeface="DM Sans"/>
                <a:sym typeface="DM Sans"/>
              </a:rPr>
              <a:t>Ingredient scanning using a camera or manual input</a:t>
            </a:r>
          </a:p>
          <a:p>
            <a:pPr marL="342888" indent="-342888">
              <a:spcBef>
                <a:spcPct val="0"/>
              </a:spcBef>
              <a:buFont typeface="Arial" panose="020B0604020202020204" pitchFamily="34" charset="0"/>
              <a:buChar char="•"/>
            </a:pPr>
            <a:r>
              <a:rPr lang="en-GB" sz="2801" spc="113" dirty="0">
                <a:solidFill>
                  <a:srgbClr val="000000"/>
                </a:solidFill>
                <a:latin typeface="DM Sans"/>
                <a:ea typeface="DM Sans"/>
                <a:cs typeface="DM Sans"/>
                <a:sym typeface="DM Sans"/>
              </a:rPr>
              <a:t>AI-based recipe generation from available ingredients</a:t>
            </a:r>
          </a:p>
          <a:p>
            <a:pPr marL="342888" indent="-342888">
              <a:spcBef>
                <a:spcPct val="0"/>
              </a:spcBef>
              <a:buFont typeface="Arial" panose="020B0604020202020204" pitchFamily="34" charset="0"/>
              <a:buChar char="•"/>
            </a:pPr>
            <a:r>
              <a:rPr lang="en-GB" sz="2801" spc="113" dirty="0">
                <a:solidFill>
                  <a:srgbClr val="000000"/>
                </a:solidFill>
                <a:latin typeface="DM Sans"/>
                <a:ea typeface="DM Sans"/>
                <a:cs typeface="DM Sans"/>
                <a:sym typeface="DM Sans"/>
              </a:rPr>
              <a:t>Display of nutritional information and meal cost</a:t>
            </a:r>
          </a:p>
          <a:p>
            <a:pPr marL="342888" indent="-342888">
              <a:spcBef>
                <a:spcPct val="0"/>
              </a:spcBef>
              <a:buFont typeface="Arial" panose="020B0604020202020204" pitchFamily="34" charset="0"/>
              <a:buChar char="•"/>
            </a:pPr>
            <a:r>
              <a:rPr lang="en-GB" sz="2801" spc="113" dirty="0">
                <a:solidFill>
                  <a:srgbClr val="000000"/>
                </a:solidFill>
                <a:latin typeface="DM Sans"/>
                <a:ea typeface="DM Sans"/>
                <a:cs typeface="DM Sans"/>
                <a:sym typeface="DM Sans"/>
              </a:rPr>
              <a:t>User-friendly interface for viewing and following recipes</a:t>
            </a:r>
          </a:p>
          <a:p>
            <a:pPr marL="342888" indent="-342888">
              <a:spcBef>
                <a:spcPct val="0"/>
              </a:spcBef>
              <a:buFont typeface="Arial" panose="020B0604020202020204" pitchFamily="34" charset="0"/>
              <a:buChar char="•"/>
            </a:pPr>
            <a:r>
              <a:rPr lang="en-GB" sz="2801" spc="113" dirty="0">
                <a:solidFill>
                  <a:srgbClr val="000000"/>
                </a:solidFill>
                <a:latin typeface="DM Sans"/>
                <a:ea typeface="DM Sans"/>
                <a:cs typeface="DM Sans"/>
                <a:sym typeface="DM Sans"/>
              </a:rPr>
              <a:t>Focus on reducing food waste and supporting quick, healthy cooking</a:t>
            </a:r>
            <a:endParaRPr lang="en-US" sz="2801" spc="113" dirty="0">
              <a:solidFill>
                <a:srgbClr val="000000"/>
              </a:solidFill>
              <a:latin typeface="DM Sans"/>
              <a:ea typeface="DM Sans"/>
              <a:cs typeface="DM Sans"/>
              <a:sym typeface="DM Sans"/>
            </a:endParaRPr>
          </a:p>
        </p:txBody>
      </p:sp>
      <p:sp>
        <p:nvSpPr>
          <p:cNvPr id="32" name="TextBox 20">
            <a:extLst>
              <a:ext uri="{FF2B5EF4-FFF2-40B4-BE49-F238E27FC236}">
                <a16:creationId xmlns:a16="http://schemas.microsoft.com/office/drawing/2014/main" id="{6073769D-06FC-430F-104B-5EF2B3A2FDFD}"/>
              </a:ext>
            </a:extLst>
          </p:cNvPr>
          <p:cNvSpPr txBox="1"/>
          <p:nvPr/>
        </p:nvSpPr>
        <p:spPr>
          <a:xfrm>
            <a:off x="12801626" y="892468"/>
            <a:ext cx="3749042" cy="1126847"/>
          </a:xfrm>
          <a:prstGeom prst="rect">
            <a:avLst/>
          </a:prstGeom>
        </p:spPr>
        <p:txBody>
          <a:bodyPr wrap="square" lIns="0" tIns="0" rIns="0" bIns="0" rtlCol="0" anchor="t">
            <a:spAutoFit/>
          </a:bodyPr>
          <a:lstStyle/>
          <a:p>
            <a:pPr>
              <a:lnSpc>
                <a:spcPts val="9659"/>
              </a:lnSpc>
            </a:pPr>
            <a:r>
              <a:rPr lang="en-US" sz="5400" b="1" dirty="0">
                <a:solidFill>
                  <a:srgbClr val="1C2120"/>
                </a:solidFill>
                <a:latin typeface="Poppins Bold"/>
                <a:ea typeface="Poppins Bold"/>
                <a:cs typeface="Poppins Bold"/>
                <a:sym typeface="Poppins Bold"/>
              </a:rPr>
              <a:t>Exclusions</a:t>
            </a:r>
          </a:p>
        </p:txBody>
      </p:sp>
      <p:sp>
        <p:nvSpPr>
          <p:cNvPr id="34" name="TextBox 21">
            <a:extLst>
              <a:ext uri="{FF2B5EF4-FFF2-40B4-BE49-F238E27FC236}">
                <a16:creationId xmlns:a16="http://schemas.microsoft.com/office/drawing/2014/main" id="{495DD6F2-F71E-3CC8-2C5B-CF00F126B944}"/>
              </a:ext>
            </a:extLst>
          </p:cNvPr>
          <p:cNvSpPr txBox="1"/>
          <p:nvPr/>
        </p:nvSpPr>
        <p:spPr>
          <a:xfrm>
            <a:off x="10728982" y="2324107"/>
            <a:ext cx="6949442" cy="3017108"/>
          </a:xfrm>
          <a:prstGeom prst="rect">
            <a:avLst/>
          </a:prstGeom>
        </p:spPr>
        <p:txBody>
          <a:bodyPr wrap="square" lIns="0" tIns="0" rIns="0" bIns="0" rtlCol="0" anchor="t">
            <a:spAutoFit/>
          </a:bodyPr>
          <a:lstStyle/>
          <a:p>
            <a:pPr marL="342888" indent="-342888">
              <a:spcBef>
                <a:spcPct val="0"/>
              </a:spcBef>
              <a:buFont typeface="Arial" panose="020B0604020202020204" pitchFamily="34" charset="0"/>
              <a:buChar char="•"/>
            </a:pPr>
            <a:r>
              <a:rPr lang="en-GB" sz="2801" spc="113" dirty="0">
                <a:solidFill>
                  <a:srgbClr val="000000"/>
                </a:solidFill>
                <a:latin typeface="DM Sans"/>
                <a:ea typeface="DM Sans"/>
                <a:cs typeface="DM Sans"/>
                <a:sym typeface="DM Sans"/>
              </a:rPr>
              <a:t>Grocery shopping or delivery services</a:t>
            </a:r>
          </a:p>
          <a:p>
            <a:pPr marL="342888" indent="-342888">
              <a:spcBef>
                <a:spcPct val="0"/>
              </a:spcBef>
              <a:buFont typeface="Arial" panose="020B0604020202020204" pitchFamily="34" charset="0"/>
              <a:buChar char="•"/>
            </a:pPr>
            <a:r>
              <a:rPr lang="en-GB" sz="2801" spc="113" dirty="0">
                <a:solidFill>
                  <a:srgbClr val="000000"/>
                </a:solidFill>
                <a:latin typeface="DM Sans"/>
                <a:ea typeface="DM Sans"/>
                <a:cs typeface="DM Sans"/>
                <a:sym typeface="DM Sans"/>
              </a:rPr>
              <a:t>Meal delivery or ordering systems</a:t>
            </a:r>
          </a:p>
          <a:p>
            <a:pPr marL="342888" indent="-342888">
              <a:spcBef>
                <a:spcPct val="0"/>
              </a:spcBef>
              <a:buFont typeface="Arial" panose="020B0604020202020204" pitchFamily="34" charset="0"/>
              <a:buChar char="•"/>
            </a:pPr>
            <a:r>
              <a:rPr lang="en-GB" sz="2801" spc="113" dirty="0">
                <a:solidFill>
                  <a:srgbClr val="000000"/>
                </a:solidFill>
                <a:latin typeface="DM Sans"/>
                <a:ea typeface="DM Sans"/>
                <a:cs typeface="DM Sans"/>
                <a:sym typeface="DM Sans"/>
              </a:rPr>
              <a:t>Professional dietary or nutritional counselling</a:t>
            </a:r>
          </a:p>
          <a:p>
            <a:pPr marL="342888" indent="-342888">
              <a:spcBef>
                <a:spcPct val="0"/>
              </a:spcBef>
              <a:buFont typeface="Arial" panose="020B0604020202020204" pitchFamily="34" charset="0"/>
              <a:buChar char="•"/>
            </a:pPr>
            <a:r>
              <a:rPr lang="en-GB" sz="2801" spc="113" dirty="0">
                <a:solidFill>
                  <a:srgbClr val="000000"/>
                </a:solidFill>
                <a:latin typeface="DM Sans"/>
                <a:ea typeface="DM Sans"/>
                <a:cs typeface="DM Sans"/>
                <a:sym typeface="DM Sans"/>
              </a:rPr>
              <a:t>Recommendations for grocery purchases</a:t>
            </a:r>
            <a:endParaRPr lang="en-US" sz="2801" spc="113" dirty="0">
              <a:solidFill>
                <a:srgbClr val="000000"/>
              </a:solidFill>
              <a:latin typeface="DM Sans"/>
              <a:ea typeface="DM Sans"/>
              <a:cs typeface="DM Sans"/>
              <a:sym typeface="DM Sans"/>
            </a:endParaRPr>
          </a:p>
        </p:txBody>
      </p:sp>
    </p:spTree>
    <p:extLst>
      <p:ext uri="{BB962C8B-B14F-4D97-AF65-F5344CB8AC3E}">
        <p14:creationId xmlns:p14="http://schemas.microsoft.com/office/powerpoint/2010/main" val="37122653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AE64B4-5B3F-3412-E2D8-A6649FACA1E0}"/>
            </a:ext>
          </a:extLst>
        </p:cNvPr>
        <p:cNvGrpSpPr/>
        <p:nvPr/>
      </p:nvGrpSpPr>
      <p:grpSpPr>
        <a:xfrm>
          <a:off x="0" y="0"/>
          <a:ext cx="0" cy="0"/>
          <a:chOff x="0" y="0"/>
          <a:chExt cx="0" cy="0"/>
        </a:xfrm>
      </p:grpSpPr>
      <p:grpSp>
        <p:nvGrpSpPr>
          <p:cNvPr id="3" name="Group 3">
            <a:extLst>
              <a:ext uri="{FF2B5EF4-FFF2-40B4-BE49-F238E27FC236}">
                <a16:creationId xmlns:a16="http://schemas.microsoft.com/office/drawing/2014/main" id="{7F098B4F-C968-C564-1A8C-6C57F49FE2F9}"/>
              </a:ext>
            </a:extLst>
          </p:cNvPr>
          <p:cNvGrpSpPr/>
          <p:nvPr/>
        </p:nvGrpSpPr>
        <p:grpSpPr>
          <a:xfrm>
            <a:off x="2" y="0"/>
            <a:ext cx="5854164" cy="10287000"/>
            <a:chOff x="0" y="0"/>
            <a:chExt cx="1963290" cy="2792187"/>
          </a:xfrm>
        </p:grpSpPr>
        <p:sp>
          <p:nvSpPr>
            <p:cNvPr id="4" name="Freeform 4">
              <a:extLst>
                <a:ext uri="{FF2B5EF4-FFF2-40B4-BE49-F238E27FC236}">
                  <a16:creationId xmlns:a16="http://schemas.microsoft.com/office/drawing/2014/main" id="{0DB8AE22-C9B4-C107-1194-428C3C1441DF}"/>
                </a:ext>
              </a:extLst>
            </p:cNvPr>
            <p:cNvSpPr/>
            <p:nvPr/>
          </p:nvSpPr>
          <p:spPr>
            <a:xfrm>
              <a:off x="0" y="0"/>
              <a:ext cx="1963290" cy="2792187"/>
            </a:xfrm>
            <a:custGeom>
              <a:avLst/>
              <a:gdLst/>
              <a:ahLst/>
              <a:cxnLst/>
              <a:rect l="l" t="t" r="r" b="b"/>
              <a:pathLst>
                <a:path w="1963290" h="2792187">
                  <a:moveTo>
                    <a:pt x="0" y="0"/>
                  </a:moveTo>
                  <a:lnTo>
                    <a:pt x="1963290" y="0"/>
                  </a:lnTo>
                  <a:lnTo>
                    <a:pt x="1963290" y="2792187"/>
                  </a:lnTo>
                  <a:lnTo>
                    <a:pt x="0" y="2792187"/>
                  </a:lnTo>
                  <a:close/>
                </a:path>
              </a:pathLst>
            </a:custGeom>
            <a:solidFill>
              <a:srgbClr val="AAD7D4">
                <a:alpha val="55686"/>
              </a:srgbClr>
            </a:solidFill>
          </p:spPr>
          <p:txBody>
            <a:bodyPr/>
            <a:lstStyle/>
            <a:p>
              <a:endParaRPr lang="en-US" sz="1200" dirty="0"/>
            </a:p>
          </p:txBody>
        </p:sp>
        <p:sp>
          <p:nvSpPr>
            <p:cNvPr id="5" name="TextBox 5">
              <a:extLst>
                <a:ext uri="{FF2B5EF4-FFF2-40B4-BE49-F238E27FC236}">
                  <a16:creationId xmlns:a16="http://schemas.microsoft.com/office/drawing/2014/main" id="{935C69AA-5BB8-94AF-753F-8B7BBDF8041E}"/>
                </a:ext>
              </a:extLst>
            </p:cNvPr>
            <p:cNvSpPr txBox="1"/>
            <p:nvPr/>
          </p:nvSpPr>
          <p:spPr>
            <a:xfrm>
              <a:off x="0" y="-38100"/>
              <a:ext cx="1963290" cy="2830287"/>
            </a:xfrm>
            <a:prstGeom prst="rect">
              <a:avLst/>
            </a:prstGeom>
          </p:spPr>
          <p:txBody>
            <a:bodyPr lIns="50801" tIns="50801" rIns="50801" bIns="50801" rtlCol="0" anchor="ctr"/>
            <a:lstStyle/>
            <a:p>
              <a:pPr algn="ctr">
                <a:lnSpc>
                  <a:spcPts val="2663"/>
                </a:lnSpc>
              </a:pPr>
              <a:endParaRPr sz="1200" dirty="0"/>
            </a:p>
          </p:txBody>
        </p:sp>
      </p:grpSp>
      <p:sp>
        <p:nvSpPr>
          <p:cNvPr id="9" name="TextBox 9">
            <a:extLst>
              <a:ext uri="{FF2B5EF4-FFF2-40B4-BE49-F238E27FC236}">
                <a16:creationId xmlns:a16="http://schemas.microsoft.com/office/drawing/2014/main" id="{429E7730-715F-A189-BA01-EA5AA7D9223B}"/>
              </a:ext>
            </a:extLst>
          </p:cNvPr>
          <p:cNvSpPr txBox="1"/>
          <p:nvPr/>
        </p:nvSpPr>
        <p:spPr>
          <a:xfrm>
            <a:off x="6096016" y="703338"/>
            <a:ext cx="8011991" cy="1013098"/>
          </a:xfrm>
          <a:prstGeom prst="rect">
            <a:avLst/>
          </a:prstGeom>
        </p:spPr>
        <p:txBody>
          <a:bodyPr lIns="0" tIns="0" rIns="0" bIns="0" rtlCol="0" anchor="t">
            <a:spAutoFit/>
          </a:bodyPr>
          <a:lstStyle/>
          <a:p>
            <a:pPr>
              <a:lnSpc>
                <a:spcPts val="7933"/>
              </a:lnSpc>
            </a:pPr>
            <a:r>
              <a:rPr lang="en-US" sz="6600" b="1" dirty="0">
                <a:solidFill>
                  <a:srgbClr val="1C2120"/>
                </a:solidFill>
                <a:latin typeface="Poppins Bold"/>
                <a:ea typeface="Poppins Bold"/>
                <a:cs typeface="Poppins Bold"/>
                <a:sym typeface="Poppins Bold"/>
              </a:rPr>
              <a:t>Project tasks</a:t>
            </a:r>
          </a:p>
        </p:txBody>
      </p:sp>
      <p:sp>
        <p:nvSpPr>
          <p:cNvPr id="10" name="TextBox 10">
            <a:extLst>
              <a:ext uri="{FF2B5EF4-FFF2-40B4-BE49-F238E27FC236}">
                <a16:creationId xmlns:a16="http://schemas.microsoft.com/office/drawing/2014/main" id="{87A2248B-6A6B-B16D-3051-666A32B36B21}"/>
              </a:ext>
            </a:extLst>
          </p:cNvPr>
          <p:cNvSpPr txBox="1"/>
          <p:nvPr/>
        </p:nvSpPr>
        <p:spPr>
          <a:xfrm>
            <a:off x="6096000" y="1809893"/>
            <a:ext cx="10591800" cy="7609327"/>
          </a:xfrm>
          <a:prstGeom prst="rect">
            <a:avLst/>
          </a:prstGeom>
        </p:spPr>
        <p:txBody>
          <a:bodyPr wrap="square" lIns="0" tIns="0" rIns="0" bIns="0" rtlCol="0" anchor="t">
            <a:spAutoFit/>
          </a:bodyPr>
          <a:lstStyle/>
          <a:p>
            <a:pPr marL="457181" indent="-457181">
              <a:spcAft>
                <a:spcPts val="600"/>
              </a:spcAft>
              <a:buFont typeface="Arial" panose="020B0604020202020204" pitchFamily="34" charset="0"/>
              <a:buChar char="•"/>
            </a:pPr>
            <a:r>
              <a:rPr lang="en-GB" sz="2801" spc="110" dirty="0">
                <a:solidFill>
                  <a:srgbClr val="000000"/>
                </a:solidFill>
                <a:latin typeface="DM Sans"/>
                <a:ea typeface="DM Sans"/>
                <a:cs typeface="DM Sans"/>
                <a:sym typeface="DM Sans"/>
              </a:rPr>
              <a:t>Design and develop the Smart Bite mobile application: create the overall app layout, interface, and navigation flow to make it easy for users to scan ingredients and view recipes.</a:t>
            </a:r>
          </a:p>
          <a:p>
            <a:pPr marL="457181" indent="-457181">
              <a:spcAft>
                <a:spcPts val="600"/>
              </a:spcAft>
              <a:buFont typeface="Arial" panose="020B0604020202020204" pitchFamily="34" charset="0"/>
              <a:buChar char="•"/>
            </a:pPr>
            <a:r>
              <a:rPr lang="en-GB" sz="2801" spc="110" dirty="0">
                <a:solidFill>
                  <a:srgbClr val="000000"/>
                </a:solidFill>
                <a:latin typeface="DM Sans"/>
                <a:ea typeface="DM Sans"/>
                <a:cs typeface="DM Sans"/>
                <a:sym typeface="DM Sans"/>
              </a:rPr>
              <a:t>Develop the AI feature that detects ingredients (through camera or manual input) and the recipe engine that turns them into meal ideas.</a:t>
            </a:r>
          </a:p>
          <a:p>
            <a:pPr marL="457181" indent="-457181">
              <a:spcAft>
                <a:spcPts val="600"/>
              </a:spcAft>
              <a:buFont typeface="Arial" panose="020B0604020202020204" pitchFamily="34" charset="0"/>
              <a:buChar char="•"/>
            </a:pPr>
            <a:r>
              <a:rPr lang="en-GB" sz="2801" spc="110" dirty="0">
                <a:solidFill>
                  <a:srgbClr val="000000"/>
                </a:solidFill>
                <a:latin typeface="DM Sans"/>
                <a:ea typeface="DM Sans"/>
                <a:cs typeface="DM Sans"/>
                <a:sym typeface="DM Sans"/>
              </a:rPr>
              <a:t>Add a system that calculates calories, protein, and nutrition value for each recipe to help users eat healthy. </a:t>
            </a:r>
          </a:p>
          <a:p>
            <a:pPr marL="457181" indent="-457181">
              <a:spcAft>
                <a:spcPts val="600"/>
              </a:spcAft>
              <a:buFont typeface="Arial" panose="020B0604020202020204" pitchFamily="34" charset="0"/>
              <a:buChar char="•"/>
            </a:pPr>
            <a:r>
              <a:rPr lang="en-GB" sz="2801" spc="110" dirty="0">
                <a:solidFill>
                  <a:srgbClr val="000000"/>
                </a:solidFill>
                <a:latin typeface="DM Sans"/>
                <a:ea typeface="DM Sans"/>
                <a:cs typeface="DM Sans"/>
                <a:sym typeface="DM Sans"/>
              </a:rPr>
              <a:t>Test the app’s usability and performance: check that the app runs smoothly, gives accurate recipe results, and is easy for users to understand and navigate.</a:t>
            </a:r>
          </a:p>
          <a:p>
            <a:pPr marL="457181" indent="-457181">
              <a:spcAft>
                <a:spcPts val="600"/>
              </a:spcAft>
              <a:buFont typeface="Arial" panose="020B0604020202020204" pitchFamily="34" charset="0"/>
              <a:buChar char="•"/>
            </a:pPr>
            <a:r>
              <a:rPr lang="en-GB" sz="2801" spc="110" dirty="0">
                <a:solidFill>
                  <a:srgbClr val="000000"/>
                </a:solidFill>
                <a:latin typeface="DM Sans"/>
                <a:ea typeface="DM Sans"/>
                <a:cs typeface="DM Sans"/>
                <a:sym typeface="DM Sans"/>
              </a:rPr>
              <a:t>Prepare final documentation and presentation materials: write the final project report, including objectives, system design, and results, and create a presentation to demonstrate how the app works</a:t>
            </a:r>
          </a:p>
          <a:p>
            <a:pPr>
              <a:lnSpc>
                <a:spcPts val="2453"/>
              </a:lnSpc>
              <a:spcBef>
                <a:spcPct val="0"/>
              </a:spcBef>
            </a:pPr>
            <a:endParaRPr lang="en-US" sz="2400" spc="110" dirty="0">
              <a:solidFill>
                <a:srgbClr val="000000"/>
              </a:solidFill>
              <a:latin typeface="DM Sans"/>
              <a:ea typeface="DM Sans"/>
              <a:cs typeface="DM Sans"/>
              <a:sym typeface="DM Sans"/>
            </a:endParaRPr>
          </a:p>
        </p:txBody>
      </p:sp>
    </p:spTree>
    <p:extLst>
      <p:ext uri="{BB962C8B-B14F-4D97-AF65-F5344CB8AC3E}">
        <p14:creationId xmlns:p14="http://schemas.microsoft.com/office/powerpoint/2010/main" val="42807079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08DE0C-E84E-3A48-F125-23D1F4295B7E}"/>
            </a:ext>
          </a:extLst>
        </p:cNvPr>
        <p:cNvGrpSpPr/>
        <p:nvPr/>
      </p:nvGrpSpPr>
      <p:grpSpPr>
        <a:xfrm>
          <a:off x="0" y="0"/>
          <a:ext cx="0" cy="0"/>
          <a:chOff x="0" y="0"/>
          <a:chExt cx="0" cy="0"/>
        </a:xfrm>
      </p:grpSpPr>
      <p:sp>
        <p:nvSpPr>
          <p:cNvPr id="20" name="TextBox 20">
            <a:extLst>
              <a:ext uri="{FF2B5EF4-FFF2-40B4-BE49-F238E27FC236}">
                <a16:creationId xmlns:a16="http://schemas.microsoft.com/office/drawing/2014/main" id="{238D70AB-A830-2A75-9979-4FE33FFBA357}"/>
              </a:ext>
            </a:extLst>
          </p:cNvPr>
          <p:cNvSpPr txBox="1"/>
          <p:nvPr/>
        </p:nvSpPr>
        <p:spPr>
          <a:xfrm>
            <a:off x="609616" y="892452"/>
            <a:ext cx="4053842" cy="1090940"/>
          </a:xfrm>
          <a:prstGeom prst="rect">
            <a:avLst/>
          </a:prstGeom>
        </p:spPr>
        <p:txBody>
          <a:bodyPr wrap="square" lIns="0" tIns="0" rIns="0" bIns="0" rtlCol="0" anchor="t">
            <a:spAutoFit/>
          </a:bodyPr>
          <a:lstStyle/>
          <a:p>
            <a:pPr>
              <a:lnSpc>
                <a:spcPts val="9659"/>
              </a:lnSpc>
            </a:pPr>
            <a:r>
              <a:rPr lang="en-US" sz="4400" b="1" dirty="0">
                <a:solidFill>
                  <a:srgbClr val="1C2120"/>
                </a:solidFill>
                <a:latin typeface="Poppins Bold"/>
                <a:ea typeface="Poppins Bold"/>
                <a:cs typeface="Poppins Bold"/>
                <a:sym typeface="Poppins Bold"/>
              </a:rPr>
              <a:t>Assumptions</a:t>
            </a:r>
          </a:p>
        </p:txBody>
      </p:sp>
      <p:sp>
        <p:nvSpPr>
          <p:cNvPr id="21" name="TextBox 21">
            <a:extLst>
              <a:ext uri="{FF2B5EF4-FFF2-40B4-BE49-F238E27FC236}">
                <a16:creationId xmlns:a16="http://schemas.microsoft.com/office/drawing/2014/main" id="{01C26450-F392-9508-3F90-205E8C7A2F20}"/>
              </a:ext>
            </a:extLst>
          </p:cNvPr>
          <p:cNvSpPr txBox="1"/>
          <p:nvPr/>
        </p:nvSpPr>
        <p:spPr>
          <a:xfrm>
            <a:off x="304810" y="2705111"/>
            <a:ext cx="5337818" cy="4801314"/>
          </a:xfrm>
          <a:prstGeom prst="rect">
            <a:avLst/>
          </a:prstGeom>
        </p:spPr>
        <p:txBody>
          <a:bodyPr wrap="square" lIns="0" tIns="0" rIns="0" bIns="0" rtlCol="0" anchor="t">
            <a:spAutoFit/>
          </a:bodyPr>
          <a:lstStyle/>
          <a:p>
            <a:pPr marL="342888" indent="-342888">
              <a:spcBef>
                <a:spcPct val="0"/>
              </a:spcBef>
              <a:buFont typeface="Arial" panose="020B0604020202020204" pitchFamily="34" charset="0"/>
              <a:buChar char="•"/>
            </a:pPr>
            <a:r>
              <a:rPr lang="en-GB" sz="2400" spc="113" dirty="0">
                <a:solidFill>
                  <a:srgbClr val="000000"/>
                </a:solidFill>
                <a:latin typeface="DM Sans"/>
                <a:ea typeface="DM Sans"/>
                <a:cs typeface="DM Sans"/>
                <a:sym typeface="DM Sans"/>
              </a:rPr>
              <a:t>Users will have access to smartphones with working cameras.</a:t>
            </a:r>
          </a:p>
          <a:p>
            <a:pPr marL="342888" indent="-342888">
              <a:spcBef>
                <a:spcPct val="0"/>
              </a:spcBef>
              <a:buFont typeface="Arial" panose="020B0604020202020204" pitchFamily="34" charset="0"/>
              <a:buChar char="•"/>
            </a:pPr>
            <a:r>
              <a:rPr lang="en-GB" sz="2400" spc="113" dirty="0">
                <a:solidFill>
                  <a:srgbClr val="000000"/>
                </a:solidFill>
                <a:latin typeface="DM Sans"/>
                <a:ea typeface="DM Sans"/>
                <a:cs typeface="DM Sans"/>
                <a:sym typeface="DM Sans"/>
              </a:rPr>
              <a:t>Users will have a stable internet connection when using the app.</a:t>
            </a:r>
          </a:p>
          <a:p>
            <a:pPr marL="342888" indent="-342888">
              <a:spcBef>
                <a:spcPct val="0"/>
              </a:spcBef>
              <a:buFont typeface="Arial" panose="020B0604020202020204" pitchFamily="34" charset="0"/>
              <a:buChar char="•"/>
            </a:pPr>
            <a:r>
              <a:rPr lang="en-GB" sz="2400" spc="113" dirty="0">
                <a:solidFill>
                  <a:srgbClr val="000000"/>
                </a:solidFill>
                <a:latin typeface="DM Sans"/>
                <a:ea typeface="DM Sans"/>
                <a:cs typeface="DM Sans"/>
                <a:sym typeface="DM Sans"/>
              </a:rPr>
              <a:t>The image recognition API will function accurately and consistently.</a:t>
            </a:r>
          </a:p>
          <a:p>
            <a:pPr marL="342888" indent="-342888">
              <a:spcBef>
                <a:spcPct val="0"/>
              </a:spcBef>
              <a:buFont typeface="Arial" panose="020B0604020202020204" pitchFamily="34" charset="0"/>
              <a:buChar char="•"/>
            </a:pPr>
            <a:r>
              <a:rPr lang="en-GB" sz="2400" spc="113" dirty="0">
                <a:solidFill>
                  <a:srgbClr val="000000"/>
                </a:solidFill>
                <a:latin typeface="DM Sans"/>
                <a:ea typeface="DM Sans"/>
                <a:cs typeface="DM Sans"/>
                <a:sym typeface="DM Sans"/>
              </a:rPr>
              <a:t>Required datasets (ingredients, recipes) will be provided or found online.</a:t>
            </a:r>
          </a:p>
          <a:p>
            <a:pPr marL="342888" indent="-342888">
              <a:spcBef>
                <a:spcPct val="0"/>
              </a:spcBef>
              <a:buFont typeface="Arial" panose="020B0604020202020204" pitchFamily="34" charset="0"/>
              <a:buChar char="•"/>
            </a:pPr>
            <a:r>
              <a:rPr lang="en-GB" sz="2400" spc="113" dirty="0">
                <a:solidFill>
                  <a:srgbClr val="000000"/>
                </a:solidFill>
                <a:latin typeface="DM Sans"/>
                <a:ea typeface="DM Sans"/>
                <a:cs typeface="DM Sans"/>
                <a:sym typeface="DM Sans"/>
              </a:rPr>
              <a:t>Team members will be available throughout the project period.</a:t>
            </a:r>
          </a:p>
        </p:txBody>
      </p:sp>
      <p:sp>
        <p:nvSpPr>
          <p:cNvPr id="32" name="TextBox 20">
            <a:extLst>
              <a:ext uri="{FF2B5EF4-FFF2-40B4-BE49-F238E27FC236}">
                <a16:creationId xmlns:a16="http://schemas.microsoft.com/office/drawing/2014/main" id="{32CAEC3A-68B8-9574-3F17-A3343CED6806}"/>
              </a:ext>
            </a:extLst>
          </p:cNvPr>
          <p:cNvSpPr txBox="1"/>
          <p:nvPr/>
        </p:nvSpPr>
        <p:spPr>
          <a:xfrm>
            <a:off x="7269502" y="892452"/>
            <a:ext cx="3749042" cy="1090940"/>
          </a:xfrm>
          <a:prstGeom prst="rect">
            <a:avLst/>
          </a:prstGeom>
        </p:spPr>
        <p:txBody>
          <a:bodyPr wrap="square" lIns="0" tIns="0" rIns="0" bIns="0" rtlCol="0" anchor="t">
            <a:spAutoFit/>
          </a:bodyPr>
          <a:lstStyle/>
          <a:p>
            <a:pPr>
              <a:lnSpc>
                <a:spcPts val="9659"/>
              </a:lnSpc>
            </a:pPr>
            <a:r>
              <a:rPr lang="en-US" sz="4400" b="1" dirty="0">
                <a:solidFill>
                  <a:srgbClr val="1C2120"/>
                </a:solidFill>
                <a:latin typeface="Poppins Bold"/>
                <a:ea typeface="Poppins Bold"/>
                <a:cs typeface="Poppins Bold"/>
                <a:sym typeface="Poppins Bold"/>
              </a:rPr>
              <a:t>Constraints</a:t>
            </a:r>
          </a:p>
        </p:txBody>
      </p:sp>
      <p:sp>
        <p:nvSpPr>
          <p:cNvPr id="2" name="TextBox 20">
            <a:extLst>
              <a:ext uri="{FF2B5EF4-FFF2-40B4-BE49-F238E27FC236}">
                <a16:creationId xmlns:a16="http://schemas.microsoft.com/office/drawing/2014/main" id="{1F62045C-DAFB-9BE2-006F-A47E367A3D49}"/>
              </a:ext>
            </a:extLst>
          </p:cNvPr>
          <p:cNvSpPr txBox="1"/>
          <p:nvPr/>
        </p:nvSpPr>
        <p:spPr>
          <a:xfrm>
            <a:off x="13030200" y="892452"/>
            <a:ext cx="4648200" cy="1090940"/>
          </a:xfrm>
          <a:prstGeom prst="rect">
            <a:avLst/>
          </a:prstGeom>
        </p:spPr>
        <p:txBody>
          <a:bodyPr wrap="square" lIns="0" tIns="0" rIns="0" bIns="0" rtlCol="0" anchor="t">
            <a:spAutoFit/>
          </a:bodyPr>
          <a:lstStyle/>
          <a:p>
            <a:pPr>
              <a:lnSpc>
                <a:spcPts val="9659"/>
              </a:lnSpc>
            </a:pPr>
            <a:r>
              <a:rPr lang="en-US" sz="4400" b="1" dirty="0">
                <a:solidFill>
                  <a:srgbClr val="1C2120"/>
                </a:solidFill>
                <a:latin typeface="Poppins Bold"/>
                <a:ea typeface="Poppins Bold"/>
                <a:cs typeface="Poppins Bold"/>
                <a:sym typeface="Poppins Bold"/>
              </a:rPr>
              <a:t>Dependencies</a:t>
            </a:r>
          </a:p>
        </p:txBody>
      </p:sp>
      <p:sp>
        <p:nvSpPr>
          <p:cNvPr id="4" name="TextBox 21">
            <a:extLst>
              <a:ext uri="{FF2B5EF4-FFF2-40B4-BE49-F238E27FC236}">
                <a16:creationId xmlns:a16="http://schemas.microsoft.com/office/drawing/2014/main" id="{F549E165-3B33-A7CD-22C0-5ED60B69A326}"/>
              </a:ext>
            </a:extLst>
          </p:cNvPr>
          <p:cNvSpPr txBox="1"/>
          <p:nvPr/>
        </p:nvSpPr>
        <p:spPr>
          <a:xfrm>
            <a:off x="6475106" y="2705117"/>
            <a:ext cx="5337818" cy="4431983"/>
          </a:xfrm>
          <a:prstGeom prst="rect">
            <a:avLst/>
          </a:prstGeom>
        </p:spPr>
        <p:txBody>
          <a:bodyPr wrap="square" lIns="0" tIns="0" rIns="0" bIns="0" rtlCol="0" anchor="t">
            <a:spAutoFit/>
          </a:bodyPr>
          <a:lstStyle/>
          <a:p>
            <a:pPr marL="342888" indent="-342888">
              <a:spcBef>
                <a:spcPct val="0"/>
              </a:spcBef>
              <a:buFont typeface="Arial" panose="020B0604020202020204" pitchFamily="34" charset="0"/>
              <a:buChar char="•"/>
            </a:pPr>
            <a:r>
              <a:rPr lang="en-GB" sz="2400" spc="113" dirty="0">
                <a:solidFill>
                  <a:srgbClr val="000000"/>
                </a:solidFill>
                <a:latin typeface="DM Sans"/>
                <a:ea typeface="DM Sans"/>
                <a:cs typeface="DM Sans"/>
                <a:sym typeface="DM Sans"/>
              </a:rPr>
              <a:t>Project duration is limited to one month and 7 days.</a:t>
            </a:r>
          </a:p>
          <a:p>
            <a:pPr marL="342888" indent="-342888">
              <a:spcBef>
                <a:spcPct val="0"/>
              </a:spcBef>
              <a:buFont typeface="Arial" panose="020B0604020202020204" pitchFamily="34" charset="0"/>
              <a:buChar char="•"/>
            </a:pPr>
            <a:r>
              <a:rPr lang="en-GB" sz="2400" spc="113" dirty="0">
                <a:solidFill>
                  <a:srgbClr val="000000"/>
                </a:solidFill>
                <a:latin typeface="DM Sans"/>
                <a:ea typeface="DM Sans"/>
                <a:cs typeface="DM Sans"/>
                <a:sym typeface="DM Sans"/>
              </a:rPr>
              <a:t>Total budget cannot exceed EGP 150,000.</a:t>
            </a:r>
          </a:p>
          <a:p>
            <a:pPr marL="342888" indent="-342888">
              <a:spcBef>
                <a:spcPct val="0"/>
              </a:spcBef>
              <a:buFont typeface="Arial" panose="020B0604020202020204" pitchFamily="34" charset="0"/>
              <a:buChar char="•"/>
            </a:pPr>
            <a:r>
              <a:rPr lang="en-GB" sz="2400" spc="113" dirty="0">
                <a:solidFill>
                  <a:srgbClr val="000000"/>
                </a:solidFill>
                <a:latin typeface="DM Sans"/>
                <a:ea typeface="DM Sans"/>
                <a:cs typeface="DM Sans"/>
                <a:sym typeface="DM Sans"/>
              </a:rPr>
              <a:t>The app must comply with data privacy and security regulations.</a:t>
            </a:r>
          </a:p>
          <a:p>
            <a:pPr marL="342888" indent="-342888">
              <a:spcBef>
                <a:spcPct val="0"/>
              </a:spcBef>
              <a:buFont typeface="Arial" panose="020B0604020202020204" pitchFamily="34" charset="0"/>
              <a:buChar char="•"/>
            </a:pPr>
            <a:r>
              <a:rPr lang="en-GB" sz="2400" spc="113" dirty="0">
                <a:solidFill>
                  <a:srgbClr val="000000"/>
                </a:solidFill>
                <a:latin typeface="DM Sans"/>
                <a:ea typeface="DM Sans"/>
                <a:cs typeface="DM Sans"/>
                <a:sym typeface="DM Sans"/>
              </a:rPr>
              <a:t>The app must run on Android 10 or higher.</a:t>
            </a:r>
          </a:p>
          <a:p>
            <a:pPr marL="342888" indent="-342888">
              <a:spcBef>
                <a:spcPct val="0"/>
              </a:spcBef>
              <a:buFont typeface="Arial" panose="020B0604020202020204" pitchFamily="34" charset="0"/>
              <a:buChar char="•"/>
            </a:pPr>
            <a:r>
              <a:rPr lang="en-GB" sz="2400" spc="113" dirty="0">
                <a:solidFill>
                  <a:srgbClr val="000000"/>
                </a:solidFill>
                <a:latin typeface="DM Sans"/>
                <a:ea typeface="DM Sans"/>
                <a:cs typeface="DM Sans"/>
                <a:sym typeface="DM Sans"/>
              </a:rPr>
              <a:t>All design and code must be completed using open-source tools.</a:t>
            </a:r>
          </a:p>
        </p:txBody>
      </p:sp>
      <p:sp>
        <p:nvSpPr>
          <p:cNvPr id="5" name="TextBox 21">
            <a:extLst>
              <a:ext uri="{FF2B5EF4-FFF2-40B4-BE49-F238E27FC236}">
                <a16:creationId xmlns:a16="http://schemas.microsoft.com/office/drawing/2014/main" id="{371E2167-398B-99EC-931D-B4D6BB2AB8EA}"/>
              </a:ext>
            </a:extLst>
          </p:cNvPr>
          <p:cNvSpPr txBox="1"/>
          <p:nvPr/>
        </p:nvSpPr>
        <p:spPr>
          <a:xfrm>
            <a:off x="12685406" y="2657484"/>
            <a:ext cx="5337818" cy="4431983"/>
          </a:xfrm>
          <a:prstGeom prst="rect">
            <a:avLst/>
          </a:prstGeom>
        </p:spPr>
        <p:txBody>
          <a:bodyPr wrap="square" lIns="0" tIns="0" rIns="0" bIns="0" rtlCol="0" anchor="t">
            <a:spAutoFit/>
          </a:bodyPr>
          <a:lstStyle/>
          <a:p>
            <a:pPr marL="342888" indent="-342888">
              <a:spcBef>
                <a:spcPct val="0"/>
              </a:spcBef>
              <a:buFont typeface="Arial" panose="020B0604020202020204" pitchFamily="34" charset="0"/>
              <a:buChar char="•"/>
            </a:pPr>
            <a:r>
              <a:rPr lang="en-GB" sz="2400" spc="113" dirty="0">
                <a:solidFill>
                  <a:srgbClr val="000000"/>
                </a:solidFill>
                <a:latin typeface="DM Sans"/>
                <a:ea typeface="DM Sans"/>
                <a:cs typeface="DM Sans"/>
                <a:sym typeface="DM Sans"/>
              </a:rPr>
              <a:t>Recipe generation feature depends on the ingredient recognition model being trained and tested.</a:t>
            </a:r>
          </a:p>
          <a:p>
            <a:pPr marL="342888" indent="-342888">
              <a:spcBef>
                <a:spcPct val="0"/>
              </a:spcBef>
              <a:buFont typeface="Arial" panose="020B0604020202020204" pitchFamily="34" charset="0"/>
              <a:buChar char="•"/>
            </a:pPr>
            <a:r>
              <a:rPr lang="en-GB" sz="2400" spc="113" dirty="0">
                <a:solidFill>
                  <a:srgbClr val="000000"/>
                </a:solidFill>
                <a:latin typeface="DM Sans"/>
                <a:ea typeface="DM Sans"/>
                <a:cs typeface="DM Sans"/>
                <a:sym typeface="DM Sans"/>
              </a:rPr>
              <a:t>UI design depends on finalizing the list of core features.</a:t>
            </a:r>
          </a:p>
          <a:p>
            <a:pPr marL="342888" indent="-342888">
              <a:spcBef>
                <a:spcPct val="0"/>
              </a:spcBef>
              <a:buFont typeface="Arial" panose="020B0604020202020204" pitchFamily="34" charset="0"/>
              <a:buChar char="•"/>
            </a:pPr>
            <a:r>
              <a:rPr lang="en-GB" sz="2400" spc="113" dirty="0">
                <a:solidFill>
                  <a:srgbClr val="000000"/>
                </a:solidFill>
                <a:latin typeface="DM Sans"/>
                <a:ea typeface="DM Sans"/>
                <a:cs typeface="DM Sans"/>
                <a:sym typeface="DM Sans"/>
              </a:rPr>
              <a:t>App launch depends on approval from the Google Play Store and App store.</a:t>
            </a:r>
          </a:p>
          <a:p>
            <a:pPr marL="342888" indent="-342888">
              <a:spcBef>
                <a:spcPct val="0"/>
              </a:spcBef>
              <a:buFont typeface="Arial" panose="020B0604020202020204" pitchFamily="34" charset="0"/>
              <a:buChar char="•"/>
            </a:pPr>
            <a:r>
              <a:rPr lang="en-GB" sz="2400" spc="113" dirty="0">
                <a:solidFill>
                  <a:srgbClr val="000000"/>
                </a:solidFill>
                <a:latin typeface="DM Sans"/>
                <a:ea typeface="DM Sans"/>
                <a:cs typeface="DM Sans"/>
                <a:sym typeface="DM Sans"/>
              </a:rPr>
              <a:t>Ingredient detection accuracy depends on the quality of the photo scanner.</a:t>
            </a:r>
          </a:p>
        </p:txBody>
      </p:sp>
    </p:spTree>
    <p:extLst>
      <p:ext uri="{BB962C8B-B14F-4D97-AF65-F5344CB8AC3E}">
        <p14:creationId xmlns:p14="http://schemas.microsoft.com/office/powerpoint/2010/main" val="29847549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CE49EC-6A13-A0FA-E612-B8BD0D3D840A}"/>
            </a:ext>
          </a:extLst>
        </p:cNvPr>
        <p:cNvGrpSpPr/>
        <p:nvPr/>
      </p:nvGrpSpPr>
      <p:grpSpPr>
        <a:xfrm>
          <a:off x="0" y="0"/>
          <a:ext cx="0" cy="0"/>
          <a:chOff x="0" y="0"/>
          <a:chExt cx="0" cy="0"/>
        </a:xfrm>
      </p:grpSpPr>
      <p:sp>
        <p:nvSpPr>
          <p:cNvPr id="9" name="TextBox 9">
            <a:extLst>
              <a:ext uri="{FF2B5EF4-FFF2-40B4-BE49-F238E27FC236}">
                <a16:creationId xmlns:a16="http://schemas.microsoft.com/office/drawing/2014/main" id="{35EF2445-3EA3-970E-0722-0B924CF020B0}"/>
              </a:ext>
            </a:extLst>
          </p:cNvPr>
          <p:cNvSpPr txBox="1"/>
          <p:nvPr/>
        </p:nvSpPr>
        <p:spPr>
          <a:xfrm>
            <a:off x="609616" y="796796"/>
            <a:ext cx="8011991" cy="1013098"/>
          </a:xfrm>
          <a:prstGeom prst="rect">
            <a:avLst/>
          </a:prstGeom>
        </p:spPr>
        <p:txBody>
          <a:bodyPr lIns="0" tIns="0" rIns="0" bIns="0" rtlCol="0" anchor="t">
            <a:spAutoFit/>
          </a:bodyPr>
          <a:lstStyle/>
          <a:p>
            <a:pPr>
              <a:lnSpc>
                <a:spcPts val="7933"/>
              </a:lnSpc>
            </a:pPr>
            <a:r>
              <a:rPr lang="en-US" sz="6600" b="1" dirty="0">
                <a:solidFill>
                  <a:srgbClr val="1C2120"/>
                </a:solidFill>
                <a:latin typeface="Poppins Bold"/>
                <a:ea typeface="Poppins Bold"/>
                <a:cs typeface="Poppins Bold"/>
                <a:sym typeface="Poppins Bold"/>
              </a:rPr>
              <a:t>Project Milestones</a:t>
            </a:r>
          </a:p>
        </p:txBody>
      </p:sp>
      <p:sp>
        <p:nvSpPr>
          <p:cNvPr id="10" name="TextBox 10">
            <a:extLst>
              <a:ext uri="{FF2B5EF4-FFF2-40B4-BE49-F238E27FC236}">
                <a16:creationId xmlns:a16="http://schemas.microsoft.com/office/drawing/2014/main" id="{694724E4-AFBC-7D9E-815F-FF380C3737EB}"/>
              </a:ext>
            </a:extLst>
          </p:cNvPr>
          <p:cNvSpPr txBox="1"/>
          <p:nvPr/>
        </p:nvSpPr>
        <p:spPr>
          <a:xfrm>
            <a:off x="609600" y="2019311"/>
            <a:ext cx="10591800" cy="7224606"/>
          </a:xfrm>
          <a:prstGeom prst="rect">
            <a:avLst/>
          </a:prstGeom>
        </p:spPr>
        <p:txBody>
          <a:bodyPr wrap="square" lIns="0" tIns="0" rIns="0" bIns="0" rtlCol="0" anchor="t">
            <a:spAutoFit/>
          </a:bodyPr>
          <a:lstStyle/>
          <a:p>
            <a:pPr marL="514334" indent="-514334">
              <a:buFont typeface="+mj-lt"/>
              <a:buAutoNum type="arabicPeriod"/>
            </a:pPr>
            <a:r>
              <a:rPr lang="en-GB" sz="2801" spc="110" dirty="0">
                <a:solidFill>
                  <a:srgbClr val="000000"/>
                </a:solidFill>
                <a:latin typeface="DM Sans"/>
                <a:ea typeface="DM Sans"/>
                <a:cs typeface="DM Sans"/>
                <a:sym typeface="DM Sans"/>
              </a:rPr>
              <a:t>Project Initiation – Week 1 (Day 1 to day 4) </a:t>
            </a:r>
          </a:p>
          <a:p>
            <a:pPr marL="971511" lvl="1" indent="-514334">
              <a:buFont typeface="Arial" panose="020B0604020202020204" pitchFamily="34" charset="0"/>
              <a:buChar char="•"/>
            </a:pPr>
            <a:r>
              <a:rPr lang="en-GB" sz="2801" spc="110" dirty="0">
                <a:solidFill>
                  <a:srgbClr val="000000"/>
                </a:solidFill>
                <a:latin typeface="DM Sans"/>
                <a:ea typeface="DM Sans"/>
                <a:cs typeface="DM Sans"/>
                <a:sym typeface="DM Sans"/>
              </a:rPr>
              <a:t>Define project goals</a:t>
            </a:r>
          </a:p>
          <a:p>
            <a:pPr marL="971511" lvl="1" indent="-514334">
              <a:buFont typeface="Arial" panose="020B0604020202020204" pitchFamily="34" charset="0"/>
              <a:buChar char="•"/>
            </a:pPr>
            <a:r>
              <a:rPr lang="en-GB" sz="2801" spc="110" dirty="0">
                <a:solidFill>
                  <a:srgbClr val="000000"/>
                </a:solidFill>
                <a:latin typeface="DM Sans"/>
                <a:ea typeface="DM Sans"/>
                <a:cs typeface="DM Sans"/>
                <a:sym typeface="DM Sans"/>
              </a:rPr>
              <a:t>Create project charter </a:t>
            </a:r>
          </a:p>
          <a:p>
            <a:pPr marL="514334" indent="-514334">
              <a:buFont typeface="+mj-lt"/>
              <a:buAutoNum type="arabicPeriod"/>
            </a:pPr>
            <a:r>
              <a:rPr lang="en-GB" sz="2801" spc="110" dirty="0">
                <a:solidFill>
                  <a:srgbClr val="000000"/>
                </a:solidFill>
                <a:latin typeface="DM Sans"/>
                <a:ea typeface="DM Sans"/>
                <a:cs typeface="DM Sans"/>
                <a:sym typeface="DM Sans"/>
              </a:rPr>
              <a:t>Planning – Week 2 </a:t>
            </a:r>
          </a:p>
          <a:p>
            <a:pPr marL="971511" lvl="1" indent="-514334">
              <a:buFont typeface="Arial" panose="020B0604020202020204" pitchFamily="34" charset="0"/>
              <a:buChar char="•"/>
            </a:pPr>
            <a:r>
              <a:rPr lang="en-GB" sz="2801" spc="110" dirty="0">
                <a:solidFill>
                  <a:srgbClr val="000000"/>
                </a:solidFill>
                <a:latin typeface="DM Sans"/>
                <a:ea typeface="DM Sans"/>
                <a:cs typeface="DM Sans"/>
                <a:sym typeface="DM Sans"/>
              </a:rPr>
              <a:t>Scope statement </a:t>
            </a:r>
          </a:p>
          <a:p>
            <a:pPr marL="971511" lvl="1" indent="-514334">
              <a:buFont typeface="Arial" panose="020B0604020202020204" pitchFamily="34" charset="0"/>
              <a:buChar char="•"/>
            </a:pPr>
            <a:r>
              <a:rPr lang="en-GB" sz="2801" spc="110" dirty="0">
                <a:solidFill>
                  <a:srgbClr val="000000"/>
                </a:solidFill>
                <a:latin typeface="DM Sans"/>
                <a:ea typeface="DM Sans"/>
                <a:cs typeface="DM Sans"/>
                <a:sym typeface="DM Sans"/>
              </a:rPr>
              <a:t>Risk analysis </a:t>
            </a:r>
          </a:p>
          <a:p>
            <a:pPr marL="971511" lvl="1" indent="-514334">
              <a:buFont typeface="Arial" panose="020B0604020202020204" pitchFamily="34" charset="0"/>
              <a:buChar char="•"/>
            </a:pPr>
            <a:r>
              <a:rPr lang="en-GB" sz="2801" spc="110" dirty="0">
                <a:solidFill>
                  <a:srgbClr val="000000"/>
                </a:solidFill>
                <a:latin typeface="DM Sans"/>
                <a:ea typeface="DM Sans"/>
                <a:cs typeface="DM Sans"/>
                <a:sym typeface="DM Sans"/>
              </a:rPr>
              <a:t>WBS and Project schedule</a:t>
            </a:r>
          </a:p>
          <a:p>
            <a:pPr marL="514334" indent="-514334">
              <a:buFont typeface="+mj-lt"/>
              <a:buAutoNum type="arabicPeriod"/>
            </a:pPr>
            <a:r>
              <a:rPr lang="en-GB" sz="2801" spc="110" dirty="0">
                <a:solidFill>
                  <a:srgbClr val="000000"/>
                </a:solidFill>
                <a:latin typeface="DM Sans"/>
                <a:ea typeface="DM Sans"/>
                <a:cs typeface="DM Sans"/>
                <a:sym typeface="DM Sans"/>
              </a:rPr>
              <a:t>Design – Week 3</a:t>
            </a:r>
          </a:p>
          <a:p>
            <a:pPr marL="514334" indent="-514334">
              <a:buFont typeface="+mj-lt"/>
              <a:buAutoNum type="arabicPeriod"/>
            </a:pPr>
            <a:r>
              <a:rPr lang="en-GB" sz="2801" spc="110" dirty="0">
                <a:solidFill>
                  <a:srgbClr val="000000"/>
                </a:solidFill>
                <a:latin typeface="DM Sans"/>
                <a:ea typeface="DM Sans"/>
                <a:cs typeface="DM Sans"/>
                <a:sym typeface="DM Sans"/>
              </a:rPr>
              <a:t>Execution – Week 5</a:t>
            </a:r>
          </a:p>
          <a:p>
            <a:pPr marL="971511" lvl="1" indent="-514334">
              <a:buFont typeface="Arial" panose="020B0604020202020204" pitchFamily="34" charset="0"/>
              <a:buChar char="•"/>
            </a:pPr>
            <a:r>
              <a:rPr lang="en-GB" sz="2801" spc="110" dirty="0">
                <a:solidFill>
                  <a:srgbClr val="000000"/>
                </a:solidFill>
                <a:latin typeface="DM Sans"/>
                <a:ea typeface="DM Sans"/>
                <a:cs typeface="DM Sans"/>
                <a:sym typeface="DM Sans"/>
              </a:rPr>
              <a:t>Database Implementation </a:t>
            </a:r>
          </a:p>
          <a:p>
            <a:pPr marL="971511" lvl="1" indent="-514334">
              <a:buFont typeface="Arial" panose="020B0604020202020204" pitchFamily="34" charset="0"/>
              <a:buChar char="•"/>
            </a:pPr>
            <a:r>
              <a:rPr lang="en-GB" sz="2801" spc="110" dirty="0">
                <a:solidFill>
                  <a:srgbClr val="000000"/>
                </a:solidFill>
                <a:latin typeface="DM Sans"/>
                <a:ea typeface="DM Sans"/>
                <a:cs typeface="DM Sans"/>
                <a:sym typeface="DM Sans"/>
              </a:rPr>
              <a:t>AI model training </a:t>
            </a:r>
          </a:p>
          <a:p>
            <a:pPr marL="971511" lvl="1" indent="-514334">
              <a:buFont typeface="Arial" panose="020B0604020202020204" pitchFamily="34" charset="0"/>
              <a:buChar char="•"/>
            </a:pPr>
            <a:r>
              <a:rPr lang="en-GB" sz="2801" spc="110" dirty="0">
                <a:solidFill>
                  <a:srgbClr val="000000"/>
                </a:solidFill>
                <a:latin typeface="DM Sans"/>
                <a:ea typeface="DM Sans"/>
                <a:cs typeface="DM Sans"/>
                <a:sym typeface="DM Sans"/>
              </a:rPr>
              <a:t>Security Implementation</a:t>
            </a:r>
          </a:p>
          <a:p>
            <a:pPr marL="514334" indent="-514334">
              <a:buFont typeface="+mj-lt"/>
              <a:buAutoNum type="arabicPeriod"/>
            </a:pPr>
            <a:r>
              <a:rPr lang="en-GB" sz="2801" spc="110" dirty="0">
                <a:solidFill>
                  <a:srgbClr val="000000"/>
                </a:solidFill>
                <a:latin typeface="DM Sans"/>
                <a:ea typeface="DM Sans"/>
                <a:cs typeface="DM Sans"/>
                <a:sym typeface="DM Sans"/>
              </a:rPr>
              <a:t> Testing – Week 7</a:t>
            </a:r>
          </a:p>
          <a:p>
            <a:pPr marL="514334" indent="-514334">
              <a:buFont typeface="+mj-lt"/>
              <a:buAutoNum type="arabicPeriod"/>
            </a:pPr>
            <a:r>
              <a:rPr lang="en-GB" sz="2801" spc="110" dirty="0">
                <a:solidFill>
                  <a:srgbClr val="000000"/>
                </a:solidFill>
                <a:latin typeface="DM Sans"/>
                <a:ea typeface="DM Sans"/>
                <a:cs typeface="DM Sans"/>
                <a:sym typeface="DM Sans"/>
              </a:rPr>
              <a:t>Closure – Week 8</a:t>
            </a:r>
          </a:p>
          <a:p>
            <a:pPr marL="971511" lvl="1" indent="-514334">
              <a:buFont typeface="Arial" panose="020B0604020202020204" pitchFamily="34" charset="0"/>
              <a:buChar char="•"/>
            </a:pPr>
            <a:r>
              <a:rPr lang="en-GB" sz="2801" spc="110" dirty="0">
                <a:solidFill>
                  <a:srgbClr val="000000"/>
                </a:solidFill>
                <a:latin typeface="DM Sans"/>
                <a:ea typeface="DM Sans"/>
                <a:cs typeface="DM Sans"/>
                <a:sym typeface="DM Sans"/>
              </a:rPr>
              <a:t>Project documentation </a:t>
            </a:r>
          </a:p>
          <a:p>
            <a:pPr marL="971511" lvl="1" indent="-514334">
              <a:buFont typeface="Arial" panose="020B0604020202020204" pitchFamily="34" charset="0"/>
              <a:buChar char="•"/>
            </a:pPr>
            <a:r>
              <a:rPr lang="en-GB" sz="2801" spc="110" dirty="0">
                <a:solidFill>
                  <a:srgbClr val="000000"/>
                </a:solidFill>
                <a:latin typeface="DM Sans"/>
                <a:ea typeface="DM Sans"/>
                <a:cs typeface="DM Sans"/>
                <a:sym typeface="DM Sans"/>
              </a:rPr>
              <a:t>Product delivery</a:t>
            </a:r>
          </a:p>
          <a:p>
            <a:pPr>
              <a:lnSpc>
                <a:spcPts val="2453"/>
              </a:lnSpc>
              <a:spcBef>
                <a:spcPct val="0"/>
              </a:spcBef>
            </a:pPr>
            <a:endParaRPr lang="en-US" sz="2400" spc="110" dirty="0">
              <a:solidFill>
                <a:srgbClr val="000000"/>
              </a:solidFill>
              <a:latin typeface="DM Sans"/>
              <a:ea typeface="DM Sans"/>
              <a:cs typeface="DM Sans"/>
              <a:sym typeface="DM Sans"/>
            </a:endParaRPr>
          </a:p>
        </p:txBody>
      </p:sp>
      <p:grpSp>
        <p:nvGrpSpPr>
          <p:cNvPr id="2" name="Group 3">
            <a:extLst>
              <a:ext uri="{FF2B5EF4-FFF2-40B4-BE49-F238E27FC236}">
                <a16:creationId xmlns:a16="http://schemas.microsoft.com/office/drawing/2014/main" id="{A4854B24-3F19-7D70-560F-99D78221444B}"/>
              </a:ext>
            </a:extLst>
          </p:cNvPr>
          <p:cNvGrpSpPr/>
          <p:nvPr/>
        </p:nvGrpSpPr>
        <p:grpSpPr>
          <a:xfrm>
            <a:off x="11734800" y="-7620"/>
            <a:ext cx="6568440" cy="10287000"/>
            <a:chOff x="0" y="0"/>
            <a:chExt cx="1963290" cy="2792187"/>
          </a:xfrm>
        </p:grpSpPr>
        <p:sp>
          <p:nvSpPr>
            <p:cNvPr id="6" name="Freeform 4">
              <a:extLst>
                <a:ext uri="{FF2B5EF4-FFF2-40B4-BE49-F238E27FC236}">
                  <a16:creationId xmlns:a16="http://schemas.microsoft.com/office/drawing/2014/main" id="{BAC1D837-4CED-8513-FFD7-20ADDD9FB705}"/>
                </a:ext>
              </a:extLst>
            </p:cNvPr>
            <p:cNvSpPr/>
            <p:nvPr/>
          </p:nvSpPr>
          <p:spPr>
            <a:xfrm>
              <a:off x="0" y="0"/>
              <a:ext cx="1963290" cy="2792187"/>
            </a:xfrm>
            <a:custGeom>
              <a:avLst/>
              <a:gdLst/>
              <a:ahLst/>
              <a:cxnLst/>
              <a:rect l="l" t="t" r="r" b="b"/>
              <a:pathLst>
                <a:path w="1963290" h="2792187">
                  <a:moveTo>
                    <a:pt x="0" y="0"/>
                  </a:moveTo>
                  <a:lnTo>
                    <a:pt x="1963290" y="0"/>
                  </a:lnTo>
                  <a:lnTo>
                    <a:pt x="1963290" y="2792187"/>
                  </a:lnTo>
                  <a:lnTo>
                    <a:pt x="0" y="2792187"/>
                  </a:lnTo>
                  <a:close/>
                </a:path>
              </a:pathLst>
            </a:custGeom>
            <a:solidFill>
              <a:srgbClr val="AAD7D4">
                <a:alpha val="55686"/>
              </a:srgbClr>
            </a:solidFill>
          </p:spPr>
          <p:txBody>
            <a:bodyPr/>
            <a:lstStyle/>
            <a:p>
              <a:endParaRPr lang="en-US" sz="1200" dirty="0"/>
            </a:p>
          </p:txBody>
        </p:sp>
        <p:sp>
          <p:nvSpPr>
            <p:cNvPr id="7" name="TextBox 5">
              <a:extLst>
                <a:ext uri="{FF2B5EF4-FFF2-40B4-BE49-F238E27FC236}">
                  <a16:creationId xmlns:a16="http://schemas.microsoft.com/office/drawing/2014/main" id="{FC895F51-DD78-EB1A-C266-4EC467260311}"/>
                </a:ext>
              </a:extLst>
            </p:cNvPr>
            <p:cNvSpPr txBox="1"/>
            <p:nvPr/>
          </p:nvSpPr>
          <p:spPr>
            <a:xfrm>
              <a:off x="0" y="-38100"/>
              <a:ext cx="1963290" cy="2830287"/>
            </a:xfrm>
            <a:prstGeom prst="rect">
              <a:avLst/>
            </a:prstGeom>
          </p:spPr>
          <p:txBody>
            <a:bodyPr lIns="50801" tIns="50801" rIns="50801" bIns="50801" rtlCol="0" anchor="ctr"/>
            <a:lstStyle/>
            <a:p>
              <a:pPr algn="ctr">
                <a:lnSpc>
                  <a:spcPts val="2663"/>
                </a:lnSpc>
              </a:pPr>
              <a:endParaRPr sz="1200" dirty="0"/>
            </a:p>
          </p:txBody>
        </p:sp>
      </p:grpSp>
    </p:spTree>
    <p:extLst>
      <p:ext uri="{BB962C8B-B14F-4D97-AF65-F5344CB8AC3E}">
        <p14:creationId xmlns:p14="http://schemas.microsoft.com/office/powerpoint/2010/main" val="7054461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FD144F-2861-B8F6-7714-CA2474D1C45A}"/>
            </a:ext>
          </a:extLst>
        </p:cNvPr>
        <p:cNvGrpSpPr/>
        <p:nvPr/>
      </p:nvGrpSpPr>
      <p:grpSpPr>
        <a:xfrm>
          <a:off x="0" y="0"/>
          <a:ext cx="0" cy="0"/>
          <a:chOff x="0" y="0"/>
          <a:chExt cx="0" cy="0"/>
        </a:xfrm>
      </p:grpSpPr>
      <p:sp>
        <p:nvSpPr>
          <p:cNvPr id="9" name="TextBox 9">
            <a:extLst>
              <a:ext uri="{FF2B5EF4-FFF2-40B4-BE49-F238E27FC236}">
                <a16:creationId xmlns:a16="http://schemas.microsoft.com/office/drawing/2014/main" id="{1D210347-5F2E-5E8E-944D-860F204B588D}"/>
              </a:ext>
            </a:extLst>
          </p:cNvPr>
          <p:cNvSpPr txBox="1"/>
          <p:nvPr/>
        </p:nvSpPr>
        <p:spPr>
          <a:xfrm>
            <a:off x="609602" y="796796"/>
            <a:ext cx="9067800" cy="1013098"/>
          </a:xfrm>
          <a:prstGeom prst="rect">
            <a:avLst/>
          </a:prstGeom>
        </p:spPr>
        <p:txBody>
          <a:bodyPr wrap="square" lIns="0" tIns="0" rIns="0" bIns="0" rtlCol="0" anchor="t">
            <a:spAutoFit/>
          </a:bodyPr>
          <a:lstStyle/>
          <a:p>
            <a:pPr>
              <a:lnSpc>
                <a:spcPts val="7933"/>
              </a:lnSpc>
            </a:pPr>
            <a:r>
              <a:rPr lang="en-US" sz="6600" b="1" dirty="0">
                <a:solidFill>
                  <a:srgbClr val="1C2120"/>
                </a:solidFill>
                <a:latin typeface="Poppins Bold"/>
                <a:ea typeface="Poppins Bold"/>
                <a:cs typeface="Poppins Bold"/>
                <a:sym typeface="Poppins Bold"/>
              </a:rPr>
              <a:t>Related documents</a:t>
            </a:r>
          </a:p>
        </p:txBody>
      </p:sp>
      <p:sp>
        <p:nvSpPr>
          <p:cNvPr id="10" name="TextBox 10">
            <a:extLst>
              <a:ext uri="{FF2B5EF4-FFF2-40B4-BE49-F238E27FC236}">
                <a16:creationId xmlns:a16="http://schemas.microsoft.com/office/drawing/2014/main" id="{C56AD57F-CD3D-C892-2589-F4EDD236A00D}"/>
              </a:ext>
            </a:extLst>
          </p:cNvPr>
          <p:cNvSpPr txBox="1"/>
          <p:nvPr/>
        </p:nvSpPr>
        <p:spPr>
          <a:xfrm>
            <a:off x="609600" y="2019315"/>
            <a:ext cx="10591800" cy="4478662"/>
          </a:xfrm>
          <a:prstGeom prst="rect">
            <a:avLst/>
          </a:prstGeom>
        </p:spPr>
        <p:txBody>
          <a:bodyPr wrap="square" lIns="0" tIns="0" rIns="0" bIns="0" rtlCol="0" anchor="t">
            <a:spAutoFit/>
          </a:bodyPr>
          <a:lstStyle/>
          <a:p>
            <a:pPr marL="514334" indent="-514334">
              <a:spcAft>
                <a:spcPts val="600"/>
              </a:spcAft>
              <a:buFont typeface="+mj-lt"/>
              <a:buAutoNum type="arabicPeriod"/>
            </a:pPr>
            <a:r>
              <a:rPr lang="en-GB" sz="2801" spc="110" dirty="0">
                <a:solidFill>
                  <a:srgbClr val="000000"/>
                </a:solidFill>
                <a:latin typeface="DM Sans"/>
                <a:ea typeface="DM Sans"/>
                <a:cs typeface="DM Sans"/>
                <a:sym typeface="DM Sans"/>
              </a:rPr>
              <a:t>Business case</a:t>
            </a:r>
          </a:p>
          <a:p>
            <a:pPr marL="971511" lvl="1" indent="-514334">
              <a:spcAft>
                <a:spcPts val="600"/>
              </a:spcAft>
              <a:buFont typeface="Arial" panose="020B0604020202020204" pitchFamily="34" charset="0"/>
              <a:buChar char="•"/>
            </a:pPr>
            <a:r>
              <a:rPr lang="en-GB" sz="2400" spc="110" dirty="0">
                <a:solidFill>
                  <a:srgbClr val="000000"/>
                </a:solidFill>
                <a:latin typeface="DM Sans"/>
                <a:ea typeface="DM Sans"/>
                <a:cs typeface="DM Sans"/>
                <a:sym typeface="DM Sans"/>
              </a:rPr>
              <a:t>Explains why the project is needed, including expected benefits and cost.</a:t>
            </a:r>
          </a:p>
          <a:p>
            <a:pPr marL="514334" indent="-514334">
              <a:spcAft>
                <a:spcPts val="600"/>
              </a:spcAft>
              <a:buFont typeface="+mj-lt"/>
              <a:buAutoNum type="arabicPeriod"/>
            </a:pPr>
            <a:r>
              <a:rPr lang="en-GB" sz="2801" spc="110" dirty="0">
                <a:solidFill>
                  <a:srgbClr val="000000"/>
                </a:solidFill>
                <a:latin typeface="DM Sans"/>
                <a:ea typeface="DM Sans"/>
                <a:cs typeface="DM Sans"/>
                <a:sym typeface="DM Sans"/>
              </a:rPr>
              <a:t>Risk Management Plan</a:t>
            </a:r>
          </a:p>
          <a:p>
            <a:pPr marL="971511" lvl="1" indent="-514334">
              <a:spcAft>
                <a:spcPts val="600"/>
              </a:spcAft>
              <a:buFont typeface="Arial" panose="020B0604020202020204" pitchFamily="34" charset="0"/>
              <a:buChar char="•"/>
            </a:pPr>
            <a:r>
              <a:rPr lang="en-GB" sz="2400" spc="110" dirty="0">
                <a:solidFill>
                  <a:srgbClr val="000000"/>
                </a:solidFill>
                <a:latin typeface="DM Sans"/>
                <a:ea typeface="DM Sans"/>
                <a:cs typeface="DM Sans"/>
                <a:sym typeface="DM Sans"/>
              </a:rPr>
              <a:t>Identifies potential project risks and mitigation strategies.</a:t>
            </a:r>
          </a:p>
          <a:p>
            <a:pPr marL="514334" indent="-514334">
              <a:spcAft>
                <a:spcPts val="600"/>
              </a:spcAft>
              <a:buFont typeface="+mj-lt"/>
              <a:buAutoNum type="arabicPeriod"/>
            </a:pPr>
            <a:r>
              <a:rPr lang="en-GB" sz="2801" spc="110" dirty="0">
                <a:solidFill>
                  <a:srgbClr val="000000"/>
                </a:solidFill>
                <a:latin typeface="DM Sans"/>
                <a:ea typeface="DM Sans"/>
                <a:cs typeface="DM Sans"/>
                <a:sym typeface="DM Sans"/>
              </a:rPr>
              <a:t>Requirements Document</a:t>
            </a:r>
          </a:p>
          <a:p>
            <a:pPr marL="971511" lvl="1" indent="-514334">
              <a:spcAft>
                <a:spcPts val="600"/>
              </a:spcAft>
              <a:buFont typeface="Arial" panose="020B0604020202020204" pitchFamily="34" charset="0"/>
              <a:buChar char="•"/>
            </a:pPr>
            <a:r>
              <a:rPr lang="en-GB" sz="2400" spc="110" dirty="0">
                <a:solidFill>
                  <a:srgbClr val="000000"/>
                </a:solidFill>
                <a:latin typeface="DM Sans"/>
                <a:ea typeface="DM Sans"/>
                <a:cs typeface="DM Sans"/>
                <a:sym typeface="DM Sans"/>
              </a:rPr>
              <a:t>Details the high-level functional and non-functional requirements.</a:t>
            </a:r>
          </a:p>
          <a:p>
            <a:pPr marL="514334" indent="-514334">
              <a:spcAft>
                <a:spcPts val="600"/>
              </a:spcAft>
              <a:buFont typeface="+mj-lt"/>
              <a:buAutoNum type="arabicPeriod"/>
            </a:pPr>
            <a:r>
              <a:rPr lang="en-GB" sz="2801" spc="110" dirty="0">
                <a:solidFill>
                  <a:srgbClr val="000000"/>
                </a:solidFill>
                <a:latin typeface="DM Sans"/>
                <a:ea typeface="DM Sans"/>
                <a:cs typeface="DM Sans"/>
                <a:sym typeface="DM Sans"/>
              </a:rPr>
              <a:t>Feasibility Study</a:t>
            </a:r>
          </a:p>
          <a:p>
            <a:pPr marL="971511" lvl="1" indent="-514334">
              <a:spcAft>
                <a:spcPts val="600"/>
              </a:spcAft>
              <a:buFont typeface="Arial" panose="020B0604020202020204" pitchFamily="34" charset="0"/>
              <a:buChar char="•"/>
            </a:pPr>
            <a:r>
              <a:rPr lang="en-GB" sz="2400" spc="110" dirty="0">
                <a:solidFill>
                  <a:srgbClr val="000000"/>
                </a:solidFill>
                <a:latin typeface="DM Sans"/>
                <a:ea typeface="DM Sans"/>
                <a:cs typeface="DM Sans"/>
                <a:sym typeface="DM Sans"/>
              </a:rPr>
              <a:t>Analyses technical and financial feasibility of this project.</a:t>
            </a:r>
            <a:endParaRPr lang="en-US" sz="2400" spc="110" dirty="0">
              <a:solidFill>
                <a:srgbClr val="000000"/>
              </a:solidFill>
              <a:latin typeface="DM Sans"/>
              <a:ea typeface="DM Sans"/>
              <a:cs typeface="DM Sans"/>
              <a:sym typeface="DM Sans"/>
            </a:endParaRPr>
          </a:p>
        </p:txBody>
      </p:sp>
      <p:grpSp>
        <p:nvGrpSpPr>
          <p:cNvPr id="2" name="Group 3">
            <a:extLst>
              <a:ext uri="{FF2B5EF4-FFF2-40B4-BE49-F238E27FC236}">
                <a16:creationId xmlns:a16="http://schemas.microsoft.com/office/drawing/2014/main" id="{6E872C44-C444-57EC-1E12-F5ED69FA9206}"/>
              </a:ext>
            </a:extLst>
          </p:cNvPr>
          <p:cNvGrpSpPr/>
          <p:nvPr/>
        </p:nvGrpSpPr>
        <p:grpSpPr>
          <a:xfrm>
            <a:off x="11734800" y="-7620"/>
            <a:ext cx="6568440" cy="10287000"/>
            <a:chOff x="0" y="0"/>
            <a:chExt cx="1963290" cy="2792187"/>
          </a:xfrm>
        </p:grpSpPr>
        <p:sp>
          <p:nvSpPr>
            <p:cNvPr id="6" name="Freeform 4">
              <a:extLst>
                <a:ext uri="{FF2B5EF4-FFF2-40B4-BE49-F238E27FC236}">
                  <a16:creationId xmlns:a16="http://schemas.microsoft.com/office/drawing/2014/main" id="{8E35A2D2-A75A-1E6D-CA23-8239334C2038}"/>
                </a:ext>
              </a:extLst>
            </p:cNvPr>
            <p:cNvSpPr/>
            <p:nvPr/>
          </p:nvSpPr>
          <p:spPr>
            <a:xfrm>
              <a:off x="0" y="0"/>
              <a:ext cx="1963290" cy="2792187"/>
            </a:xfrm>
            <a:custGeom>
              <a:avLst/>
              <a:gdLst/>
              <a:ahLst/>
              <a:cxnLst/>
              <a:rect l="l" t="t" r="r" b="b"/>
              <a:pathLst>
                <a:path w="1963290" h="2792187">
                  <a:moveTo>
                    <a:pt x="0" y="0"/>
                  </a:moveTo>
                  <a:lnTo>
                    <a:pt x="1963290" y="0"/>
                  </a:lnTo>
                  <a:lnTo>
                    <a:pt x="1963290" y="2792187"/>
                  </a:lnTo>
                  <a:lnTo>
                    <a:pt x="0" y="2792187"/>
                  </a:lnTo>
                  <a:close/>
                </a:path>
              </a:pathLst>
            </a:custGeom>
            <a:solidFill>
              <a:srgbClr val="AAD7D4">
                <a:alpha val="55686"/>
              </a:srgbClr>
            </a:solidFill>
          </p:spPr>
          <p:txBody>
            <a:bodyPr/>
            <a:lstStyle/>
            <a:p>
              <a:endParaRPr lang="en-US" sz="1200" dirty="0"/>
            </a:p>
          </p:txBody>
        </p:sp>
        <p:sp>
          <p:nvSpPr>
            <p:cNvPr id="7" name="TextBox 5">
              <a:extLst>
                <a:ext uri="{FF2B5EF4-FFF2-40B4-BE49-F238E27FC236}">
                  <a16:creationId xmlns:a16="http://schemas.microsoft.com/office/drawing/2014/main" id="{C66D330F-9915-F556-0D0F-1A4AAD74018E}"/>
                </a:ext>
              </a:extLst>
            </p:cNvPr>
            <p:cNvSpPr txBox="1"/>
            <p:nvPr/>
          </p:nvSpPr>
          <p:spPr>
            <a:xfrm>
              <a:off x="0" y="-38100"/>
              <a:ext cx="1963290" cy="2830287"/>
            </a:xfrm>
            <a:prstGeom prst="rect">
              <a:avLst/>
            </a:prstGeom>
          </p:spPr>
          <p:txBody>
            <a:bodyPr lIns="50801" tIns="50801" rIns="50801" bIns="50801" rtlCol="0" anchor="ctr"/>
            <a:lstStyle/>
            <a:p>
              <a:pPr algn="ctr">
                <a:lnSpc>
                  <a:spcPts val="2663"/>
                </a:lnSpc>
              </a:pPr>
              <a:endParaRPr sz="1200" dirty="0"/>
            </a:p>
          </p:txBody>
        </p:sp>
      </p:grpSp>
    </p:spTree>
    <p:extLst>
      <p:ext uri="{BB962C8B-B14F-4D97-AF65-F5344CB8AC3E}">
        <p14:creationId xmlns:p14="http://schemas.microsoft.com/office/powerpoint/2010/main" val="19631789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B29582-72D1-B1ED-E96C-4AC44E2C4B95}"/>
            </a:ext>
          </a:extLst>
        </p:cNvPr>
        <p:cNvGrpSpPr/>
        <p:nvPr/>
      </p:nvGrpSpPr>
      <p:grpSpPr>
        <a:xfrm>
          <a:off x="0" y="0"/>
          <a:ext cx="0" cy="0"/>
          <a:chOff x="0" y="0"/>
          <a:chExt cx="0" cy="0"/>
        </a:xfrm>
      </p:grpSpPr>
      <p:sp>
        <p:nvSpPr>
          <p:cNvPr id="3" name="TextBox 9">
            <a:extLst>
              <a:ext uri="{FF2B5EF4-FFF2-40B4-BE49-F238E27FC236}">
                <a16:creationId xmlns:a16="http://schemas.microsoft.com/office/drawing/2014/main" id="{81D3A31D-6158-061B-8C12-3C1E3270916A}"/>
              </a:ext>
            </a:extLst>
          </p:cNvPr>
          <p:cNvSpPr txBox="1"/>
          <p:nvPr/>
        </p:nvSpPr>
        <p:spPr>
          <a:xfrm>
            <a:off x="3390900" y="342914"/>
            <a:ext cx="11506200" cy="953723"/>
          </a:xfrm>
          <a:prstGeom prst="rect">
            <a:avLst/>
          </a:prstGeom>
        </p:spPr>
        <p:txBody>
          <a:bodyPr wrap="square" lIns="0" tIns="0" rIns="0" bIns="0" rtlCol="0" anchor="t">
            <a:spAutoFit/>
          </a:bodyPr>
          <a:lstStyle/>
          <a:p>
            <a:pPr>
              <a:lnSpc>
                <a:spcPts val="7933"/>
              </a:lnSpc>
            </a:pPr>
            <a:r>
              <a:rPr lang="en-US" sz="5400" b="1" dirty="0">
                <a:solidFill>
                  <a:srgbClr val="1C2120"/>
                </a:solidFill>
                <a:latin typeface="Poppins Bold"/>
                <a:ea typeface="Poppins Bold"/>
                <a:cs typeface="Poppins Bold"/>
                <a:sym typeface="Poppins Bold"/>
              </a:rPr>
              <a:t>Project Organizational Structure </a:t>
            </a:r>
          </a:p>
        </p:txBody>
      </p:sp>
      <p:graphicFrame>
        <p:nvGraphicFramePr>
          <p:cNvPr id="6" name="Table 5">
            <a:extLst>
              <a:ext uri="{FF2B5EF4-FFF2-40B4-BE49-F238E27FC236}">
                <a16:creationId xmlns:a16="http://schemas.microsoft.com/office/drawing/2014/main" id="{DB146E70-1861-EEC1-F429-BEC9F5035499}"/>
              </a:ext>
            </a:extLst>
          </p:cNvPr>
          <p:cNvGraphicFramePr>
            <a:graphicFrameLocks noGrp="1"/>
          </p:cNvGraphicFramePr>
          <p:nvPr>
            <p:extLst>
              <p:ext uri="{D42A27DB-BD31-4B8C-83A1-F6EECF244321}">
                <p14:modId xmlns:p14="http://schemas.microsoft.com/office/powerpoint/2010/main" val="1449483497"/>
              </p:ext>
            </p:extLst>
          </p:nvPr>
        </p:nvGraphicFramePr>
        <p:xfrm>
          <a:off x="2133614" y="1514477"/>
          <a:ext cx="14020807" cy="3657600"/>
        </p:xfrm>
        <a:graphic>
          <a:graphicData uri="http://schemas.openxmlformats.org/drawingml/2006/table">
            <a:tbl>
              <a:tblPr firstRow="1" bandRow="1">
                <a:tableStyleId>{616DA210-FB5B-4158-B5E0-FEB733F419BA}</a:tableStyleId>
              </a:tblPr>
              <a:tblGrid>
                <a:gridCol w="6301487">
                  <a:extLst>
                    <a:ext uri="{9D8B030D-6E8A-4147-A177-3AD203B41FA5}">
                      <a16:colId xmlns:a16="http://schemas.microsoft.com/office/drawing/2014/main" val="755971430"/>
                    </a:ext>
                  </a:extLst>
                </a:gridCol>
                <a:gridCol w="7719320">
                  <a:extLst>
                    <a:ext uri="{9D8B030D-6E8A-4147-A177-3AD203B41FA5}">
                      <a16:colId xmlns:a16="http://schemas.microsoft.com/office/drawing/2014/main" val="1536357128"/>
                    </a:ext>
                  </a:extLst>
                </a:gridCol>
              </a:tblGrid>
              <a:tr h="609600">
                <a:tc>
                  <a:txBody>
                    <a:bodyPr/>
                    <a:lstStyle/>
                    <a:p>
                      <a:pPr algn="ctr"/>
                      <a:r>
                        <a:rPr lang="en-GB" sz="3200" dirty="0">
                          <a:latin typeface="DM Sans" pitchFamily="2" charset="0"/>
                        </a:rPr>
                        <a:t>Function</a:t>
                      </a:r>
                    </a:p>
                  </a:txBody>
                  <a:tcPr marL="91442" marR="91442"/>
                </a:tc>
                <a:tc>
                  <a:txBody>
                    <a:bodyPr/>
                    <a:lstStyle/>
                    <a:p>
                      <a:pPr algn="ctr"/>
                      <a:r>
                        <a:rPr lang="en-GB" sz="3200" dirty="0">
                          <a:latin typeface="DM Sans" pitchFamily="2" charset="0"/>
                        </a:rPr>
                        <a:t>Name</a:t>
                      </a:r>
                    </a:p>
                  </a:txBody>
                  <a:tcPr marL="91442" marR="91442"/>
                </a:tc>
                <a:extLst>
                  <a:ext uri="{0D108BD9-81ED-4DB2-BD59-A6C34878D82A}">
                    <a16:rowId xmlns:a16="http://schemas.microsoft.com/office/drawing/2014/main" val="3592587603"/>
                  </a:ext>
                </a:extLst>
              </a:tr>
              <a:tr h="609600">
                <a:tc>
                  <a:txBody>
                    <a:bodyPr/>
                    <a:lstStyle/>
                    <a:p>
                      <a:r>
                        <a:rPr lang="en-GB" sz="2400" dirty="0">
                          <a:latin typeface="DM Sans" pitchFamily="2" charset="0"/>
                        </a:rPr>
                        <a:t>Project Sponsor</a:t>
                      </a:r>
                    </a:p>
                  </a:txBody>
                  <a:tcPr marL="91442" marR="91442">
                    <a:solidFill>
                      <a:srgbClr val="C6E1E2">
                        <a:alpha val="20000"/>
                      </a:srgbClr>
                    </a:solidFill>
                  </a:tcPr>
                </a:tc>
                <a:tc>
                  <a:txBody>
                    <a:bodyPr/>
                    <a:lstStyle/>
                    <a:p>
                      <a:r>
                        <a:rPr lang="en-GB" sz="2400" dirty="0">
                          <a:latin typeface="DM Sans" pitchFamily="2" charset="0"/>
                        </a:rPr>
                        <a:t>Retaj Ali</a:t>
                      </a:r>
                    </a:p>
                  </a:txBody>
                  <a:tcPr marL="91442" marR="91442">
                    <a:solidFill>
                      <a:srgbClr val="C6E1E2">
                        <a:alpha val="20000"/>
                      </a:srgbClr>
                    </a:solidFill>
                  </a:tcPr>
                </a:tc>
                <a:extLst>
                  <a:ext uri="{0D108BD9-81ED-4DB2-BD59-A6C34878D82A}">
                    <a16:rowId xmlns:a16="http://schemas.microsoft.com/office/drawing/2014/main" val="3252624303"/>
                  </a:ext>
                </a:extLst>
              </a:tr>
              <a:tr h="609600">
                <a:tc>
                  <a:txBody>
                    <a:bodyPr/>
                    <a:lstStyle/>
                    <a:p>
                      <a:r>
                        <a:rPr lang="en-GB" sz="2400" dirty="0">
                          <a:latin typeface="DM Sans" pitchFamily="2" charset="0"/>
                        </a:rPr>
                        <a:t>Project Manager </a:t>
                      </a:r>
                    </a:p>
                  </a:txBody>
                  <a:tcPr marL="91442" marR="91442"/>
                </a:tc>
                <a:tc>
                  <a:txBody>
                    <a:bodyPr/>
                    <a:lstStyle/>
                    <a:p>
                      <a:r>
                        <a:rPr lang="en-GB" sz="2400" dirty="0">
                          <a:latin typeface="DM Sans" pitchFamily="2" charset="0"/>
                        </a:rPr>
                        <a:t>Rokaya Hamdy</a:t>
                      </a:r>
                    </a:p>
                  </a:txBody>
                  <a:tcPr marL="91442" marR="91442"/>
                </a:tc>
                <a:extLst>
                  <a:ext uri="{0D108BD9-81ED-4DB2-BD59-A6C34878D82A}">
                    <a16:rowId xmlns:a16="http://schemas.microsoft.com/office/drawing/2014/main" val="3211292310"/>
                  </a:ext>
                </a:extLst>
              </a:tr>
              <a:tr h="609600">
                <a:tc>
                  <a:txBody>
                    <a:bodyPr/>
                    <a:lstStyle/>
                    <a:p>
                      <a:r>
                        <a:rPr lang="en-GB" sz="2400" dirty="0">
                          <a:latin typeface="DM Sans" pitchFamily="2" charset="0"/>
                        </a:rPr>
                        <a:t>Team Member</a:t>
                      </a:r>
                    </a:p>
                  </a:txBody>
                  <a:tcPr marL="91442" marR="91442">
                    <a:solidFill>
                      <a:srgbClr val="C6E1E2">
                        <a:alpha val="20000"/>
                      </a:srgbClr>
                    </a:solidFill>
                  </a:tcPr>
                </a:tc>
                <a:tc>
                  <a:txBody>
                    <a:bodyPr/>
                    <a:lstStyle/>
                    <a:p>
                      <a:r>
                        <a:rPr lang="en-GB" sz="2400" dirty="0">
                          <a:latin typeface="DM Sans" pitchFamily="2" charset="0"/>
                        </a:rPr>
                        <a:t>Mahmoud Samer</a:t>
                      </a:r>
                    </a:p>
                  </a:txBody>
                  <a:tcPr marL="91442" marR="91442">
                    <a:solidFill>
                      <a:srgbClr val="C6E1E2">
                        <a:alpha val="20000"/>
                      </a:srgbClr>
                    </a:solidFill>
                  </a:tcPr>
                </a:tc>
                <a:extLst>
                  <a:ext uri="{0D108BD9-81ED-4DB2-BD59-A6C34878D82A}">
                    <a16:rowId xmlns:a16="http://schemas.microsoft.com/office/drawing/2014/main" val="3889026638"/>
                  </a:ext>
                </a:extLst>
              </a:tr>
              <a:tr h="609600">
                <a:tc>
                  <a:txBody>
                    <a:bodyPr/>
                    <a:lstStyle/>
                    <a:p>
                      <a:r>
                        <a:rPr lang="en-GB" sz="2400" dirty="0">
                          <a:latin typeface="DM Sans" pitchFamily="2" charset="0"/>
                        </a:rPr>
                        <a:t>Business Analyst</a:t>
                      </a:r>
                    </a:p>
                  </a:txBody>
                  <a:tcPr marL="91442" marR="91442"/>
                </a:tc>
                <a:tc>
                  <a:txBody>
                    <a:bodyPr/>
                    <a:lstStyle/>
                    <a:p>
                      <a:r>
                        <a:rPr lang="en-GB" sz="2400" dirty="0">
                          <a:latin typeface="DM Sans" pitchFamily="2" charset="0"/>
                        </a:rPr>
                        <a:t>Rawan Atef</a:t>
                      </a:r>
                    </a:p>
                  </a:txBody>
                  <a:tcPr marL="91442" marR="91442"/>
                </a:tc>
                <a:extLst>
                  <a:ext uri="{0D108BD9-81ED-4DB2-BD59-A6C34878D82A}">
                    <a16:rowId xmlns:a16="http://schemas.microsoft.com/office/drawing/2014/main" val="2950255298"/>
                  </a:ext>
                </a:extLst>
              </a:tr>
              <a:tr h="609600">
                <a:tc>
                  <a:txBody>
                    <a:bodyPr/>
                    <a:lstStyle/>
                    <a:p>
                      <a:r>
                        <a:rPr lang="en-GB" sz="2400" dirty="0">
                          <a:latin typeface="DM Sans" pitchFamily="2" charset="0"/>
                        </a:rPr>
                        <a:t>Developer/Designer</a:t>
                      </a:r>
                    </a:p>
                  </a:txBody>
                  <a:tcPr marL="91442" marR="91442">
                    <a:solidFill>
                      <a:srgbClr val="C6E1E2">
                        <a:alpha val="20000"/>
                      </a:srgbClr>
                    </a:solidFill>
                  </a:tcPr>
                </a:tc>
                <a:tc>
                  <a:txBody>
                    <a:bodyPr/>
                    <a:lstStyle/>
                    <a:p>
                      <a:r>
                        <a:rPr lang="en-GB" sz="2400" dirty="0">
                          <a:latin typeface="DM Sans" pitchFamily="2" charset="0"/>
                        </a:rPr>
                        <a:t>Youssef Karim</a:t>
                      </a:r>
                    </a:p>
                  </a:txBody>
                  <a:tcPr marL="91442" marR="91442">
                    <a:solidFill>
                      <a:srgbClr val="C6E1E2">
                        <a:alpha val="20000"/>
                      </a:srgbClr>
                    </a:solidFill>
                  </a:tcPr>
                </a:tc>
                <a:extLst>
                  <a:ext uri="{0D108BD9-81ED-4DB2-BD59-A6C34878D82A}">
                    <a16:rowId xmlns:a16="http://schemas.microsoft.com/office/drawing/2014/main" val="4214209770"/>
                  </a:ext>
                </a:extLst>
              </a:tr>
            </a:tbl>
          </a:graphicData>
        </a:graphic>
      </p:graphicFrame>
      <p:sp>
        <p:nvSpPr>
          <p:cNvPr id="7" name="TextBox 21">
            <a:extLst>
              <a:ext uri="{FF2B5EF4-FFF2-40B4-BE49-F238E27FC236}">
                <a16:creationId xmlns:a16="http://schemas.microsoft.com/office/drawing/2014/main" id="{D78C8D06-7330-956A-9852-65A9A64274CC}"/>
              </a:ext>
            </a:extLst>
          </p:cNvPr>
          <p:cNvSpPr txBox="1"/>
          <p:nvPr/>
        </p:nvSpPr>
        <p:spPr>
          <a:xfrm>
            <a:off x="2133616" y="7200911"/>
            <a:ext cx="6136010" cy="1107996"/>
          </a:xfrm>
          <a:prstGeom prst="rect">
            <a:avLst/>
          </a:prstGeom>
        </p:spPr>
        <p:txBody>
          <a:bodyPr wrap="square" lIns="0" tIns="0" rIns="0" bIns="0" rtlCol="0" anchor="t">
            <a:spAutoFit/>
          </a:bodyPr>
          <a:lstStyle/>
          <a:p>
            <a:pPr lvl="0">
              <a:spcBef>
                <a:spcPct val="0"/>
              </a:spcBef>
            </a:pPr>
            <a:r>
              <a:rPr lang="en-GB" sz="2400" dirty="0">
                <a:latin typeface="DM Sans" pitchFamily="2" charset="0"/>
              </a:rPr>
              <a:t>Project Authorization Approved by: Youssef Mahmoud, Business Manager</a:t>
            </a:r>
          </a:p>
          <a:p>
            <a:pPr lvl="0">
              <a:spcBef>
                <a:spcPct val="0"/>
              </a:spcBef>
            </a:pPr>
            <a:r>
              <a:rPr lang="en-GB" sz="2400" dirty="0">
                <a:latin typeface="DM Sans" pitchFamily="2" charset="0"/>
              </a:rPr>
              <a:t>Date: 23/10/2025</a:t>
            </a:r>
          </a:p>
        </p:txBody>
      </p:sp>
      <p:sp>
        <p:nvSpPr>
          <p:cNvPr id="8" name="TextBox 21">
            <a:extLst>
              <a:ext uri="{FF2B5EF4-FFF2-40B4-BE49-F238E27FC236}">
                <a16:creationId xmlns:a16="http://schemas.microsoft.com/office/drawing/2014/main" id="{C52632B2-36A8-86DD-0356-34B9015D997F}"/>
              </a:ext>
            </a:extLst>
          </p:cNvPr>
          <p:cNvSpPr txBox="1"/>
          <p:nvPr/>
        </p:nvSpPr>
        <p:spPr>
          <a:xfrm>
            <a:off x="10018406" y="7200905"/>
            <a:ext cx="6136010" cy="1107996"/>
          </a:xfrm>
          <a:prstGeom prst="rect">
            <a:avLst/>
          </a:prstGeom>
        </p:spPr>
        <p:txBody>
          <a:bodyPr wrap="square" lIns="0" tIns="0" rIns="0" bIns="0" rtlCol="0" anchor="t">
            <a:spAutoFit/>
          </a:bodyPr>
          <a:lstStyle/>
          <a:p>
            <a:pPr lvl="0">
              <a:spcBef>
                <a:spcPct val="0"/>
              </a:spcBef>
            </a:pPr>
            <a:r>
              <a:rPr lang="en-GB" sz="2400" dirty="0">
                <a:latin typeface="DM Sans" pitchFamily="2" charset="0"/>
              </a:rPr>
              <a:t>Project Authorization Approved by: </a:t>
            </a:r>
          </a:p>
          <a:p>
            <a:pPr lvl="0">
              <a:spcBef>
                <a:spcPct val="0"/>
              </a:spcBef>
            </a:pPr>
            <a:r>
              <a:rPr lang="en-GB" sz="2400" dirty="0">
                <a:latin typeface="DM Sans" pitchFamily="2" charset="0"/>
              </a:rPr>
              <a:t>Rokaya Hamdy, Project Manager</a:t>
            </a:r>
          </a:p>
          <a:p>
            <a:pPr lvl="0">
              <a:spcBef>
                <a:spcPct val="0"/>
              </a:spcBef>
            </a:pPr>
            <a:r>
              <a:rPr lang="en-GB" sz="2400" dirty="0">
                <a:latin typeface="DM Sans" pitchFamily="2" charset="0"/>
              </a:rPr>
              <a:t>Date: 23/10/2025</a:t>
            </a:r>
          </a:p>
        </p:txBody>
      </p:sp>
    </p:spTree>
    <p:extLst>
      <p:ext uri="{BB962C8B-B14F-4D97-AF65-F5344CB8AC3E}">
        <p14:creationId xmlns:p14="http://schemas.microsoft.com/office/powerpoint/2010/main" val="18779428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lumMod val="95000"/>
            <a:alpha val="30000"/>
          </a:schemeClr>
        </a:solidFill>
        <a:effectLst/>
      </p:bgPr>
    </p:bg>
    <p:spTree>
      <p:nvGrpSpPr>
        <p:cNvPr id="1" name=""/>
        <p:cNvGrpSpPr/>
        <p:nvPr/>
      </p:nvGrpSpPr>
      <p:grpSpPr>
        <a:xfrm>
          <a:off x="0" y="0"/>
          <a:ext cx="0" cy="0"/>
          <a:chOff x="0" y="0"/>
          <a:chExt cx="0" cy="0"/>
        </a:xfrm>
      </p:grpSpPr>
      <p:sp>
        <p:nvSpPr>
          <p:cNvPr id="7" name="Freeform 2">
            <a:extLst>
              <a:ext uri="{FF2B5EF4-FFF2-40B4-BE49-F238E27FC236}">
                <a16:creationId xmlns:a16="http://schemas.microsoft.com/office/drawing/2014/main" id="{DC3D12CE-C2C9-CE97-B5C1-77B15028C45C}"/>
              </a:ext>
            </a:extLst>
          </p:cNvPr>
          <p:cNvSpPr/>
          <p:nvPr/>
        </p:nvSpPr>
        <p:spPr>
          <a:xfrm>
            <a:off x="-29471" y="0"/>
            <a:ext cx="18317472" cy="10287000"/>
          </a:xfrm>
          <a:custGeom>
            <a:avLst/>
            <a:gdLst/>
            <a:ahLst/>
            <a:cxnLst/>
            <a:rect l="l" t="t" r="r" b="b"/>
            <a:pathLst>
              <a:path w="22013892" h="12354774">
                <a:moveTo>
                  <a:pt x="0" y="0"/>
                </a:moveTo>
                <a:lnTo>
                  <a:pt x="22013891" y="0"/>
                </a:lnTo>
                <a:lnTo>
                  <a:pt x="22013891" y="12354775"/>
                </a:lnTo>
                <a:lnTo>
                  <a:pt x="0" y="12354775"/>
                </a:lnTo>
                <a:lnTo>
                  <a:pt x="0" y="0"/>
                </a:lnTo>
                <a:close/>
              </a:path>
            </a:pathLst>
          </a:custGeom>
          <a:blipFill>
            <a:blip r:embed="rId3"/>
            <a:stretch>
              <a:fillRect t="-9467" b="-9467"/>
            </a:stretch>
          </a:blipFill>
        </p:spPr>
        <p:txBody>
          <a:bodyPr/>
          <a:lstStyle/>
          <a:p>
            <a:endParaRPr lang="en-US" sz="2000" dirty="0">
              <a:latin typeface="Poppins" panose="00000500000000000000" pitchFamily="2" charset="0"/>
              <a:cs typeface="Poppins" panose="00000500000000000000" pitchFamily="2" charset="0"/>
            </a:endParaRPr>
          </a:p>
        </p:txBody>
      </p:sp>
      <p:grpSp>
        <p:nvGrpSpPr>
          <p:cNvPr id="4" name="Group 3">
            <a:extLst>
              <a:ext uri="{FF2B5EF4-FFF2-40B4-BE49-F238E27FC236}">
                <a16:creationId xmlns:a16="http://schemas.microsoft.com/office/drawing/2014/main" id="{8EA8F48F-41A7-5AE1-EFE2-34650C715E3B}"/>
              </a:ext>
            </a:extLst>
          </p:cNvPr>
          <p:cNvGrpSpPr/>
          <p:nvPr/>
        </p:nvGrpSpPr>
        <p:grpSpPr>
          <a:xfrm>
            <a:off x="-29472" y="0"/>
            <a:ext cx="18317472" cy="10287000"/>
            <a:chOff x="0" y="0"/>
            <a:chExt cx="5913785" cy="3084566"/>
          </a:xfrm>
        </p:grpSpPr>
        <p:sp>
          <p:nvSpPr>
            <p:cNvPr id="5" name="Freeform 4">
              <a:extLst>
                <a:ext uri="{FF2B5EF4-FFF2-40B4-BE49-F238E27FC236}">
                  <a16:creationId xmlns:a16="http://schemas.microsoft.com/office/drawing/2014/main" id="{AD649EB2-45F2-7EE6-A04F-654F54AD8E16}"/>
                </a:ext>
              </a:extLst>
            </p:cNvPr>
            <p:cNvSpPr/>
            <p:nvPr/>
          </p:nvSpPr>
          <p:spPr>
            <a:xfrm>
              <a:off x="0" y="0"/>
              <a:ext cx="5913785" cy="3084567"/>
            </a:xfrm>
            <a:custGeom>
              <a:avLst/>
              <a:gdLst/>
              <a:ahLst/>
              <a:cxnLst/>
              <a:rect l="l" t="t" r="r" b="b"/>
              <a:pathLst>
                <a:path w="5913785" h="3084567">
                  <a:moveTo>
                    <a:pt x="0" y="0"/>
                  </a:moveTo>
                  <a:lnTo>
                    <a:pt x="5913785" y="0"/>
                  </a:lnTo>
                  <a:lnTo>
                    <a:pt x="5913785" y="3084567"/>
                  </a:lnTo>
                  <a:lnTo>
                    <a:pt x="0" y="3084567"/>
                  </a:lnTo>
                  <a:close/>
                </a:path>
              </a:pathLst>
            </a:custGeom>
            <a:solidFill>
              <a:srgbClr val="AAD7D4">
                <a:alpha val="28627"/>
              </a:srgbClr>
            </a:solidFill>
          </p:spPr>
          <p:txBody>
            <a:bodyPr/>
            <a:lstStyle/>
            <a:p>
              <a:endParaRPr lang="en-US" sz="2000" dirty="0">
                <a:latin typeface="Poppins" panose="00000500000000000000" pitchFamily="2" charset="0"/>
                <a:cs typeface="Poppins" panose="00000500000000000000" pitchFamily="2" charset="0"/>
              </a:endParaRPr>
            </a:p>
          </p:txBody>
        </p:sp>
        <p:sp>
          <p:nvSpPr>
            <p:cNvPr id="6" name="TextBox 5">
              <a:extLst>
                <a:ext uri="{FF2B5EF4-FFF2-40B4-BE49-F238E27FC236}">
                  <a16:creationId xmlns:a16="http://schemas.microsoft.com/office/drawing/2014/main" id="{95B586A4-3C10-A150-B347-E06B771D2DF4}"/>
                </a:ext>
              </a:extLst>
            </p:cNvPr>
            <p:cNvSpPr txBox="1"/>
            <p:nvPr/>
          </p:nvSpPr>
          <p:spPr>
            <a:xfrm>
              <a:off x="0" y="-38100"/>
              <a:ext cx="5913785" cy="3122666"/>
            </a:xfrm>
            <a:prstGeom prst="rect">
              <a:avLst/>
            </a:prstGeom>
          </p:spPr>
          <p:txBody>
            <a:bodyPr lIns="50801" tIns="50801" rIns="50801" bIns="50801" rtlCol="0" anchor="ctr"/>
            <a:lstStyle/>
            <a:p>
              <a:pPr algn="ctr">
                <a:lnSpc>
                  <a:spcPts val="2663"/>
                </a:lnSpc>
              </a:pPr>
              <a:endParaRPr sz="2000" dirty="0">
                <a:latin typeface="Poppins" panose="00000500000000000000" pitchFamily="2" charset="0"/>
                <a:cs typeface="Poppins" panose="00000500000000000000" pitchFamily="2" charset="0"/>
              </a:endParaRPr>
            </a:p>
          </p:txBody>
        </p:sp>
      </p:grpSp>
      <p:sp>
        <p:nvSpPr>
          <p:cNvPr id="8" name="TextBox 7">
            <a:extLst>
              <a:ext uri="{FF2B5EF4-FFF2-40B4-BE49-F238E27FC236}">
                <a16:creationId xmlns:a16="http://schemas.microsoft.com/office/drawing/2014/main" id="{24FDF74D-5053-8751-3E64-9BF9B712772F}"/>
              </a:ext>
            </a:extLst>
          </p:cNvPr>
          <p:cNvSpPr txBox="1"/>
          <p:nvPr/>
        </p:nvSpPr>
        <p:spPr>
          <a:xfrm>
            <a:off x="3162300" y="0"/>
            <a:ext cx="11963400" cy="769441"/>
          </a:xfrm>
          <a:prstGeom prst="rect">
            <a:avLst/>
          </a:prstGeom>
          <a:noFill/>
        </p:spPr>
        <p:txBody>
          <a:bodyPr wrap="square" rtlCol="0">
            <a:spAutoFit/>
          </a:bodyPr>
          <a:lstStyle/>
          <a:p>
            <a:pPr algn="ctr"/>
            <a:r>
              <a:rPr lang="en-US" sz="4400" dirty="0">
                <a:latin typeface="Poppins" panose="00000500000000000000" pitchFamily="2" charset="0"/>
                <a:cs typeface="Poppins" panose="00000500000000000000" pitchFamily="2" charset="0"/>
              </a:rPr>
              <a:t>Simple Project Charter</a:t>
            </a:r>
          </a:p>
        </p:txBody>
      </p:sp>
      <p:sp>
        <p:nvSpPr>
          <p:cNvPr id="12" name="Rectangle 11">
            <a:extLst>
              <a:ext uri="{FF2B5EF4-FFF2-40B4-BE49-F238E27FC236}">
                <a16:creationId xmlns:a16="http://schemas.microsoft.com/office/drawing/2014/main" id="{67394753-6CE4-7F8F-1B5F-D249A4C70D99}"/>
              </a:ext>
            </a:extLst>
          </p:cNvPr>
          <p:cNvSpPr/>
          <p:nvPr/>
        </p:nvSpPr>
        <p:spPr>
          <a:xfrm>
            <a:off x="304800" y="1104278"/>
            <a:ext cx="17300628" cy="902652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dirty="0">
              <a:latin typeface="Poppins" panose="00000500000000000000" pitchFamily="2" charset="0"/>
              <a:cs typeface="Poppins" panose="00000500000000000000" pitchFamily="2" charset="0"/>
            </a:endParaRPr>
          </a:p>
        </p:txBody>
      </p:sp>
      <p:sp>
        <p:nvSpPr>
          <p:cNvPr id="28" name="Rectangle 27">
            <a:extLst>
              <a:ext uri="{FF2B5EF4-FFF2-40B4-BE49-F238E27FC236}">
                <a16:creationId xmlns:a16="http://schemas.microsoft.com/office/drawing/2014/main" id="{07F53C49-A5BC-4CCB-C7BA-47E7AC85CC59}"/>
              </a:ext>
            </a:extLst>
          </p:cNvPr>
          <p:cNvSpPr/>
          <p:nvPr/>
        </p:nvSpPr>
        <p:spPr>
          <a:xfrm>
            <a:off x="304800" y="1104279"/>
            <a:ext cx="5911372" cy="905494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dirty="0">
              <a:latin typeface="Poppins" panose="00000500000000000000" pitchFamily="2" charset="0"/>
              <a:cs typeface="Poppins" panose="00000500000000000000" pitchFamily="2" charset="0"/>
            </a:endParaRPr>
          </a:p>
        </p:txBody>
      </p:sp>
      <p:grpSp>
        <p:nvGrpSpPr>
          <p:cNvPr id="32" name="Group 3">
            <a:extLst>
              <a:ext uri="{FF2B5EF4-FFF2-40B4-BE49-F238E27FC236}">
                <a16:creationId xmlns:a16="http://schemas.microsoft.com/office/drawing/2014/main" id="{2CD34A58-98EE-9776-077F-CF1881441492}"/>
              </a:ext>
            </a:extLst>
          </p:cNvPr>
          <p:cNvGrpSpPr/>
          <p:nvPr/>
        </p:nvGrpSpPr>
        <p:grpSpPr>
          <a:xfrm>
            <a:off x="304798" y="981108"/>
            <a:ext cx="5890278" cy="9149694"/>
            <a:chOff x="0" y="-38100"/>
            <a:chExt cx="1963290" cy="2830287"/>
          </a:xfrm>
        </p:grpSpPr>
        <p:sp>
          <p:nvSpPr>
            <p:cNvPr id="33" name="Freeform 4">
              <a:extLst>
                <a:ext uri="{FF2B5EF4-FFF2-40B4-BE49-F238E27FC236}">
                  <a16:creationId xmlns:a16="http://schemas.microsoft.com/office/drawing/2014/main" id="{1823A154-319B-5DD2-789F-3CEE52DBC1D5}"/>
                </a:ext>
              </a:extLst>
            </p:cNvPr>
            <p:cNvSpPr/>
            <p:nvPr/>
          </p:nvSpPr>
          <p:spPr>
            <a:xfrm>
              <a:off x="0" y="0"/>
              <a:ext cx="1963290" cy="2792187"/>
            </a:xfrm>
            <a:custGeom>
              <a:avLst/>
              <a:gdLst/>
              <a:ahLst/>
              <a:cxnLst/>
              <a:rect l="l" t="t" r="r" b="b"/>
              <a:pathLst>
                <a:path w="1963290" h="2792187">
                  <a:moveTo>
                    <a:pt x="0" y="0"/>
                  </a:moveTo>
                  <a:lnTo>
                    <a:pt x="1963290" y="0"/>
                  </a:lnTo>
                  <a:lnTo>
                    <a:pt x="1963290" y="2792187"/>
                  </a:lnTo>
                  <a:lnTo>
                    <a:pt x="0" y="2792187"/>
                  </a:lnTo>
                  <a:close/>
                </a:path>
              </a:pathLst>
            </a:custGeom>
            <a:solidFill>
              <a:srgbClr val="AAD7D4">
                <a:alpha val="55686"/>
              </a:srgbClr>
            </a:solidFill>
          </p:spPr>
          <p:txBody>
            <a:bodyPr/>
            <a:lstStyle/>
            <a:p>
              <a:endParaRPr lang="en-US" sz="1200" dirty="0">
                <a:latin typeface="Poppins" panose="00000500000000000000" pitchFamily="2" charset="0"/>
                <a:cs typeface="Poppins" panose="00000500000000000000" pitchFamily="2" charset="0"/>
              </a:endParaRPr>
            </a:p>
          </p:txBody>
        </p:sp>
        <p:sp>
          <p:nvSpPr>
            <p:cNvPr id="34" name="TextBox 5">
              <a:extLst>
                <a:ext uri="{FF2B5EF4-FFF2-40B4-BE49-F238E27FC236}">
                  <a16:creationId xmlns:a16="http://schemas.microsoft.com/office/drawing/2014/main" id="{49731989-3387-6A71-96BD-0A7AAB6EEF1E}"/>
                </a:ext>
              </a:extLst>
            </p:cNvPr>
            <p:cNvSpPr txBox="1"/>
            <p:nvPr/>
          </p:nvSpPr>
          <p:spPr>
            <a:xfrm>
              <a:off x="0" y="-38100"/>
              <a:ext cx="1963290" cy="2830287"/>
            </a:xfrm>
            <a:prstGeom prst="rect">
              <a:avLst/>
            </a:prstGeom>
          </p:spPr>
          <p:txBody>
            <a:bodyPr lIns="50801" tIns="50801" rIns="50801" bIns="50801" rtlCol="0" anchor="ctr"/>
            <a:lstStyle/>
            <a:p>
              <a:pPr algn="ctr">
                <a:lnSpc>
                  <a:spcPts val="2663"/>
                </a:lnSpc>
              </a:pPr>
              <a:endParaRPr sz="1200" dirty="0">
                <a:latin typeface="Poppins" panose="00000500000000000000" pitchFamily="2" charset="0"/>
                <a:cs typeface="Poppins" panose="00000500000000000000" pitchFamily="2" charset="0"/>
              </a:endParaRPr>
            </a:p>
          </p:txBody>
        </p:sp>
      </p:grpSp>
      <p:sp>
        <p:nvSpPr>
          <p:cNvPr id="13" name="TextBox 12">
            <a:extLst>
              <a:ext uri="{FF2B5EF4-FFF2-40B4-BE49-F238E27FC236}">
                <a16:creationId xmlns:a16="http://schemas.microsoft.com/office/drawing/2014/main" id="{1F2FDA43-1367-6022-0D29-C32A041E2126}"/>
              </a:ext>
            </a:extLst>
          </p:cNvPr>
          <p:cNvSpPr txBox="1"/>
          <p:nvPr/>
        </p:nvSpPr>
        <p:spPr>
          <a:xfrm>
            <a:off x="756373" y="1624415"/>
            <a:ext cx="4186088" cy="523220"/>
          </a:xfrm>
          <a:prstGeom prst="rect">
            <a:avLst/>
          </a:prstGeom>
          <a:noFill/>
        </p:spPr>
        <p:txBody>
          <a:bodyPr wrap="square" rtlCol="0">
            <a:spAutoFit/>
          </a:bodyPr>
          <a:lstStyle/>
          <a:p>
            <a:r>
              <a:rPr lang="en-US" sz="2800" b="1" dirty="0">
                <a:latin typeface="Poppins" panose="00000500000000000000" pitchFamily="2" charset="0"/>
                <a:cs typeface="Poppins" panose="00000500000000000000" pitchFamily="2" charset="0"/>
              </a:rPr>
              <a:t>Project Charter</a:t>
            </a:r>
          </a:p>
        </p:txBody>
      </p:sp>
      <p:graphicFrame>
        <p:nvGraphicFramePr>
          <p:cNvPr id="14" name="Table 13">
            <a:extLst>
              <a:ext uri="{FF2B5EF4-FFF2-40B4-BE49-F238E27FC236}">
                <a16:creationId xmlns:a16="http://schemas.microsoft.com/office/drawing/2014/main" id="{71B4F07A-9330-8E48-C62A-A20A5F9C595A}"/>
              </a:ext>
            </a:extLst>
          </p:cNvPr>
          <p:cNvGraphicFramePr>
            <a:graphicFrameLocks noGrp="1"/>
          </p:cNvGraphicFramePr>
          <p:nvPr>
            <p:extLst>
              <p:ext uri="{D42A27DB-BD31-4B8C-83A1-F6EECF244321}">
                <p14:modId xmlns:p14="http://schemas.microsoft.com/office/powerpoint/2010/main" val="3742641644"/>
              </p:ext>
            </p:extLst>
          </p:nvPr>
        </p:nvGraphicFramePr>
        <p:xfrm>
          <a:off x="758831" y="2336861"/>
          <a:ext cx="4133724" cy="2977885"/>
        </p:xfrm>
        <a:graphic>
          <a:graphicData uri="http://schemas.openxmlformats.org/drawingml/2006/table">
            <a:tbl>
              <a:tblPr>
                <a:tableStyleId>{5C22544A-7EE6-4342-B048-85BDC9FD1C3A}</a:tableStyleId>
              </a:tblPr>
              <a:tblGrid>
                <a:gridCol w="2066862">
                  <a:extLst>
                    <a:ext uri="{9D8B030D-6E8A-4147-A177-3AD203B41FA5}">
                      <a16:colId xmlns:a16="http://schemas.microsoft.com/office/drawing/2014/main" val="3391015622"/>
                    </a:ext>
                  </a:extLst>
                </a:gridCol>
                <a:gridCol w="2066862">
                  <a:extLst>
                    <a:ext uri="{9D8B030D-6E8A-4147-A177-3AD203B41FA5}">
                      <a16:colId xmlns:a16="http://schemas.microsoft.com/office/drawing/2014/main" val="3040306283"/>
                    </a:ext>
                  </a:extLst>
                </a:gridCol>
              </a:tblGrid>
              <a:tr h="60074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b="0" dirty="0">
                          <a:solidFill>
                            <a:schemeClr val="tx1"/>
                          </a:solidFill>
                          <a:latin typeface="DM Sans" pitchFamily="2" charset="0"/>
                        </a:rPr>
                        <a:t>   Project Manager</a:t>
                      </a:r>
                    </a:p>
                  </a:txBody>
                  <a:tcPr marL="91442" marR="91442" anchor="ctr">
                    <a:lnR w="12700" cap="flat" cmpd="sng" algn="ctr">
                      <a:noFill/>
                      <a:prstDash val="solid"/>
                      <a:round/>
                      <a:headEnd type="none" w="med" len="med"/>
                      <a:tailEnd type="none" w="med" len="med"/>
                    </a:lnR>
                    <a:solidFill>
                      <a:schemeClr val="accent1">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b="0" dirty="0">
                          <a:solidFill>
                            <a:schemeClr val="tx1"/>
                          </a:solidFill>
                          <a:latin typeface="DM Sans" pitchFamily="2" charset="0"/>
                        </a:rPr>
                        <a:t>Rokaya Hamdy</a:t>
                      </a:r>
                    </a:p>
                  </a:txBody>
                  <a:tcPr marL="91442" marR="9144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722155855"/>
                  </a:ext>
                </a:extLst>
              </a:tr>
              <a:tr h="600741">
                <a:tc>
                  <a:txBody>
                    <a:bodyPr/>
                    <a:lstStyle/>
                    <a:p>
                      <a:pPr algn="l"/>
                      <a:r>
                        <a:rPr lang="en-GB" sz="1600" b="0" dirty="0">
                          <a:solidFill>
                            <a:schemeClr val="tx1"/>
                          </a:solidFill>
                          <a:latin typeface="DM Sans" pitchFamily="2" charset="0"/>
                        </a:rPr>
                        <a:t>   Project Sponsor</a:t>
                      </a:r>
                    </a:p>
                  </a:txBody>
                  <a:tcPr marL="91442" marR="91442" anchor="ctr">
                    <a:lnR w="12700" cap="flat" cmpd="sng" algn="ctr">
                      <a:noFill/>
                      <a:prstDash val="solid"/>
                      <a:round/>
                      <a:headEnd type="none" w="med" len="med"/>
                      <a:tailEnd type="none" w="med" len="med"/>
                    </a:lnR>
                    <a:solidFill>
                      <a:schemeClr val="accent1">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b="0" dirty="0">
                          <a:solidFill>
                            <a:schemeClr val="tx1"/>
                          </a:solidFill>
                          <a:latin typeface="DM Sans" pitchFamily="2" charset="0"/>
                        </a:rPr>
                        <a:t>Retaj Ali</a:t>
                      </a:r>
                    </a:p>
                  </a:txBody>
                  <a:tcPr marL="91442" marR="9144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430116097"/>
                  </a:ext>
                </a:extLst>
              </a:tr>
              <a:tr h="574921">
                <a:tc>
                  <a:txBody>
                    <a:bodyPr/>
                    <a:lstStyle/>
                    <a:p>
                      <a:pPr algn="l"/>
                      <a:r>
                        <a:rPr lang="en-GB" sz="1600" b="0" dirty="0">
                          <a:solidFill>
                            <a:schemeClr val="tx1"/>
                          </a:solidFill>
                          <a:latin typeface="DM Sans" pitchFamily="2" charset="0"/>
                        </a:rPr>
                        <a:t>   Start Date</a:t>
                      </a:r>
                    </a:p>
                  </a:txBody>
                  <a:tcPr marL="91442" marR="91442" anchor="ctr">
                    <a:lnR w="12700" cap="flat" cmpd="sng" algn="ctr">
                      <a:noFill/>
                      <a:prstDash val="solid"/>
                      <a:round/>
                      <a:headEnd type="none" w="med" len="med"/>
                      <a:tailEnd type="none" w="med" len="med"/>
                    </a:lnR>
                    <a:solidFill>
                      <a:schemeClr val="accent1">
                        <a:lumMod val="60000"/>
                        <a:lumOff val="40000"/>
                      </a:schemeClr>
                    </a:solidFill>
                  </a:tcPr>
                </a:tc>
                <a:tc>
                  <a:txBody>
                    <a:bodyPr/>
                    <a:lstStyle/>
                    <a:p>
                      <a:pPr algn="l"/>
                      <a:r>
                        <a:rPr lang="en-GB" sz="1600" b="0" dirty="0">
                          <a:solidFill>
                            <a:schemeClr val="tx1"/>
                          </a:solidFill>
                          <a:latin typeface="DM Sans" pitchFamily="2" charset="0"/>
                        </a:rPr>
                        <a:t>Start Date</a:t>
                      </a:r>
                    </a:p>
                  </a:txBody>
                  <a:tcPr marL="91442" marR="9144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4218857594"/>
                  </a:ext>
                </a:extLst>
              </a:tr>
              <a:tr h="600741">
                <a:tc>
                  <a:txBody>
                    <a:bodyPr/>
                    <a:lstStyle/>
                    <a:p>
                      <a:pPr algn="l"/>
                      <a:r>
                        <a:rPr lang="en-GB" sz="1600" b="0" dirty="0">
                          <a:solidFill>
                            <a:schemeClr val="tx1"/>
                          </a:solidFill>
                          <a:latin typeface="DM Sans" pitchFamily="2" charset="0"/>
                        </a:rPr>
                        <a:t>   Estimated End Date</a:t>
                      </a:r>
                    </a:p>
                  </a:txBody>
                  <a:tcPr marL="91442" marR="91442" anchor="ctr">
                    <a:lnR w="12700" cap="flat" cmpd="sng" algn="ctr">
                      <a:noFill/>
                      <a:prstDash val="solid"/>
                      <a:round/>
                      <a:headEnd type="none" w="med" len="med"/>
                      <a:tailEnd type="none" w="med" len="med"/>
                    </a:lnR>
                    <a:solidFill>
                      <a:schemeClr val="accent1">
                        <a:lumMod val="60000"/>
                        <a:lumOff val="40000"/>
                      </a:schemeClr>
                    </a:solidFill>
                  </a:tcPr>
                </a:tc>
                <a:tc>
                  <a:txBody>
                    <a:bodyPr/>
                    <a:lstStyle/>
                    <a:p>
                      <a:pPr algn="l"/>
                      <a:r>
                        <a:rPr lang="en-GB" sz="1600" b="0" dirty="0">
                          <a:solidFill>
                            <a:schemeClr val="tx1"/>
                          </a:solidFill>
                          <a:latin typeface="DM Sans" pitchFamily="2" charset="0"/>
                        </a:rPr>
                        <a:t>End Date</a:t>
                      </a:r>
                    </a:p>
                  </a:txBody>
                  <a:tcPr marL="91442" marR="9144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693437452"/>
                  </a:ext>
                </a:extLst>
              </a:tr>
              <a:tr h="600741">
                <a:tc>
                  <a:txBody>
                    <a:bodyPr/>
                    <a:lstStyle/>
                    <a:p>
                      <a:pPr algn="l"/>
                      <a:r>
                        <a:rPr lang="en-GB" sz="1600" b="0" dirty="0">
                          <a:solidFill>
                            <a:schemeClr val="tx1"/>
                          </a:solidFill>
                          <a:latin typeface="DM Sans" pitchFamily="2" charset="0"/>
                        </a:rPr>
                        <a:t>   Estimated  Project Cost</a:t>
                      </a:r>
                    </a:p>
                  </a:txBody>
                  <a:tcPr marL="91442" marR="91442" anchor="ctr">
                    <a:lnR w="12700" cap="flat" cmpd="sng" algn="ctr">
                      <a:noFill/>
                      <a:prstDash val="solid"/>
                      <a:round/>
                      <a:headEnd type="none" w="med" len="med"/>
                      <a:tailEnd type="none" w="med" len="med"/>
                    </a:lnR>
                    <a:solidFill>
                      <a:schemeClr val="accent1">
                        <a:lumMod val="60000"/>
                        <a:lumOff val="40000"/>
                      </a:schemeClr>
                    </a:solidFill>
                  </a:tcPr>
                </a:tc>
                <a:tc>
                  <a:txBody>
                    <a:bodyPr/>
                    <a:lstStyle/>
                    <a:p>
                      <a:pPr algn="l"/>
                      <a:r>
                        <a:rPr lang="en-GB" sz="1600" b="0" dirty="0">
                          <a:solidFill>
                            <a:schemeClr val="tx1"/>
                          </a:solidFill>
                          <a:latin typeface="DM Sans" pitchFamily="2" charset="0"/>
                        </a:rPr>
                        <a:t>150,000 EGP</a:t>
                      </a:r>
                    </a:p>
                  </a:txBody>
                  <a:tcPr marL="91442" marR="9144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563778457"/>
                  </a:ext>
                </a:extLst>
              </a:tr>
            </a:tbl>
          </a:graphicData>
        </a:graphic>
      </p:graphicFrame>
      <p:sp>
        <p:nvSpPr>
          <p:cNvPr id="11" name="TextBox 10">
            <a:extLst>
              <a:ext uri="{FF2B5EF4-FFF2-40B4-BE49-F238E27FC236}">
                <a16:creationId xmlns:a16="http://schemas.microsoft.com/office/drawing/2014/main" id="{7B99D61E-9310-4752-440F-925383E3F74F}"/>
              </a:ext>
            </a:extLst>
          </p:cNvPr>
          <p:cNvSpPr txBox="1"/>
          <p:nvPr/>
        </p:nvSpPr>
        <p:spPr>
          <a:xfrm>
            <a:off x="6506159" y="1224306"/>
            <a:ext cx="10580453" cy="400110"/>
          </a:xfrm>
          <a:prstGeom prst="rect">
            <a:avLst/>
          </a:prstGeom>
          <a:noFill/>
        </p:spPr>
        <p:txBody>
          <a:bodyPr wrap="square" rtlCol="0">
            <a:spAutoFit/>
          </a:bodyPr>
          <a:lstStyle/>
          <a:p>
            <a:r>
              <a:rPr lang="en-US" sz="2000" b="1" dirty="0">
                <a:latin typeface="Poppins" panose="00000500000000000000" pitchFamily="2" charset="0"/>
                <a:cs typeface="Poppins" panose="00000500000000000000" pitchFamily="2" charset="0"/>
              </a:rPr>
              <a:t>Project Name: </a:t>
            </a:r>
            <a:r>
              <a:rPr lang="en-US" dirty="0">
                <a:latin typeface="Poppins" panose="00000500000000000000" pitchFamily="2" charset="0"/>
                <a:cs typeface="Poppins" panose="00000500000000000000" pitchFamily="2" charset="0"/>
              </a:rPr>
              <a:t>SmartBite</a:t>
            </a:r>
            <a:endParaRPr lang="en-US" sz="2000" dirty="0">
              <a:latin typeface="Poppins" panose="00000500000000000000" pitchFamily="2" charset="0"/>
              <a:cs typeface="Poppins" panose="00000500000000000000" pitchFamily="2" charset="0"/>
            </a:endParaRPr>
          </a:p>
        </p:txBody>
      </p:sp>
      <p:sp>
        <p:nvSpPr>
          <p:cNvPr id="15" name="TextBox 14">
            <a:extLst>
              <a:ext uri="{FF2B5EF4-FFF2-40B4-BE49-F238E27FC236}">
                <a16:creationId xmlns:a16="http://schemas.microsoft.com/office/drawing/2014/main" id="{0A52F72F-E9C4-EC7D-B928-68CACB492C78}"/>
              </a:ext>
            </a:extLst>
          </p:cNvPr>
          <p:cNvSpPr txBox="1"/>
          <p:nvPr/>
        </p:nvSpPr>
        <p:spPr>
          <a:xfrm>
            <a:off x="6506159" y="1605856"/>
            <a:ext cx="10664276" cy="1785104"/>
          </a:xfrm>
          <a:prstGeom prst="rect">
            <a:avLst/>
          </a:prstGeom>
          <a:noFill/>
        </p:spPr>
        <p:txBody>
          <a:bodyPr wrap="square" rtlCol="0">
            <a:spAutoFit/>
          </a:bodyPr>
          <a:lstStyle/>
          <a:p>
            <a:r>
              <a:rPr lang="en-US" sz="2000" b="1" dirty="0">
                <a:latin typeface="Poppins" panose="00000500000000000000" pitchFamily="2" charset="0"/>
                <a:cs typeface="Poppins" panose="00000500000000000000" pitchFamily="2" charset="0"/>
              </a:rPr>
              <a:t>Project</a:t>
            </a:r>
            <a:r>
              <a:rPr lang="en-US" sz="2000" dirty="0">
                <a:latin typeface="Poppins" panose="00000500000000000000" pitchFamily="2" charset="0"/>
                <a:cs typeface="Poppins" panose="00000500000000000000" pitchFamily="2" charset="0"/>
              </a:rPr>
              <a:t> </a:t>
            </a:r>
            <a:r>
              <a:rPr lang="en-US" sz="2000" b="1" dirty="0">
                <a:latin typeface="Poppins" panose="00000500000000000000" pitchFamily="2" charset="0"/>
                <a:cs typeface="Poppins" panose="00000500000000000000" pitchFamily="2" charset="0"/>
              </a:rPr>
              <a:t>Overview:</a:t>
            </a:r>
          </a:p>
          <a:p>
            <a:pPr>
              <a:spcBef>
                <a:spcPct val="0"/>
              </a:spcBef>
              <a:defRPr/>
            </a:pPr>
            <a:r>
              <a:rPr lang="en-GB" spc="110" dirty="0">
                <a:solidFill>
                  <a:srgbClr val="000000"/>
                </a:solidFill>
                <a:latin typeface="Poppins" panose="00000500000000000000" pitchFamily="2" charset="0"/>
                <a:ea typeface="DM Sans"/>
                <a:cs typeface="Poppins" panose="00000500000000000000" pitchFamily="2" charset="0"/>
                <a:sym typeface="DM Sans"/>
              </a:rPr>
              <a:t>Smart Bite is an AI-driven recipe maker created to transform ordinary kitchen ingredients into practical, healthy meals.</a:t>
            </a:r>
          </a:p>
          <a:p>
            <a:pPr>
              <a:spcBef>
                <a:spcPct val="0"/>
              </a:spcBef>
              <a:defRPr/>
            </a:pPr>
            <a:r>
              <a:rPr lang="en-GB" spc="110" dirty="0">
                <a:solidFill>
                  <a:srgbClr val="000000"/>
                </a:solidFill>
                <a:latin typeface="Poppins" panose="00000500000000000000" pitchFamily="2" charset="0"/>
                <a:ea typeface="DM Sans"/>
                <a:cs typeface="Poppins" panose="00000500000000000000" pitchFamily="2" charset="0"/>
                <a:sym typeface="DM Sans"/>
              </a:rPr>
              <a:t>Smart Bite reduces food waste, saves money, encourages healthier eating habits and simplifies decision-making by instantly turning available items into cost-effective, nutritious recipes.</a:t>
            </a:r>
            <a:endParaRPr lang="en-US" b="1" dirty="0">
              <a:latin typeface="Poppins" panose="00000500000000000000" pitchFamily="2" charset="0"/>
              <a:cs typeface="Poppins" panose="00000500000000000000" pitchFamily="2" charset="0"/>
            </a:endParaRPr>
          </a:p>
        </p:txBody>
      </p:sp>
      <p:sp>
        <p:nvSpPr>
          <p:cNvPr id="19" name="TextBox 18">
            <a:extLst>
              <a:ext uri="{FF2B5EF4-FFF2-40B4-BE49-F238E27FC236}">
                <a16:creationId xmlns:a16="http://schemas.microsoft.com/office/drawing/2014/main" id="{D9524C7B-BD04-18E1-723B-8500E1F7F763}"/>
              </a:ext>
            </a:extLst>
          </p:cNvPr>
          <p:cNvSpPr txBox="1"/>
          <p:nvPr/>
        </p:nvSpPr>
        <p:spPr>
          <a:xfrm>
            <a:off x="6499014" y="3321334"/>
            <a:ext cx="10565213" cy="1231106"/>
          </a:xfrm>
          <a:prstGeom prst="rect">
            <a:avLst/>
          </a:prstGeom>
          <a:noFill/>
        </p:spPr>
        <p:txBody>
          <a:bodyPr wrap="square" rtlCol="0">
            <a:spAutoFit/>
          </a:bodyPr>
          <a:lstStyle/>
          <a:p>
            <a:r>
              <a:rPr lang="en-US" sz="2000" b="1" dirty="0">
                <a:latin typeface="Poppins" panose="00000500000000000000" pitchFamily="2" charset="0"/>
                <a:cs typeface="Poppins" panose="00000500000000000000" pitchFamily="2" charset="0"/>
              </a:rPr>
              <a:t>Goal:</a:t>
            </a:r>
          </a:p>
          <a:p>
            <a:r>
              <a:rPr lang="en-GB" spc="110" dirty="0">
                <a:solidFill>
                  <a:srgbClr val="000000"/>
                </a:solidFill>
                <a:latin typeface="Poppins" panose="00000500000000000000" pitchFamily="2" charset="0"/>
                <a:ea typeface="DM Sans"/>
                <a:cs typeface="Poppins" panose="00000500000000000000" pitchFamily="2" charset="0"/>
                <a:sym typeface="DM Sans"/>
              </a:rPr>
              <a:t>The app aims to solve the everyday question: “What should I cook?”, Smart Bite focuses on a clear purpose of connecting the ingredients people already have to meals they can make.</a:t>
            </a:r>
          </a:p>
        </p:txBody>
      </p:sp>
      <p:sp>
        <p:nvSpPr>
          <p:cNvPr id="20" name="TextBox 19">
            <a:extLst>
              <a:ext uri="{FF2B5EF4-FFF2-40B4-BE49-F238E27FC236}">
                <a16:creationId xmlns:a16="http://schemas.microsoft.com/office/drawing/2014/main" id="{BFBF43FD-1735-391F-550E-9EE260BF269B}"/>
              </a:ext>
            </a:extLst>
          </p:cNvPr>
          <p:cNvSpPr txBox="1"/>
          <p:nvPr/>
        </p:nvSpPr>
        <p:spPr>
          <a:xfrm>
            <a:off x="6499014" y="8130446"/>
            <a:ext cx="10387559" cy="400110"/>
          </a:xfrm>
          <a:prstGeom prst="rect">
            <a:avLst/>
          </a:prstGeom>
          <a:noFill/>
        </p:spPr>
        <p:txBody>
          <a:bodyPr wrap="square" rtlCol="0">
            <a:spAutoFit/>
          </a:bodyPr>
          <a:lstStyle/>
          <a:p>
            <a:r>
              <a:rPr lang="en-US" sz="2000" b="1" dirty="0">
                <a:latin typeface="Poppins" panose="00000500000000000000" pitchFamily="2" charset="0"/>
                <a:cs typeface="Poppins" panose="00000500000000000000" pitchFamily="2" charset="0"/>
              </a:rPr>
              <a:t>Project Milestones:</a:t>
            </a:r>
          </a:p>
        </p:txBody>
      </p:sp>
      <p:sp>
        <p:nvSpPr>
          <p:cNvPr id="21" name="TextBox 20">
            <a:extLst>
              <a:ext uri="{FF2B5EF4-FFF2-40B4-BE49-F238E27FC236}">
                <a16:creationId xmlns:a16="http://schemas.microsoft.com/office/drawing/2014/main" id="{190678F9-C7E5-48AA-E122-817227083EE8}"/>
              </a:ext>
            </a:extLst>
          </p:cNvPr>
          <p:cNvSpPr txBox="1"/>
          <p:nvPr/>
        </p:nvSpPr>
        <p:spPr>
          <a:xfrm>
            <a:off x="756373" y="5540693"/>
            <a:ext cx="2260957" cy="400110"/>
          </a:xfrm>
          <a:prstGeom prst="rect">
            <a:avLst/>
          </a:prstGeom>
          <a:noFill/>
        </p:spPr>
        <p:txBody>
          <a:bodyPr wrap="square" rtlCol="0">
            <a:spAutoFit/>
          </a:bodyPr>
          <a:lstStyle/>
          <a:p>
            <a:r>
              <a:rPr lang="en-US" sz="2000" b="1" dirty="0">
                <a:latin typeface="Poppins" panose="00000500000000000000" pitchFamily="2" charset="0"/>
                <a:cs typeface="Poppins" panose="00000500000000000000" pitchFamily="2" charset="0"/>
              </a:rPr>
              <a:t>Project Budget:</a:t>
            </a:r>
          </a:p>
        </p:txBody>
      </p:sp>
      <p:sp>
        <p:nvSpPr>
          <p:cNvPr id="193" name="Freeform: Shape 192">
            <a:extLst>
              <a:ext uri="{FF2B5EF4-FFF2-40B4-BE49-F238E27FC236}">
                <a16:creationId xmlns:a16="http://schemas.microsoft.com/office/drawing/2014/main" id="{66E0305D-1C36-3054-3D13-70727687B54F}"/>
              </a:ext>
            </a:extLst>
          </p:cNvPr>
          <p:cNvSpPr/>
          <p:nvPr/>
        </p:nvSpPr>
        <p:spPr>
          <a:xfrm rot="8647838">
            <a:off x="3320720" y="6192294"/>
            <a:ext cx="959184" cy="1508496"/>
          </a:xfrm>
          <a:custGeom>
            <a:avLst/>
            <a:gdLst>
              <a:gd name="connsiteX0" fmla="*/ 533096 w 959182"/>
              <a:gd name="connsiteY0" fmla="*/ 1508495 h 1508495"/>
              <a:gd name="connsiteX1" fmla="*/ 440833 w 959182"/>
              <a:gd name="connsiteY1" fmla="*/ 1434300 h 1508495"/>
              <a:gd name="connsiteX2" fmla="*/ 72771 w 959182"/>
              <a:gd name="connsiteY2" fmla="*/ 2505 h 1508495"/>
              <a:gd name="connsiteX3" fmla="*/ 73766 w 959182"/>
              <a:gd name="connsiteY3" fmla="*/ 0 h 1508495"/>
              <a:gd name="connsiteX4" fmla="*/ 762497 w 959182"/>
              <a:gd name="connsiteY4" fmla="*/ 239648 h 1508495"/>
              <a:gd name="connsiteX5" fmla="*/ 744086 w 959182"/>
              <a:gd name="connsiteY5" fmla="*/ 292625 h 1508495"/>
              <a:gd name="connsiteX6" fmla="*/ 881047 w 959182"/>
              <a:gd name="connsiteY6" fmla="*/ 849302 h 1508495"/>
              <a:gd name="connsiteX7" fmla="*/ 959182 w 959182"/>
              <a:gd name="connsiteY7" fmla="*/ 919217 h 1508495"/>
              <a:gd name="connsiteX8" fmla="*/ 533096 w 959182"/>
              <a:gd name="connsiteY8" fmla="*/ 1508495 h 1508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9182" h="1508495">
                <a:moveTo>
                  <a:pt x="533096" y="1508495"/>
                </a:moveTo>
                <a:lnTo>
                  <a:pt x="440833" y="1434300"/>
                </a:lnTo>
                <a:cubicBezTo>
                  <a:pt x="37421" y="1074138"/>
                  <a:pt x="-99118" y="506210"/>
                  <a:pt x="72771" y="2505"/>
                </a:cubicBezTo>
                <a:lnTo>
                  <a:pt x="73766" y="0"/>
                </a:lnTo>
                <a:lnTo>
                  <a:pt x="762497" y="239648"/>
                </a:lnTo>
                <a:lnTo>
                  <a:pt x="744086" y="292625"/>
                </a:lnTo>
                <a:cubicBezTo>
                  <a:pt x="696265" y="489875"/>
                  <a:pt x="745383" y="699585"/>
                  <a:pt x="881047" y="849302"/>
                </a:cubicBezTo>
                <a:lnTo>
                  <a:pt x="959182" y="919217"/>
                </a:lnTo>
                <a:lnTo>
                  <a:pt x="533096" y="1508495"/>
                </a:lnTo>
                <a:close/>
              </a:path>
            </a:pathLst>
          </a:cu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200">
              <a:latin typeface="Poppins" panose="00000500000000000000" pitchFamily="2" charset="0"/>
              <a:cs typeface="Poppins" panose="00000500000000000000" pitchFamily="2" charset="0"/>
            </a:endParaRPr>
          </a:p>
        </p:txBody>
      </p:sp>
      <p:sp>
        <p:nvSpPr>
          <p:cNvPr id="192" name="Freeform: Shape 191">
            <a:extLst>
              <a:ext uri="{FF2B5EF4-FFF2-40B4-BE49-F238E27FC236}">
                <a16:creationId xmlns:a16="http://schemas.microsoft.com/office/drawing/2014/main" id="{653E2DA2-3E79-8C0B-D08A-455FA2EEEE49}"/>
              </a:ext>
            </a:extLst>
          </p:cNvPr>
          <p:cNvSpPr/>
          <p:nvPr/>
        </p:nvSpPr>
        <p:spPr>
          <a:xfrm rot="8647838">
            <a:off x="1975783" y="6551354"/>
            <a:ext cx="1551828" cy="851945"/>
          </a:xfrm>
          <a:custGeom>
            <a:avLst/>
            <a:gdLst>
              <a:gd name="connsiteX0" fmla="*/ 0 w 1551828"/>
              <a:gd name="connsiteY0" fmla="*/ 617811 h 851945"/>
              <a:gd name="connsiteX1" fmla="*/ 426419 w 1551828"/>
              <a:gd name="connsiteY1" fmla="*/ 28073 h 851945"/>
              <a:gd name="connsiteX2" fmla="*/ 507941 w 1551828"/>
              <a:gd name="connsiteY2" fmla="*/ 74982 h 851945"/>
              <a:gd name="connsiteX3" fmla="*/ 1079500 w 1551828"/>
              <a:gd name="connsiteY3" fmla="*/ 30610 h 851945"/>
              <a:gd name="connsiteX4" fmla="*/ 1119501 w 1551828"/>
              <a:gd name="connsiteY4" fmla="*/ 0 h 851945"/>
              <a:gd name="connsiteX5" fmla="*/ 1551828 w 1551828"/>
              <a:gd name="connsiteY5" fmla="*/ 586446 h 851945"/>
              <a:gd name="connsiteX6" fmla="*/ 1456119 w 1551828"/>
              <a:gd name="connsiteY6" fmla="*/ 651764 h 851945"/>
              <a:gd name="connsiteX7" fmla="*/ 90347 w 1551828"/>
              <a:gd name="connsiteY7" fmla="*/ 676335 h 851945"/>
              <a:gd name="connsiteX8" fmla="*/ 0 w 1551828"/>
              <a:gd name="connsiteY8" fmla="*/ 617811 h 8519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51828" h="851945">
                <a:moveTo>
                  <a:pt x="0" y="617811"/>
                </a:moveTo>
                <a:lnTo>
                  <a:pt x="426419" y="28073"/>
                </a:lnTo>
                <a:lnTo>
                  <a:pt x="507941" y="74982"/>
                </a:lnTo>
                <a:cubicBezTo>
                  <a:pt x="692629" y="156899"/>
                  <a:pt x="907169" y="137831"/>
                  <a:pt x="1079500" y="30610"/>
                </a:cubicBezTo>
                <a:lnTo>
                  <a:pt x="1119501" y="0"/>
                </a:lnTo>
                <a:lnTo>
                  <a:pt x="1551828" y="586446"/>
                </a:lnTo>
                <a:lnTo>
                  <a:pt x="1456119" y="651764"/>
                </a:lnTo>
                <a:cubicBezTo>
                  <a:pt x="1044661" y="904113"/>
                  <a:pt x="519744" y="924053"/>
                  <a:pt x="90347" y="676335"/>
                </a:cubicBezTo>
                <a:lnTo>
                  <a:pt x="0" y="617811"/>
                </a:lnTo>
                <a:close/>
              </a:path>
            </a:pathLst>
          </a:cu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200">
              <a:latin typeface="Poppins" panose="00000500000000000000" pitchFamily="2" charset="0"/>
              <a:cs typeface="Poppins" panose="00000500000000000000" pitchFamily="2" charset="0"/>
            </a:endParaRPr>
          </a:p>
        </p:txBody>
      </p:sp>
      <p:sp>
        <p:nvSpPr>
          <p:cNvPr id="188" name="Freeform: Shape 187">
            <a:extLst>
              <a:ext uri="{FF2B5EF4-FFF2-40B4-BE49-F238E27FC236}">
                <a16:creationId xmlns:a16="http://schemas.microsoft.com/office/drawing/2014/main" id="{A0E0FCAC-6C40-48C7-3E3B-8D89C4624665}"/>
              </a:ext>
            </a:extLst>
          </p:cNvPr>
          <p:cNvSpPr/>
          <p:nvPr/>
        </p:nvSpPr>
        <p:spPr>
          <a:xfrm rot="8647838">
            <a:off x="1926478" y="7235007"/>
            <a:ext cx="954280" cy="1447204"/>
          </a:xfrm>
          <a:custGeom>
            <a:avLst/>
            <a:gdLst>
              <a:gd name="connsiteX0" fmla="*/ 432095 w 954280"/>
              <a:gd name="connsiteY0" fmla="*/ 1447204 h 1447204"/>
              <a:gd name="connsiteX1" fmla="*/ 0 w 954280"/>
              <a:gd name="connsiteY1" fmla="*/ 861074 h 1447204"/>
              <a:gd name="connsiteX2" fmla="*/ 21443 w 954280"/>
              <a:gd name="connsiteY2" fmla="*/ 844665 h 1447204"/>
              <a:gd name="connsiteX3" fmla="*/ 105613 w 954280"/>
              <a:gd name="connsiteY3" fmla="*/ 749315 h 1447204"/>
              <a:gd name="connsiteX4" fmla="*/ 221714 w 954280"/>
              <a:gd name="connsiteY4" fmla="*/ 285188 h 1447204"/>
              <a:gd name="connsiteX5" fmla="*/ 204906 w 954280"/>
              <a:gd name="connsiteY5" fmla="*/ 215997 h 1447204"/>
              <a:gd name="connsiteX6" fmla="*/ 899948 w 954280"/>
              <a:gd name="connsiteY6" fmla="*/ 0 h 1447204"/>
              <a:gd name="connsiteX7" fmla="*/ 913215 w 954280"/>
              <a:gd name="connsiteY7" fmla="*/ 43626 h 1447204"/>
              <a:gd name="connsiteX8" fmla="*/ 694112 w 954280"/>
              <a:gd name="connsiteY8" fmla="*/ 1174838 h 1447204"/>
              <a:gd name="connsiteX9" fmla="*/ 512229 w 954280"/>
              <a:gd name="connsiteY9" fmla="*/ 1380145 h 1447204"/>
              <a:gd name="connsiteX10" fmla="*/ 432095 w 954280"/>
              <a:gd name="connsiteY10" fmla="*/ 1447204 h 1447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54280" h="1447204">
                <a:moveTo>
                  <a:pt x="432095" y="1447204"/>
                </a:moveTo>
                <a:lnTo>
                  <a:pt x="0" y="861074"/>
                </a:lnTo>
                <a:lnTo>
                  <a:pt x="21443" y="844665"/>
                </a:lnTo>
                <a:cubicBezTo>
                  <a:pt x="51957" y="816271"/>
                  <a:pt x="80206" y="784453"/>
                  <a:pt x="105613" y="749315"/>
                </a:cubicBezTo>
                <a:cubicBezTo>
                  <a:pt x="207241" y="608762"/>
                  <a:pt x="244168" y="441688"/>
                  <a:pt x="221714" y="285188"/>
                </a:cubicBezTo>
                <a:lnTo>
                  <a:pt x="204906" y="215997"/>
                </a:lnTo>
                <a:lnTo>
                  <a:pt x="899948" y="0"/>
                </a:lnTo>
                <a:lnTo>
                  <a:pt x="913215" y="43626"/>
                </a:lnTo>
                <a:cubicBezTo>
                  <a:pt x="1007829" y="418573"/>
                  <a:pt x="940638" y="833893"/>
                  <a:pt x="694112" y="1174838"/>
                </a:cubicBezTo>
                <a:cubicBezTo>
                  <a:pt x="639328" y="1250604"/>
                  <a:pt x="578282" y="1319110"/>
                  <a:pt x="512229" y="1380145"/>
                </a:cubicBezTo>
                <a:lnTo>
                  <a:pt x="432095" y="1447204"/>
                </a:lnTo>
                <a:close/>
              </a:path>
            </a:pathLst>
          </a:cu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200">
              <a:latin typeface="Poppins" panose="00000500000000000000" pitchFamily="2" charset="0"/>
              <a:cs typeface="Poppins" panose="00000500000000000000" pitchFamily="2" charset="0"/>
            </a:endParaRPr>
          </a:p>
        </p:txBody>
      </p:sp>
      <p:sp>
        <p:nvSpPr>
          <p:cNvPr id="187" name="Freeform: Shape 186">
            <a:extLst>
              <a:ext uri="{FF2B5EF4-FFF2-40B4-BE49-F238E27FC236}">
                <a16:creationId xmlns:a16="http://schemas.microsoft.com/office/drawing/2014/main" id="{9F92B17A-4F6D-50F5-F870-E15EE47B455A}"/>
              </a:ext>
            </a:extLst>
          </p:cNvPr>
          <p:cNvSpPr/>
          <p:nvPr/>
        </p:nvSpPr>
        <p:spPr>
          <a:xfrm rot="8647838">
            <a:off x="3654010" y="7430621"/>
            <a:ext cx="1233074" cy="1115114"/>
          </a:xfrm>
          <a:custGeom>
            <a:avLst/>
            <a:gdLst>
              <a:gd name="connsiteX0" fmla="*/ 0 w 1233073"/>
              <a:gd name="connsiteY0" fmla="*/ 876186 h 1115114"/>
              <a:gd name="connsiteX1" fmla="*/ 29866 w 1233073"/>
              <a:gd name="connsiteY1" fmla="*/ 800993 h 1115114"/>
              <a:gd name="connsiteX2" fmla="*/ 167840 w 1233073"/>
              <a:gd name="connsiteY2" fmla="*/ 563937 h 1115114"/>
              <a:gd name="connsiteX3" fmla="*/ 1173426 w 1233073"/>
              <a:gd name="connsiteY3" fmla="*/ 1402 h 1115114"/>
              <a:gd name="connsiteX4" fmla="*/ 1233073 w 1233073"/>
              <a:gd name="connsiteY4" fmla="*/ 0 h 1115114"/>
              <a:gd name="connsiteX5" fmla="*/ 1233073 w 1233073"/>
              <a:gd name="connsiteY5" fmla="*/ 727941 h 1115114"/>
              <a:gd name="connsiteX6" fmla="*/ 1160711 w 1233073"/>
              <a:gd name="connsiteY6" fmla="*/ 733772 h 1115114"/>
              <a:gd name="connsiteX7" fmla="*/ 756339 w 1233073"/>
              <a:gd name="connsiteY7" fmla="*/ 989461 h 1115114"/>
              <a:gd name="connsiteX8" fmla="*/ 692166 w 1233073"/>
              <a:gd name="connsiteY8" fmla="*/ 1099269 h 1115114"/>
              <a:gd name="connsiteX9" fmla="*/ 686660 w 1233073"/>
              <a:gd name="connsiteY9" fmla="*/ 1115114 h 1115114"/>
              <a:gd name="connsiteX10" fmla="*/ 0 w 1233073"/>
              <a:gd name="connsiteY10" fmla="*/ 876186 h 1115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33073" h="1115114">
                <a:moveTo>
                  <a:pt x="0" y="876186"/>
                </a:moveTo>
                <a:lnTo>
                  <a:pt x="29866" y="800993"/>
                </a:lnTo>
                <a:cubicBezTo>
                  <a:pt x="67129" y="719142"/>
                  <a:pt x="113056" y="639703"/>
                  <a:pt x="167840" y="563937"/>
                </a:cubicBezTo>
                <a:cubicBezTo>
                  <a:pt x="414366" y="222992"/>
                  <a:pt x="787714" y="29044"/>
                  <a:pt x="1173426" y="1402"/>
                </a:cubicBezTo>
                <a:lnTo>
                  <a:pt x="1233073" y="0"/>
                </a:lnTo>
                <a:lnTo>
                  <a:pt x="1233073" y="727941"/>
                </a:lnTo>
                <a:lnTo>
                  <a:pt x="1160711" y="733772"/>
                </a:lnTo>
                <a:cubicBezTo>
                  <a:pt x="1005057" y="761488"/>
                  <a:pt x="857968" y="848908"/>
                  <a:pt x="756339" y="989461"/>
                </a:cubicBezTo>
                <a:cubicBezTo>
                  <a:pt x="730932" y="1024598"/>
                  <a:pt x="709569" y="1061395"/>
                  <a:pt x="692166" y="1099269"/>
                </a:cubicBezTo>
                <a:lnTo>
                  <a:pt x="686660" y="1115114"/>
                </a:lnTo>
                <a:lnTo>
                  <a:pt x="0" y="876186"/>
                </a:lnTo>
                <a:close/>
              </a:path>
            </a:pathLst>
          </a:custGeom>
          <a:solidFill>
            <a:srgbClr val="0000FF"/>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200">
              <a:latin typeface="Poppins" panose="00000500000000000000" pitchFamily="2" charset="0"/>
              <a:cs typeface="Poppins" panose="00000500000000000000" pitchFamily="2" charset="0"/>
            </a:endParaRPr>
          </a:p>
        </p:txBody>
      </p:sp>
      <p:sp>
        <p:nvSpPr>
          <p:cNvPr id="177" name="Freeform: Shape 176">
            <a:extLst>
              <a:ext uri="{FF2B5EF4-FFF2-40B4-BE49-F238E27FC236}">
                <a16:creationId xmlns:a16="http://schemas.microsoft.com/office/drawing/2014/main" id="{591F1678-95C7-636A-DD0C-342134222513}"/>
              </a:ext>
            </a:extLst>
          </p:cNvPr>
          <p:cNvSpPr/>
          <p:nvPr/>
        </p:nvSpPr>
        <p:spPr>
          <a:xfrm rot="8647838">
            <a:off x="2607566" y="8176887"/>
            <a:ext cx="1237043" cy="1124909"/>
          </a:xfrm>
          <a:custGeom>
            <a:avLst/>
            <a:gdLst>
              <a:gd name="connsiteX0" fmla="*/ 544488 w 1237042"/>
              <a:gd name="connsiteY0" fmla="*/ 1124907 h 1124907"/>
              <a:gd name="connsiteX1" fmla="*/ 544219 w 1237042"/>
              <a:gd name="connsiteY1" fmla="*/ 1123800 h 1124907"/>
              <a:gd name="connsiteX2" fmla="*/ 331930 w 1237042"/>
              <a:gd name="connsiteY2" fmla="*/ 837927 h 1124907"/>
              <a:gd name="connsiteX3" fmla="*/ 111457 w 1237042"/>
              <a:gd name="connsiteY3" fmla="*/ 739421 h 1124907"/>
              <a:gd name="connsiteX4" fmla="*/ 0 w 1237042"/>
              <a:gd name="connsiteY4" fmla="*/ 726605 h 1124907"/>
              <a:gd name="connsiteX5" fmla="*/ 0 w 1237042"/>
              <a:gd name="connsiteY5" fmla="*/ 417 h 1124907"/>
              <a:gd name="connsiteX6" fmla="*/ 17748 w 1237042"/>
              <a:gd name="connsiteY6" fmla="*/ 0 h 1124907"/>
              <a:gd name="connsiteX7" fmla="*/ 757453 w 1237042"/>
              <a:gd name="connsiteY7" fmla="*/ 249427 h 1124907"/>
              <a:gd name="connsiteX8" fmla="*/ 1226106 w 1237042"/>
              <a:gd name="connsiteY8" fmla="*/ 873721 h 1124907"/>
              <a:gd name="connsiteX9" fmla="*/ 1237042 w 1237042"/>
              <a:gd name="connsiteY9" fmla="*/ 909683 h 1124907"/>
              <a:gd name="connsiteX10" fmla="*/ 544488 w 1237042"/>
              <a:gd name="connsiteY10" fmla="*/ 1124907 h 1124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37042" h="1124907">
                <a:moveTo>
                  <a:pt x="544488" y="1124907"/>
                </a:moveTo>
                <a:lnTo>
                  <a:pt x="544219" y="1123800"/>
                </a:lnTo>
                <a:cubicBezTo>
                  <a:pt x="505360" y="1012128"/>
                  <a:pt x="433849" y="911621"/>
                  <a:pt x="331930" y="837927"/>
                </a:cubicBezTo>
                <a:cubicBezTo>
                  <a:pt x="263984" y="788797"/>
                  <a:pt x="188955" y="756236"/>
                  <a:pt x="111457" y="739421"/>
                </a:cubicBezTo>
                <a:lnTo>
                  <a:pt x="0" y="726605"/>
                </a:lnTo>
                <a:lnTo>
                  <a:pt x="0" y="417"/>
                </a:lnTo>
                <a:lnTo>
                  <a:pt x="17748" y="0"/>
                </a:lnTo>
                <a:cubicBezTo>
                  <a:pt x="275779" y="6368"/>
                  <a:pt x="533652" y="87604"/>
                  <a:pt x="757453" y="249427"/>
                </a:cubicBezTo>
                <a:cubicBezTo>
                  <a:pt x="981255" y="411250"/>
                  <a:pt x="1139204" y="630680"/>
                  <a:pt x="1226106" y="873721"/>
                </a:cubicBezTo>
                <a:lnTo>
                  <a:pt x="1237042" y="909683"/>
                </a:lnTo>
                <a:lnTo>
                  <a:pt x="544488" y="1124907"/>
                </a:lnTo>
                <a:close/>
              </a:path>
            </a:pathLst>
          </a:custGeom>
          <a:solidFill>
            <a:srgbClr val="4391EF"/>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200">
              <a:latin typeface="Poppins" panose="00000500000000000000" pitchFamily="2" charset="0"/>
              <a:cs typeface="Poppins" panose="00000500000000000000" pitchFamily="2" charset="0"/>
            </a:endParaRPr>
          </a:p>
        </p:txBody>
      </p:sp>
      <p:cxnSp>
        <p:nvCxnSpPr>
          <p:cNvPr id="217" name="Straight Connector 216">
            <a:extLst>
              <a:ext uri="{FF2B5EF4-FFF2-40B4-BE49-F238E27FC236}">
                <a16:creationId xmlns:a16="http://schemas.microsoft.com/office/drawing/2014/main" id="{189F58BA-4F41-4AA3-C0D3-24F9F15DD2EF}"/>
              </a:ext>
            </a:extLst>
          </p:cNvPr>
          <p:cNvCxnSpPr>
            <a:cxnSpLocks/>
            <a:stCxn id="218" idx="6"/>
            <a:endCxn id="219" idx="2"/>
          </p:cNvCxnSpPr>
          <p:nvPr/>
        </p:nvCxnSpPr>
        <p:spPr>
          <a:xfrm>
            <a:off x="6657611" y="9136606"/>
            <a:ext cx="9934022" cy="0"/>
          </a:xfrm>
          <a:prstGeom prst="line">
            <a:avLst/>
          </a:prstGeom>
          <a:ln w="38100">
            <a:prstDash val="sysDot"/>
          </a:ln>
        </p:spPr>
        <p:style>
          <a:lnRef idx="1">
            <a:schemeClr val="accent1"/>
          </a:lnRef>
          <a:fillRef idx="0">
            <a:schemeClr val="accent1"/>
          </a:fillRef>
          <a:effectRef idx="0">
            <a:schemeClr val="accent1"/>
          </a:effectRef>
          <a:fontRef idx="minor">
            <a:schemeClr val="tx1"/>
          </a:fontRef>
        </p:style>
      </p:cxnSp>
      <p:sp>
        <p:nvSpPr>
          <p:cNvPr id="218" name="Oval 217">
            <a:extLst>
              <a:ext uri="{FF2B5EF4-FFF2-40B4-BE49-F238E27FC236}">
                <a16:creationId xmlns:a16="http://schemas.microsoft.com/office/drawing/2014/main" id="{E7033A11-C00D-18F9-F5BA-74624BE6C47F}"/>
              </a:ext>
            </a:extLst>
          </p:cNvPr>
          <p:cNvSpPr/>
          <p:nvPr/>
        </p:nvSpPr>
        <p:spPr>
          <a:xfrm>
            <a:off x="6474731" y="9045166"/>
            <a:ext cx="182880" cy="182880"/>
          </a:xfrm>
          <a:prstGeom prst="ellipse">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latin typeface="Poppins" panose="00000500000000000000" pitchFamily="2" charset="0"/>
              <a:cs typeface="Poppins" panose="00000500000000000000" pitchFamily="2" charset="0"/>
            </a:endParaRPr>
          </a:p>
        </p:txBody>
      </p:sp>
      <p:sp>
        <p:nvSpPr>
          <p:cNvPr id="219" name="Oval 218">
            <a:extLst>
              <a:ext uri="{FF2B5EF4-FFF2-40B4-BE49-F238E27FC236}">
                <a16:creationId xmlns:a16="http://schemas.microsoft.com/office/drawing/2014/main" id="{96BC4FBB-6E7D-BF50-B290-076634E2FD6B}"/>
              </a:ext>
            </a:extLst>
          </p:cNvPr>
          <p:cNvSpPr/>
          <p:nvPr/>
        </p:nvSpPr>
        <p:spPr>
          <a:xfrm>
            <a:off x="16591633" y="9045166"/>
            <a:ext cx="182880" cy="182880"/>
          </a:xfrm>
          <a:prstGeom prst="ellipse">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latin typeface="Poppins" panose="00000500000000000000" pitchFamily="2" charset="0"/>
              <a:cs typeface="Poppins" panose="00000500000000000000" pitchFamily="2" charset="0"/>
            </a:endParaRPr>
          </a:p>
        </p:txBody>
      </p:sp>
      <p:sp>
        <p:nvSpPr>
          <p:cNvPr id="220" name="Oval 219">
            <a:extLst>
              <a:ext uri="{FF2B5EF4-FFF2-40B4-BE49-F238E27FC236}">
                <a16:creationId xmlns:a16="http://schemas.microsoft.com/office/drawing/2014/main" id="{EB589718-0BF9-BE1A-D3C7-F556B55B03B8}"/>
              </a:ext>
            </a:extLst>
          </p:cNvPr>
          <p:cNvSpPr/>
          <p:nvPr/>
        </p:nvSpPr>
        <p:spPr>
          <a:xfrm>
            <a:off x="6952886" y="8908014"/>
            <a:ext cx="457202" cy="457202"/>
          </a:xfrm>
          <a:prstGeom prst="ellipse">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latin typeface="Poppins" panose="00000500000000000000" pitchFamily="2" charset="0"/>
              <a:cs typeface="Poppins" panose="00000500000000000000" pitchFamily="2" charset="0"/>
            </a:endParaRPr>
          </a:p>
        </p:txBody>
      </p:sp>
      <p:sp>
        <p:nvSpPr>
          <p:cNvPr id="221" name="TextBox 220">
            <a:extLst>
              <a:ext uri="{FF2B5EF4-FFF2-40B4-BE49-F238E27FC236}">
                <a16:creationId xmlns:a16="http://schemas.microsoft.com/office/drawing/2014/main" id="{BD874779-FEC8-C777-50B3-FAD0905523B0}"/>
              </a:ext>
            </a:extLst>
          </p:cNvPr>
          <p:cNvSpPr txBox="1"/>
          <p:nvPr/>
        </p:nvSpPr>
        <p:spPr>
          <a:xfrm>
            <a:off x="6267078" y="8465529"/>
            <a:ext cx="1828800" cy="276999"/>
          </a:xfrm>
          <a:prstGeom prst="rect">
            <a:avLst/>
          </a:prstGeom>
          <a:noFill/>
        </p:spPr>
        <p:txBody>
          <a:bodyPr wrap="square" rtlCol="0">
            <a:spAutoFit/>
          </a:bodyPr>
          <a:lstStyle/>
          <a:p>
            <a:pPr algn="ctr"/>
            <a:r>
              <a:rPr lang="en-US" sz="1200" b="1" dirty="0">
                <a:latin typeface="Poppins" panose="00000500000000000000" pitchFamily="2" charset="0"/>
                <a:cs typeface="Poppins" panose="00000500000000000000" pitchFamily="2" charset="0"/>
              </a:rPr>
              <a:t>Milestone 1</a:t>
            </a:r>
          </a:p>
        </p:txBody>
      </p:sp>
      <p:sp>
        <p:nvSpPr>
          <p:cNvPr id="222" name="Oval 221">
            <a:extLst>
              <a:ext uri="{FF2B5EF4-FFF2-40B4-BE49-F238E27FC236}">
                <a16:creationId xmlns:a16="http://schemas.microsoft.com/office/drawing/2014/main" id="{44DA8BB1-4AC7-9D39-BDC1-C7CCD84783C5}"/>
              </a:ext>
            </a:extLst>
          </p:cNvPr>
          <p:cNvSpPr/>
          <p:nvPr/>
        </p:nvSpPr>
        <p:spPr>
          <a:xfrm>
            <a:off x="8641283" y="8908014"/>
            <a:ext cx="457202" cy="457202"/>
          </a:xfrm>
          <a:prstGeom prst="ellipse">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latin typeface="Poppins" panose="00000500000000000000" pitchFamily="2" charset="0"/>
              <a:cs typeface="Poppins" panose="00000500000000000000" pitchFamily="2" charset="0"/>
            </a:endParaRPr>
          </a:p>
        </p:txBody>
      </p:sp>
      <p:sp>
        <p:nvSpPr>
          <p:cNvPr id="223" name="TextBox 222">
            <a:extLst>
              <a:ext uri="{FF2B5EF4-FFF2-40B4-BE49-F238E27FC236}">
                <a16:creationId xmlns:a16="http://schemas.microsoft.com/office/drawing/2014/main" id="{1BDC4965-F4F3-1A21-62E7-DDCFE6D6238C}"/>
              </a:ext>
            </a:extLst>
          </p:cNvPr>
          <p:cNvSpPr txBox="1"/>
          <p:nvPr/>
        </p:nvSpPr>
        <p:spPr>
          <a:xfrm>
            <a:off x="7955472" y="8465529"/>
            <a:ext cx="1828800" cy="276999"/>
          </a:xfrm>
          <a:prstGeom prst="rect">
            <a:avLst/>
          </a:prstGeom>
          <a:noFill/>
        </p:spPr>
        <p:txBody>
          <a:bodyPr wrap="square" rtlCol="0">
            <a:spAutoFit/>
          </a:bodyPr>
          <a:lstStyle/>
          <a:p>
            <a:pPr algn="ctr"/>
            <a:r>
              <a:rPr lang="en-US" sz="1200" b="1" dirty="0">
                <a:latin typeface="Poppins" panose="00000500000000000000" pitchFamily="2" charset="0"/>
                <a:cs typeface="Poppins" panose="00000500000000000000" pitchFamily="2" charset="0"/>
              </a:rPr>
              <a:t>Milestone 2</a:t>
            </a:r>
          </a:p>
        </p:txBody>
      </p:sp>
      <p:sp>
        <p:nvSpPr>
          <p:cNvPr id="224" name="Oval 223">
            <a:extLst>
              <a:ext uri="{FF2B5EF4-FFF2-40B4-BE49-F238E27FC236}">
                <a16:creationId xmlns:a16="http://schemas.microsoft.com/office/drawing/2014/main" id="{592EA74A-6D99-EBBF-7A9E-D30E62C078B4}"/>
              </a:ext>
            </a:extLst>
          </p:cNvPr>
          <p:cNvSpPr/>
          <p:nvPr/>
        </p:nvSpPr>
        <p:spPr>
          <a:xfrm>
            <a:off x="10125868" y="8896096"/>
            <a:ext cx="457202" cy="457202"/>
          </a:xfrm>
          <a:prstGeom prst="ellipse">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latin typeface="Poppins" panose="00000500000000000000" pitchFamily="2" charset="0"/>
              <a:cs typeface="Poppins" panose="00000500000000000000" pitchFamily="2" charset="0"/>
            </a:endParaRPr>
          </a:p>
        </p:txBody>
      </p:sp>
      <p:sp>
        <p:nvSpPr>
          <p:cNvPr id="225" name="TextBox 224">
            <a:extLst>
              <a:ext uri="{FF2B5EF4-FFF2-40B4-BE49-F238E27FC236}">
                <a16:creationId xmlns:a16="http://schemas.microsoft.com/office/drawing/2014/main" id="{45CB8D84-038A-D86E-89A3-5A588732A2ED}"/>
              </a:ext>
            </a:extLst>
          </p:cNvPr>
          <p:cNvSpPr txBox="1"/>
          <p:nvPr/>
        </p:nvSpPr>
        <p:spPr>
          <a:xfrm>
            <a:off x="9440057" y="8453611"/>
            <a:ext cx="1828800" cy="276999"/>
          </a:xfrm>
          <a:prstGeom prst="rect">
            <a:avLst/>
          </a:prstGeom>
          <a:noFill/>
        </p:spPr>
        <p:txBody>
          <a:bodyPr wrap="square" rtlCol="0">
            <a:spAutoFit/>
          </a:bodyPr>
          <a:lstStyle/>
          <a:p>
            <a:pPr algn="ctr"/>
            <a:r>
              <a:rPr lang="en-US" sz="1200" b="1" dirty="0">
                <a:latin typeface="Poppins" panose="00000500000000000000" pitchFamily="2" charset="0"/>
                <a:cs typeface="Poppins" panose="00000500000000000000" pitchFamily="2" charset="0"/>
              </a:rPr>
              <a:t>Milestone 3</a:t>
            </a:r>
          </a:p>
        </p:txBody>
      </p:sp>
      <p:sp>
        <p:nvSpPr>
          <p:cNvPr id="226" name="Oval 225">
            <a:extLst>
              <a:ext uri="{FF2B5EF4-FFF2-40B4-BE49-F238E27FC236}">
                <a16:creationId xmlns:a16="http://schemas.microsoft.com/office/drawing/2014/main" id="{A1A24EB1-88AD-5304-59CD-EF8AB50734E4}"/>
              </a:ext>
            </a:extLst>
          </p:cNvPr>
          <p:cNvSpPr/>
          <p:nvPr/>
        </p:nvSpPr>
        <p:spPr>
          <a:xfrm>
            <a:off x="11871944" y="8918426"/>
            <a:ext cx="457202" cy="457202"/>
          </a:xfrm>
          <a:prstGeom prst="ellipse">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latin typeface="Poppins" panose="00000500000000000000" pitchFamily="2" charset="0"/>
              <a:cs typeface="Poppins" panose="00000500000000000000" pitchFamily="2" charset="0"/>
            </a:endParaRPr>
          </a:p>
        </p:txBody>
      </p:sp>
      <p:sp>
        <p:nvSpPr>
          <p:cNvPr id="227" name="TextBox 226">
            <a:extLst>
              <a:ext uri="{FF2B5EF4-FFF2-40B4-BE49-F238E27FC236}">
                <a16:creationId xmlns:a16="http://schemas.microsoft.com/office/drawing/2014/main" id="{7E196CC6-11A4-010A-5345-9BC391795634}"/>
              </a:ext>
            </a:extLst>
          </p:cNvPr>
          <p:cNvSpPr txBox="1"/>
          <p:nvPr/>
        </p:nvSpPr>
        <p:spPr>
          <a:xfrm>
            <a:off x="11186130" y="8475939"/>
            <a:ext cx="1828800" cy="276999"/>
          </a:xfrm>
          <a:prstGeom prst="rect">
            <a:avLst/>
          </a:prstGeom>
          <a:noFill/>
        </p:spPr>
        <p:txBody>
          <a:bodyPr wrap="square" rtlCol="0">
            <a:spAutoFit/>
          </a:bodyPr>
          <a:lstStyle/>
          <a:p>
            <a:pPr algn="ctr"/>
            <a:r>
              <a:rPr lang="en-US" sz="1200" b="1" dirty="0">
                <a:latin typeface="Poppins" panose="00000500000000000000" pitchFamily="2" charset="0"/>
                <a:cs typeface="Poppins" panose="00000500000000000000" pitchFamily="2" charset="0"/>
              </a:rPr>
              <a:t>Milestone 4</a:t>
            </a:r>
          </a:p>
        </p:txBody>
      </p:sp>
      <p:sp>
        <p:nvSpPr>
          <p:cNvPr id="228" name="Oval 227">
            <a:extLst>
              <a:ext uri="{FF2B5EF4-FFF2-40B4-BE49-F238E27FC236}">
                <a16:creationId xmlns:a16="http://schemas.microsoft.com/office/drawing/2014/main" id="{716447BE-D070-B237-781C-61B67D09D97E}"/>
              </a:ext>
            </a:extLst>
          </p:cNvPr>
          <p:cNvSpPr/>
          <p:nvPr/>
        </p:nvSpPr>
        <p:spPr>
          <a:xfrm>
            <a:off x="13657736" y="8925315"/>
            <a:ext cx="457202" cy="457202"/>
          </a:xfrm>
          <a:prstGeom prst="ellipse">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latin typeface="Poppins" panose="00000500000000000000" pitchFamily="2" charset="0"/>
              <a:cs typeface="Poppins" panose="00000500000000000000" pitchFamily="2" charset="0"/>
            </a:endParaRPr>
          </a:p>
        </p:txBody>
      </p:sp>
      <p:sp>
        <p:nvSpPr>
          <p:cNvPr id="229" name="TextBox 228">
            <a:extLst>
              <a:ext uri="{FF2B5EF4-FFF2-40B4-BE49-F238E27FC236}">
                <a16:creationId xmlns:a16="http://schemas.microsoft.com/office/drawing/2014/main" id="{81810480-3F25-72A4-15E1-482507D7DC55}"/>
              </a:ext>
            </a:extLst>
          </p:cNvPr>
          <p:cNvSpPr txBox="1"/>
          <p:nvPr/>
        </p:nvSpPr>
        <p:spPr>
          <a:xfrm>
            <a:off x="12971928" y="8482828"/>
            <a:ext cx="1828800" cy="276999"/>
          </a:xfrm>
          <a:prstGeom prst="rect">
            <a:avLst/>
          </a:prstGeom>
          <a:noFill/>
        </p:spPr>
        <p:txBody>
          <a:bodyPr wrap="square" rtlCol="0">
            <a:spAutoFit/>
          </a:bodyPr>
          <a:lstStyle/>
          <a:p>
            <a:pPr algn="ctr"/>
            <a:r>
              <a:rPr lang="en-US" sz="1200" b="1" dirty="0">
                <a:latin typeface="Poppins" panose="00000500000000000000" pitchFamily="2" charset="0"/>
                <a:cs typeface="Poppins" panose="00000500000000000000" pitchFamily="2" charset="0"/>
              </a:rPr>
              <a:t>Milestone 5</a:t>
            </a:r>
          </a:p>
        </p:txBody>
      </p:sp>
      <p:sp>
        <p:nvSpPr>
          <p:cNvPr id="230" name="Oval 229">
            <a:extLst>
              <a:ext uri="{FF2B5EF4-FFF2-40B4-BE49-F238E27FC236}">
                <a16:creationId xmlns:a16="http://schemas.microsoft.com/office/drawing/2014/main" id="{EFBAA201-36EB-264E-43E8-AE521C65B827}"/>
              </a:ext>
            </a:extLst>
          </p:cNvPr>
          <p:cNvSpPr/>
          <p:nvPr/>
        </p:nvSpPr>
        <p:spPr>
          <a:xfrm>
            <a:off x="15363718" y="8913402"/>
            <a:ext cx="457202" cy="457202"/>
          </a:xfrm>
          <a:prstGeom prst="ellipse">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latin typeface="Poppins" panose="00000500000000000000" pitchFamily="2" charset="0"/>
              <a:cs typeface="Poppins" panose="00000500000000000000" pitchFamily="2" charset="0"/>
            </a:endParaRPr>
          </a:p>
        </p:txBody>
      </p:sp>
      <p:sp>
        <p:nvSpPr>
          <p:cNvPr id="231" name="TextBox 230">
            <a:extLst>
              <a:ext uri="{FF2B5EF4-FFF2-40B4-BE49-F238E27FC236}">
                <a16:creationId xmlns:a16="http://schemas.microsoft.com/office/drawing/2014/main" id="{4A219AE3-133B-E1EB-16F6-607F06DF6778}"/>
              </a:ext>
            </a:extLst>
          </p:cNvPr>
          <p:cNvSpPr txBox="1"/>
          <p:nvPr/>
        </p:nvSpPr>
        <p:spPr>
          <a:xfrm>
            <a:off x="14677904" y="8470911"/>
            <a:ext cx="1828800" cy="276999"/>
          </a:xfrm>
          <a:prstGeom prst="rect">
            <a:avLst/>
          </a:prstGeom>
          <a:noFill/>
        </p:spPr>
        <p:txBody>
          <a:bodyPr wrap="square" rtlCol="0">
            <a:spAutoFit/>
          </a:bodyPr>
          <a:lstStyle/>
          <a:p>
            <a:pPr algn="ctr"/>
            <a:r>
              <a:rPr lang="en-US" sz="1200" b="1" dirty="0">
                <a:latin typeface="Poppins" panose="00000500000000000000" pitchFamily="2" charset="0"/>
                <a:cs typeface="Poppins" panose="00000500000000000000" pitchFamily="2" charset="0"/>
              </a:rPr>
              <a:t>Milestone 6</a:t>
            </a:r>
          </a:p>
        </p:txBody>
      </p:sp>
      <p:sp>
        <p:nvSpPr>
          <p:cNvPr id="232" name="TextBox 231">
            <a:extLst>
              <a:ext uri="{FF2B5EF4-FFF2-40B4-BE49-F238E27FC236}">
                <a16:creationId xmlns:a16="http://schemas.microsoft.com/office/drawing/2014/main" id="{E291085C-A7F7-1F15-7E51-85684AF8B428}"/>
              </a:ext>
            </a:extLst>
          </p:cNvPr>
          <p:cNvSpPr txBox="1"/>
          <p:nvPr/>
        </p:nvSpPr>
        <p:spPr>
          <a:xfrm>
            <a:off x="5921969" y="9384831"/>
            <a:ext cx="2641436" cy="461665"/>
          </a:xfrm>
          <a:prstGeom prst="rect">
            <a:avLst/>
          </a:prstGeom>
          <a:noFill/>
        </p:spPr>
        <p:txBody>
          <a:bodyPr wrap="square" rtlCol="0">
            <a:spAutoFit/>
          </a:bodyPr>
          <a:lstStyle/>
          <a:p>
            <a:pPr algn="ctr"/>
            <a:r>
              <a:rPr lang="en-US" sz="1200" dirty="0">
                <a:latin typeface="Poppins" panose="00000500000000000000" pitchFamily="2" charset="0"/>
                <a:cs typeface="Poppins" panose="00000500000000000000" pitchFamily="2" charset="0"/>
              </a:rPr>
              <a:t>Define project goals</a:t>
            </a:r>
          </a:p>
          <a:p>
            <a:pPr algn="ctr"/>
            <a:r>
              <a:rPr lang="en-US" sz="1200" dirty="0">
                <a:latin typeface="Poppins" panose="00000500000000000000" pitchFamily="2" charset="0"/>
                <a:cs typeface="Poppins" panose="00000500000000000000" pitchFamily="2" charset="0"/>
              </a:rPr>
              <a:t>Create project charter </a:t>
            </a:r>
          </a:p>
        </p:txBody>
      </p:sp>
      <p:sp>
        <p:nvSpPr>
          <p:cNvPr id="233" name="TextBox 232">
            <a:extLst>
              <a:ext uri="{FF2B5EF4-FFF2-40B4-BE49-F238E27FC236}">
                <a16:creationId xmlns:a16="http://schemas.microsoft.com/office/drawing/2014/main" id="{1D3A0FC0-C336-EC04-A0BC-9436CEA5C9F7}"/>
              </a:ext>
            </a:extLst>
          </p:cNvPr>
          <p:cNvSpPr txBox="1"/>
          <p:nvPr/>
        </p:nvSpPr>
        <p:spPr>
          <a:xfrm>
            <a:off x="7614365" y="9384840"/>
            <a:ext cx="2641436" cy="646331"/>
          </a:xfrm>
          <a:prstGeom prst="rect">
            <a:avLst/>
          </a:prstGeom>
          <a:noFill/>
        </p:spPr>
        <p:txBody>
          <a:bodyPr wrap="square" rtlCol="0">
            <a:spAutoFit/>
          </a:bodyPr>
          <a:lstStyle/>
          <a:p>
            <a:pPr algn="ctr"/>
            <a:r>
              <a:rPr lang="en-US" sz="1200" dirty="0">
                <a:latin typeface="Poppins" panose="00000500000000000000" pitchFamily="2" charset="0"/>
                <a:cs typeface="Poppins" panose="00000500000000000000" pitchFamily="2" charset="0"/>
              </a:rPr>
              <a:t>Scope statement </a:t>
            </a:r>
          </a:p>
          <a:p>
            <a:pPr algn="ctr"/>
            <a:r>
              <a:rPr lang="en-US" sz="1200" dirty="0">
                <a:latin typeface="Poppins" panose="00000500000000000000" pitchFamily="2" charset="0"/>
                <a:cs typeface="Poppins" panose="00000500000000000000" pitchFamily="2" charset="0"/>
              </a:rPr>
              <a:t>Risk analysis </a:t>
            </a:r>
          </a:p>
          <a:p>
            <a:pPr algn="ctr"/>
            <a:r>
              <a:rPr lang="en-US" sz="1200" dirty="0">
                <a:latin typeface="Poppins" panose="00000500000000000000" pitchFamily="2" charset="0"/>
                <a:cs typeface="Poppins" panose="00000500000000000000" pitchFamily="2" charset="0"/>
              </a:rPr>
              <a:t>WBS and Project schedule</a:t>
            </a:r>
          </a:p>
        </p:txBody>
      </p:sp>
      <p:sp>
        <p:nvSpPr>
          <p:cNvPr id="234" name="TextBox 233">
            <a:extLst>
              <a:ext uri="{FF2B5EF4-FFF2-40B4-BE49-F238E27FC236}">
                <a16:creationId xmlns:a16="http://schemas.microsoft.com/office/drawing/2014/main" id="{31A90798-B1EA-F847-A52C-90EF569AFDEC}"/>
              </a:ext>
            </a:extLst>
          </p:cNvPr>
          <p:cNvSpPr txBox="1"/>
          <p:nvPr/>
        </p:nvSpPr>
        <p:spPr>
          <a:xfrm>
            <a:off x="9043336" y="9450550"/>
            <a:ext cx="2641436" cy="276999"/>
          </a:xfrm>
          <a:prstGeom prst="rect">
            <a:avLst/>
          </a:prstGeom>
          <a:noFill/>
        </p:spPr>
        <p:txBody>
          <a:bodyPr wrap="square" rtlCol="0">
            <a:spAutoFit/>
          </a:bodyPr>
          <a:lstStyle/>
          <a:p>
            <a:pPr algn="ctr"/>
            <a:r>
              <a:rPr lang="en-US" sz="1200" dirty="0">
                <a:latin typeface="Poppins" panose="00000500000000000000" pitchFamily="2" charset="0"/>
                <a:cs typeface="Poppins" panose="00000500000000000000" pitchFamily="2" charset="0"/>
              </a:rPr>
              <a:t>Design</a:t>
            </a:r>
          </a:p>
        </p:txBody>
      </p:sp>
      <p:sp>
        <p:nvSpPr>
          <p:cNvPr id="235" name="TextBox 234">
            <a:extLst>
              <a:ext uri="{FF2B5EF4-FFF2-40B4-BE49-F238E27FC236}">
                <a16:creationId xmlns:a16="http://schemas.microsoft.com/office/drawing/2014/main" id="{6277549A-B31C-DA67-9FA4-81D5A761950C}"/>
              </a:ext>
            </a:extLst>
          </p:cNvPr>
          <p:cNvSpPr txBox="1"/>
          <p:nvPr/>
        </p:nvSpPr>
        <p:spPr>
          <a:xfrm>
            <a:off x="10782637" y="9436130"/>
            <a:ext cx="2641436" cy="646331"/>
          </a:xfrm>
          <a:prstGeom prst="rect">
            <a:avLst/>
          </a:prstGeom>
          <a:noFill/>
        </p:spPr>
        <p:txBody>
          <a:bodyPr wrap="square" rtlCol="0">
            <a:spAutoFit/>
          </a:bodyPr>
          <a:lstStyle/>
          <a:p>
            <a:pPr algn="ctr"/>
            <a:r>
              <a:rPr lang="en-US" sz="1200" dirty="0">
                <a:latin typeface="Poppins" panose="00000500000000000000" pitchFamily="2" charset="0"/>
                <a:cs typeface="Poppins" panose="00000500000000000000" pitchFamily="2" charset="0"/>
              </a:rPr>
              <a:t>Database Implementation </a:t>
            </a:r>
          </a:p>
          <a:p>
            <a:pPr algn="ctr"/>
            <a:r>
              <a:rPr lang="en-US" sz="1200" dirty="0">
                <a:latin typeface="Poppins" panose="00000500000000000000" pitchFamily="2" charset="0"/>
                <a:cs typeface="Poppins" panose="00000500000000000000" pitchFamily="2" charset="0"/>
              </a:rPr>
              <a:t>AI model training </a:t>
            </a:r>
          </a:p>
          <a:p>
            <a:pPr algn="ctr"/>
            <a:r>
              <a:rPr lang="en-US" sz="1200" dirty="0">
                <a:latin typeface="Poppins" panose="00000500000000000000" pitchFamily="2" charset="0"/>
                <a:cs typeface="Poppins" panose="00000500000000000000" pitchFamily="2" charset="0"/>
              </a:rPr>
              <a:t>Security Implementation</a:t>
            </a:r>
          </a:p>
        </p:txBody>
      </p:sp>
      <p:sp>
        <p:nvSpPr>
          <p:cNvPr id="236" name="TextBox 235">
            <a:extLst>
              <a:ext uri="{FF2B5EF4-FFF2-40B4-BE49-F238E27FC236}">
                <a16:creationId xmlns:a16="http://schemas.microsoft.com/office/drawing/2014/main" id="{D43E3353-4B96-6772-CEAE-251CD2510CB2}"/>
              </a:ext>
            </a:extLst>
          </p:cNvPr>
          <p:cNvSpPr txBox="1"/>
          <p:nvPr/>
        </p:nvSpPr>
        <p:spPr>
          <a:xfrm>
            <a:off x="12531005" y="9455662"/>
            <a:ext cx="2641436" cy="276999"/>
          </a:xfrm>
          <a:prstGeom prst="rect">
            <a:avLst/>
          </a:prstGeom>
          <a:noFill/>
        </p:spPr>
        <p:txBody>
          <a:bodyPr wrap="square" rtlCol="0">
            <a:spAutoFit/>
          </a:bodyPr>
          <a:lstStyle/>
          <a:p>
            <a:pPr algn="ctr"/>
            <a:r>
              <a:rPr lang="en-US" sz="1200" dirty="0">
                <a:latin typeface="Poppins" panose="00000500000000000000" pitchFamily="2" charset="0"/>
                <a:cs typeface="Poppins" panose="00000500000000000000" pitchFamily="2" charset="0"/>
              </a:rPr>
              <a:t>Testing</a:t>
            </a:r>
          </a:p>
        </p:txBody>
      </p:sp>
      <p:sp>
        <p:nvSpPr>
          <p:cNvPr id="237" name="TextBox 236">
            <a:extLst>
              <a:ext uri="{FF2B5EF4-FFF2-40B4-BE49-F238E27FC236}">
                <a16:creationId xmlns:a16="http://schemas.microsoft.com/office/drawing/2014/main" id="{D6F0D5D2-B0F0-0201-3910-863B9718F6BB}"/>
              </a:ext>
            </a:extLst>
          </p:cNvPr>
          <p:cNvSpPr txBox="1"/>
          <p:nvPr/>
        </p:nvSpPr>
        <p:spPr>
          <a:xfrm>
            <a:off x="14291401" y="9461478"/>
            <a:ext cx="2641436" cy="461665"/>
          </a:xfrm>
          <a:prstGeom prst="rect">
            <a:avLst/>
          </a:prstGeom>
          <a:noFill/>
        </p:spPr>
        <p:txBody>
          <a:bodyPr wrap="square" rtlCol="0">
            <a:spAutoFit/>
          </a:bodyPr>
          <a:lstStyle/>
          <a:p>
            <a:pPr algn="ctr"/>
            <a:r>
              <a:rPr lang="en-US" sz="1200" dirty="0">
                <a:latin typeface="Poppins" panose="00000500000000000000" pitchFamily="2" charset="0"/>
                <a:cs typeface="Poppins" panose="00000500000000000000" pitchFamily="2" charset="0"/>
              </a:rPr>
              <a:t>Project documentation </a:t>
            </a:r>
          </a:p>
          <a:p>
            <a:pPr algn="ctr"/>
            <a:r>
              <a:rPr lang="en-US" sz="1200" dirty="0">
                <a:latin typeface="Poppins" panose="00000500000000000000" pitchFamily="2" charset="0"/>
                <a:cs typeface="Poppins" panose="00000500000000000000" pitchFamily="2" charset="0"/>
              </a:rPr>
              <a:t>Product delivery</a:t>
            </a:r>
          </a:p>
        </p:txBody>
      </p:sp>
      <p:sp>
        <p:nvSpPr>
          <p:cNvPr id="23" name="TextBox 22">
            <a:extLst>
              <a:ext uri="{FF2B5EF4-FFF2-40B4-BE49-F238E27FC236}">
                <a16:creationId xmlns:a16="http://schemas.microsoft.com/office/drawing/2014/main" id="{61C8E47F-CF2D-A0C0-0F67-AE8A98539D83}"/>
              </a:ext>
            </a:extLst>
          </p:cNvPr>
          <p:cNvSpPr txBox="1"/>
          <p:nvPr/>
        </p:nvSpPr>
        <p:spPr>
          <a:xfrm>
            <a:off x="3944504" y="6027589"/>
            <a:ext cx="1652618" cy="584775"/>
          </a:xfrm>
          <a:prstGeom prst="rect">
            <a:avLst/>
          </a:prstGeom>
          <a:noFill/>
        </p:spPr>
        <p:txBody>
          <a:bodyPr wrap="square" rtlCol="0">
            <a:spAutoFit/>
          </a:bodyPr>
          <a:lstStyle/>
          <a:p>
            <a:pPr algn="ctr"/>
            <a:r>
              <a:rPr lang="en-US" sz="1600" dirty="0">
                <a:latin typeface="Poppins" panose="00000500000000000000" pitchFamily="2" charset="0"/>
                <a:cs typeface="Poppins" panose="00000500000000000000" pitchFamily="2" charset="0"/>
              </a:rPr>
              <a:t>Salary</a:t>
            </a:r>
          </a:p>
          <a:p>
            <a:pPr algn="ctr"/>
            <a:r>
              <a:rPr lang="en-US" sz="1600" dirty="0">
                <a:latin typeface="Poppins" panose="00000500000000000000" pitchFamily="2" charset="0"/>
                <a:cs typeface="Poppins" panose="00000500000000000000" pitchFamily="2" charset="0"/>
              </a:rPr>
              <a:t>20 %</a:t>
            </a:r>
          </a:p>
        </p:txBody>
      </p:sp>
      <p:sp>
        <p:nvSpPr>
          <p:cNvPr id="24" name="TextBox 23">
            <a:extLst>
              <a:ext uri="{FF2B5EF4-FFF2-40B4-BE49-F238E27FC236}">
                <a16:creationId xmlns:a16="http://schemas.microsoft.com/office/drawing/2014/main" id="{53C9384F-ECC2-EE81-DBD0-A35ABE6860AD}"/>
              </a:ext>
            </a:extLst>
          </p:cNvPr>
          <p:cNvSpPr txBox="1"/>
          <p:nvPr/>
        </p:nvSpPr>
        <p:spPr>
          <a:xfrm>
            <a:off x="4757103" y="8048946"/>
            <a:ext cx="1652618" cy="584775"/>
          </a:xfrm>
          <a:prstGeom prst="rect">
            <a:avLst/>
          </a:prstGeom>
          <a:noFill/>
        </p:spPr>
        <p:txBody>
          <a:bodyPr wrap="square" rtlCol="0">
            <a:spAutoFit/>
          </a:bodyPr>
          <a:lstStyle/>
          <a:p>
            <a:pPr algn="ctr"/>
            <a:r>
              <a:rPr lang="en-US" sz="1600" dirty="0">
                <a:latin typeface="Poppins" panose="00000500000000000000" pitchFamily="2" charset="0"/>
                <a:cs typeface="Poppins" panose="00000500000000000000" pitchFamily="2" charset="0"/>
              </a:rPr>
              <a:t>Design</a:t>
            </a:r>
          </a:p>
          <a:p>
            <a:pPr algn="ctr"/>
            <a:r>
              <a:rPr lang="en-US" sz="1600" dirty="0">
                <a:latin typeface="Poppins" panose="00000500000000000000" pitchFamily="2" charset="0"/>
                <a:cs typeface="Poppins" panose="00000500000000000000" pitchFamily="2" charset="0"/>
              </a:rPr>
              <a:t>20 %</a:t>
            </a:r>
          </a:p>
        </p:txBody>
      </p:sp>
      <p:sp>
        <p:nvSpPr>
          <p:cNvPr id="25" name="TextBox 24">
            <a:extLst>
              <a:ext uri="{FF2B5EF4-FFF2-40B4-BE49-F238E27FC236}">
                <a16:creationId xmlns:a16="http://schemas.microsoft.com/office/drawing/2014/main" id="{2522600B-F501-EF8B-F4F1-75CC72B5A88B}"/>
              </a:ext>
            </a:extLst>
          </p:cNvPr>
          <p:cNvSpPr txBox="1"/>
          <p:nvPr/>
        </p:nvSpPr>
        <p:spPr>
          <a:xfrm>
            <a:off x="2491650" y="9068085"/>
            <a:ext cx="1652618" cy="584775"/>
          </a:xfrm>
          <a:prstGeom prst="rect">
            <a:avLst/>
          </a:prstGeom>
          <a:noFill/>
        </p:spPr>
        <p:txBody>
          <a:bodyPr wrap="square" rtlCol="0">
            <a:spAutoFit/>
          </a:bodyPr>
          <a:lstStyle/>
          <a:p>
            <a:pPr algn="ctr"/>
            <a:r>
              <a:rPr lang="en-US" sz="1600" dirty="0">
                <a:latin typeface="Poppins" panose="00000500000000000000" pitchFamily="2" charset="0"/>
                <a:cs typeface="Poppins" panose="00000500000000000000" pitchFamily="2" charset="0"/>
              </a:rPr>
              <a:t>Marketing</a:t>
            </a:r>
          </a:p>
          <a:p>
            <a:pPr algn="ctr"/>
            <a:r>
              <a:rPr lang="en-US" sz="1600" dirty="0">
                <a:latin typeface="Poppins" panose="00000500000000000000" pitchFamily="2" charset="0"/>
                <a:cs typeface="Poppins" panose="00000500000000000000" pitchFamily="2" charset="0"/>
              </a:rPr>
              <a:t>20 %</a:t>
            </a:r>
          </a:p>
        </p:txBody>
      </p:sp>
      <p:sp>
        <p:nvSpPr>
          <p:cNvPr id="26" name="TextBox 25">
            <a:extLst>
              <a:ext uri="{FF2B5EF4-FFF2-40B4-BE49-F238E27FC236}">
                <a16:creationId xmlns:a16="http://schemas.microsoft.com/office/drawing/2014/main" id="{58A5C31A-9B7A-4EE3-81AC-835596758515}"/>
              </a:ext>
            </a:extLst>
          </p:cNvPr>
          <p:cNvSpPr txBox="1"/>
          <p:nvPr/>
        </p:nvSpPr>
        <p:spPr>
          <a:xfrm>
            <a:off x="364725" y="8052319"/>
            <a:ext cx="1721046" cy="553998"/>
          </a:xfrm>
          <a:prstGeom prst="rect">
            <a:avLst/>
          </a:prstGeom>
          <a:noFill/>
        </p:spPr>
        <p:txBody>
          <a:bodyPr wrap="square" rtlCol="0">
            <a:spAutoFit/>
          </a:bodyPr>
          <a:lstStyle/>
          <a:p>
            <a:pPr algn="ctr"/>
            <a:r>
              <a:rPr lang="en-US" sz="1400" dirty="0">
                <a:latin typeface="Poppins" panose="00000500000000000000" pitchFamily="2" charset="0"/>
                <a:cs typeface="Poppins" panose="00000500000000000000" pitchFamily="2" charset="0"/>
              </a:rPr>
              <a:t>Implementation</a:t>
            </a:r>
            <a:endParaRPr lang="en-US" sz="1600" dirty="0">
              <a:latin typeface="Poppins" panose="00000500000000000000" pitchFamily="2" charset="0"/>
              <a:cs typeface="Poppins" panose="00000500000000000000" pitchFamily="2" charset="0"/>
            </a:endParaRPr>
          </a:p>
          <a:p>
            <a:pPr algn="ctr"/>
            <a:r>
              <a:rPr lang="en-US" sz="1600" dirty="0">
                <a:latin typeface="Poppins" panose="00000500000000000000" pitchFamily="2" charset="0"/>
                <a:cs typeface="Poppins" panose="00000500000000000000" pitchFamily="2" charset="0"/>
              </a:rPr>
              <a:t>20 %</a:t>
            </a:r>
          </a:p>
        </p:txBody>
      </p:sp>
      <p:sp>
        <p:nvSpPr>
          <p:cNvPr id="27" name="TextBox 26">
            <a:extLst>
              <a:ext uri="{FF2B5EF4-FFF2-40B4-BE49-F238E27FC236}">
                <a16:creationId xmlns:a16="http://schemas.microsoft.com/office/drawing/2014/main" id="{D8B47522-50DA-86C7-1CCA-5F0F5A3A0B2C}"/>
              </a:ext>
            </a:extLst>
          </p:cNvPr>
          <p:cNvSpPr txBox="1"/>
          <p:nvPr/>
        </p:nvSpPr>
        <p:spPr>
          <a:xfrm>
            <a:off x="682572" y="6027588"/>
            <a:ext cx="1721046" cy="584775"/>
          </a:xfrm>
          <a:prstGeom prst="rect">
            <a:avLst/>
          </a:prstGeom>
          <a:noFill/>
        </p:spPr>
        <p:txBody>
          <a:bodyPr wrap="square" rtlCol="0">
            <a:spAutoFit/>
          </a:bodyPr>
          <a:lstStyle/>
          <a:p>
            <a:pPr algn="ctr"/>
            <a:r>
              <a:rPr lang="en-US" sz="1600" dirty="0">
                <a:latin typeface="Poppins" panose="00000500000000000000" pitchFamily="2" charset="0"/>
                <a:cs typeface="Poppins" panose="00000500000000000000" pitchFamily="2" charset="0"/>
              </a:rPr>
              <a:t>Workspace</a:t>
            </a:r>
          </a:p>
          <a:p>
            <a:pPr algn="ctr"/>
            <a:r>
              <a:rPr lang="en-US" sz="1600" dirty="0">
                <a:latin typeface="Poppins" panose="00000500000000000000" pitchFamily="2" charset="0"/>
                <a:cs typeface="Poppins" panose="00000500000000000000" pitchFamily="2" charset="0"/>
              </a:rPr>
              <a:t>20 %</a:t>
            </a:r>
          </a:p>
        </p:txBody>
      </p:sp>
      <p:graphicFrame>
        <p:nvGraphicFramePr>
          <p:cNvPr id="29" name="Table 28">
            <a:extLst>
              <a:ext uri="{FF2B5EF4-FFF2-40B4-BE49-F238E27FC236}">
                <a16:creationId xmlns:a16="http://schemas.microsoft.com/office/drawing/2014/main" id="{BCCCCAC5-2200-7D8B-C604-E249A74B5A5D}"/>
              </a:ext>
            </a:extLst>
          </p:cNvPr>
          <p:cNvGraphicFramePr>
            <a:graphicFrameLocks noGrp="1"/>
          </p:cNvGraphicFramePr>
          <p:nvPr>
            <p:extLst>
              <p:ext uri="{D42A27DB-BD31-4B8C-83A1-F6EECF244321}">
                <p14:modId xmlns:p14="http://schemas.microsoft.com/office/powerpoint/2010/main" val="3512128865"/>
              </p:ext>
            </p:extLst>
          </p:nvPr>
        </p:nvGraphicFramePr>
        <p:xfrm>
          <a:off x="14041342" y="4640664"/>
          <a:ext cx="3045270" cy="3408282"/>
        </p:xfrm>
        <a:graphic>
          <a:graphicData uri="http://schemas.openxmlformats.org/drawingml/2006/table">
            <a:tbl>
              <a:tblPr firstRow="1" bandRow="1">
                <a:tableStyleId>{5C22544A-7EE6-4342-B048-85BDC9FD1C3A}</a:tableStyleId>
              </a:tblPr>
              <a:tblGrid>
                <a:gridCol w="3045270">
                  <a:extLst>
                    <a:ext uri="{9D8B030D-6E8A-4147-A177-3AD203B41FA5}">
                      <a16:colId xmlns:a16="http://schemas.microsoft.com/office/drawing/2014/main" val="2648260252"/>
                    </a:ext>
                  </a:extLst>
                </a:gridCol>
              </a:tblGrid>
              <a:tr h="477243">
                <a:tc>
                  <a:txBody>
                    <a:bodyPr/>
                    <a:lstStyle/>
                    <a:p>
                      <a:pPr algn="l"/>
                      <a:r>
                        <a:rPr lang="en-US" sz="2000" dirty="0">
                          <a:solidFill>
                            <a:schemeClr val="tx1"/>
                          </a:solidFill>
                        </a:rPr>
                        <a:t>   </a:t>
                      </a:r>
                      <a:r>
                        <a:rPr lang="en-US" sz="1800" dirty="0">
                          <a:solidFill>
                            <a:schemeClr val="tx1"/>
                          </a:solidFill>
                        </a:rPr>
                        <a:t>Risks</a:t>
                      </a:r>
                      <a:endParaRPr lang="en-US" sz="2000" dirty="0">
                        <a:solidFill>
                          <a:schemeClr val="tx1"/>
                        </a:solidFill>
                      </a:endParaRPr>
                    </a:p>
                  </a:txBody>
                  <a:tcPr marL="91442" marR="91442" anchor="ctr">
                    <a:lnB w="38100" cmpd="sng">
                      <a:noFill/>
                    </a:lnB>
                    <a:solidFill>
                      <a:schemeClr val="accent1">
                        <a:lumMod val="60000"/>
                        <a:lumOff val="40000"/>
                      </a:schemeClr>
                    </a:solidFill>
                  </a:tcPr>
                </a:tc>
                <a:extLst>
                  <a:ext uri="{0D108BD9-81ED-4DB2-BD59-A6C34878D82A}">
                    <a16:rowId xmlns:a16="http://schemas.microsoft.com/office/drawing/2014/main" val="427377648"/>
                  </a:ext>
                </a:extLst>
              </a:tr>
              <a:tr h="2931039">
                <a:tc>
                  <a:txBody>
                    <a:bodyPr/>
                    <a:lstStyle/>
                    <a:p>
                      <a:pPr marL="342900" lvl="0" indent="-342900">
                        <a:spcBef>
                          <a:spcPct val="0"/>
                        </a:spcBef>
                        <a:buFont typeface="Arial" panose="020B0604020202020204" pitchFamily="34" charset="0"/>
                        <a:buChar char="•"/>
                      </a:pPr>
                      <a:r>
                        <a:rPr lang="en-GB" sz="1200" spc="112" dirty="0">
                          <a:solidFill>
                            <a:srgbClr val="000000"/>
                          </a:solidFill>
                          <a:latin typeface="Poppins" panose="00000500000000000000" pitchFamily="2" charset="0"/>
                          <a:ea typeface="DM Sans"/>
                          <a:cs typeface="Poppins" panose="00000500000000000000" pitchFamily="2" charset="0"/>
                          <a:sym typeface="DM Sans"/>
                        </a:rPr>
                        <a:t>Scanner wrongly detect ingredients.</a:t>
                      </a:r>
                    </a:p>
                    <a:p>
                      <a:pPr marL="342900" lvl="0" indent="-342900">
                        <a:spcBef>
                          <a:spcPct val="0"/>
                        </a:spcBef>
                        <a:buFont typeface="Arial" panose="020B0604020202020204" pitchFamily="34" charset="0"/>
                        <a:buChar char="•"/>
                      </a:pPr>
                      <a:r>
                        <a:rPr lang="en-GB" sz="1200" spc="112" dirty="0">
                          <a:solidFill>
                            <a:srgbClr val="000000"/>
                          </a:solidFill>
                          <a:latin typeface="Poppins" panose="00000500000000000000" pitchFamily="2" charset="0"/>
                          <a:ea typeface="DM Sans"/>
                          <a:cs typeface="Poppins" panose="00000500000000000000" pitchFamily="2" charset="0"/>
                          <a:sym typeface="DM Sans"/>
                        </a:rPr>
                        <a:t>Server fails.</a:t>
                      </a:r>
                    </a:p>
                    <a:p>
                      <a:pPr marL="342900" lvl="0" indent="-342900">
                        <a:spcBef>
                          <a:spcPct val="0"/>
                        </a:spcBef>
                        <a:buFont typeface="Arial" panose="020B0604020202020204" pitchFamily="34" charset="0"/>
                        <a:buChar char="•"/>
                      </a:pPr>
                      <a:r>
                        <a:rPr lang="en-GB" sz="1200" u="none" spc="112" dirty="0">
                          <a:solidFill>
                            <a:srgbClr val="000000"/>
                          </a:solidFill>
                          <a:latin typeface="Poppins" panose="00000500000000000000" pitchFamily="2" charset="0"/>
                          <a:ea typeface="DM Sans"/>
                          <a:cs typeface="Poppins" panose="00000500000000000000" pitchFamily="2" charset="0"/>
                          <a:sym typeface="DM Sans"/>
                        </a:rPr>
                        <a:t>Lose Internet Connection.</a:t>
                      </a:r>
                    </a:p>
                    <a:p>
                      <a:pPr marL="342900" lvl="0" indent="-342900">
                        <a:spcBef>
                          <a:spcPct val="0"/>
                        </a:spcBef>
                        <a:buFont typeface="Arial" panose="020B0604020202020204" pitchFamily="34" charset="0"/>
                        <a:buChar char="•"/>
                      </a:pPr>
                      <a:r>
                        <a:rPr lang="en-GB" sz="1200" u="none" spc="112" dirty="0">
                          <a:solidFill>
                            <a:srgbClr val="000000"/>
                          </a:solidFill>
                          <a:latin typeface="Poppins" panose="00000500000000000000" pitchFamily="2" charset="0"/>
                          <a:ea typeface="DM Sans"/>
                          <a:cs typeface="Poppins" panose="00000500000000000000" pitchFamily="2" charset="0"/>
                          <a:sym typeface="DM Sans"/>
                        </a:rPr>
                        <a:t>Wrong results.</a:t>
                      </a:r>
                    </a:p>
                    <a:p>
                      <a:pPr marL="342900" lvl="0" indent="-342900">
                        <a:spcBef>
                          <a:spcPct val="0"/>
                        </a:spcBef>
                        <a:buFont typeface="Arial" panose="020B0604020202020204" pitchFamily="34" charset="0"/>
                        <a:buChar char="•"/>
                      </a:pPr>
                      <a:r>
                        <a:rPr lang="en-GB" sz="1200" u="none" spc="112" dirty="0">
                          <a:solidFill>
                            <a:srgbClr val="000000"/>
                          </a:solidFill>
                          <a:latin typeface="Poppins" panose="00000500000000000000" pitchFamily="2" charset="0"/>
                          <a:ea typeface="DM Sans"/>
                          <a:cs typeface="Poppins" panose="00000500000000000000" pitchFamily="2" charset="0"/>
                          <a:sym typeface="DM Sans"/>
                        </a:rPr>
                        <a:t>Transaction fails</a:t>
                      </a:r>
                    </a:p>
                  </a:txBody>
                  <a:tcPr marL="91442" marR="91442">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4050737383"/>
                  </a:ext>
                </a:extLst>
              </a:tr>
            </a:tbl>
          </a:graphicData>
        </a:graphic>
      </p:graphicFrame>
      <p:graphicFrame>
        <p:nvGraphicFramePr>
          <p:cNvPr id="30" name="Table 29">
            <a:extLst>
              <a:ext uri="{FF2B5EF4-FFF2-40B4-BE49-F238E27FC236}">
                <a16:creationId xmlns:a16="http://schemas.microsoft.com/office/drawing/2014/main" id="{0C3E7A4C-01C0-A70E-B3BD-FDFF5150E5CF}"/>
              </a:ext>
            </a:extLst>
          </p:cNvPr>
          <p:cNvGraphicFramePr>
            <a:graphicFrameLocks noGrp="1"/>
          </p:cNvGraphicFramePr>
          <p:nvPr>
            <p:extLst>
              <p:ext uri="{D42A27DB-BD31-4B8C-83A1-F6EECF244321}">
                <p14:modId xmlns:p14="http://schemas.microsoft.com/office/powerpoint/2010/main" val="3575243985"/>
              </p:ext>
            </p:extLst>
          </p:nvPr>
        </p:nvGraphicFramePr>
        <p:xfrm>
          <a:off x="10268910" y="4635186"/>
          <a:ext cx="3045270" cy="3408282"/>
        </p:xfrm>
        <a:graphic>
          <a:graphicData uri="http://schemas.openxmlformats.org/drawingml/2006/table">
            <a:tbl>
              <a:tblPr firstRow="1" bandRow="1">
                <a:tableStyleId>{5C22544A-7EE6-4342-B048-85BDC9FD1C3A}</a:tableStyleId>
              </a:tblPr>
              <a:tblGrid>
                <a:gridCol w="3045270">
                  <a:extLst>
                    <a:ext uri="{9D8B030D-6E8A-4147-A177-3AD203B41FA5}">
                      <a16:colId xmlns:a16="http://schemas.microsoft.com/office/drawing/2014/main" val="2648260252"/>
                    </a:ext>
                  </a:extLst>
                </a:gridCol>
              </a:tblGrid>
              <a:tr h="477243">
                <a:tc>
                  <a:txBody>
                    <a:bodyPr/>
                    <a:lstStyle/>
                    <a:p>
                      <a:pPr algn="l"/>
                      <a:r>
                        <a:rPr lang="en-US" sz="2000" dirty="0">
                          <a:solidFill>
                            <a:schemeClr val="tx1"/>
                          </a:solidFill>
                        </a:rPr>
                        <a:t>   Constraints</a:t>
                      </a:r>
                    </a:p>
                  </a:txBody>
                  <a:tcPr marL="91442" marR="91442" anchor="ctr">
                    <a:lnB w="38100" cmpd="sng">
                      <a:noFill/>
                    </a:lnB>
                    <a:solidFill>
                      <a:schemeClr val="accent1">
                        <a:lumMod val="60000"/>
                        <a:lumOff val="40000"/>
                      </a:schemeClr>
                    </a:solidFill>
                  </a:tcPr>
                </a:tc>
                <a:extLst>
                  <a:ext uri="{0D108BD9-81ED-4DB2-BD59-A6C34878D82A}">
                    <a16:rowId xmlns:a16="http://schemas.microsoft.com/office/drawing/2014/main" val="427377648"/>
                  </a:ext>
                </a:extLst>
              </a:tr>
              <a:tr h="2931039">
                <a:tc>
                  <a:txBody>
                    <a:bodyPr/>
                    <a:lstStyle/>
                    <a:p>
                      <a:pPr marL="342900" lvl="0" indent="-342900">
                        <a:spcBef>
                          <a:spcPct val="0"/>
                        </a:spcBef>
                        <a:buFont typeface="Arial" panose="020B0604020202020204" pitchFamily="34" charset="0"/>
                        <a:buChar char="•"/>
                      </a:pPr>
                      <a:r>
                        <a:rPr lang="en-GB" sz="1200" spc="112" dirty="0">
                          <a:solidFill>
                            <a:srgbClr val="000000"/>
                          </a:solidFill>
                          <a:latin typeface="Poppins" panose="00000500000000000000" pitchFamily="2" charset="0"/>
                          <a:ea typeface="DM Sans"/>
                          <a:cs typeface="Poppins" panose="00000500000000000000" pitchFamily="2" charset="0"/>
                          <a:sym typeface="DM Sans"/>
                        </a:rPr>
                        <a:t>Project duration is limited to one month and 7 days.</a:t>
                      </a:r>
                    </a:p>
                    <a:p>
                      <a:pPr marL="342900" lvl="0" indent="-342900">
                        <a:spcBef>
                          <a:spcPct val="0"/>
                        </a:spcBef>
                        <a:buFont typeface="Arial" panose="020B0604020202020204" pitchFamily="34" charset="0"/>
                        <a:buChar char="•"/>
                      </a:pPr>
                      <a:r>
                        <a:rPr lang="en-GB" sz="1200" spc="112" dirty="0">
                          <a:solidFill>
                            <a:srgbClr val="000000"/>
                          </a:solidFill>
                          <a:latin typeface="Poppins" panose="00000500000000000000" pitchFamily="2" charset="0"/>
                          <a:ea typeface="DM Sans"/>
                          <a:cs typeface="Poppins" panose="00000500000000000000" pitchFamily="2" charset="0"/>
                          <a:sym typeface="DM Sans"/>
                        </a:rPr>
                        <a:t>Total budget cannot exceed EGP 150,000.</a:t>
                      </a:r>
                    </a:p>
                    <a:p>
                      <a:pPr marL="342900" lvl="0" indent="-342900">
                        <a:spcBef>
                          <a:spcPct val="0"/>
                        </a:spcBef>
                        <a:buFont typeface="Arial" panose="020B0604020202020204" pitchFamily="34" charset="0"/>
                        <a:buChar char="•"/>
                      </a:pPr>
                      <a:r>
                        <a:rPr lang="en-GB" sz="1200" spc="112" dirty="0">
                          <a:solidFill>
                            <a:srgbClr val="000000"/>
                          </a:solidFill>
                          <a:latin typeface="Poppins" panose="00000500000000000000" pitchFamily="2" charset="0"/>
                          <a:ea typeface="DM Sans"/>
                          <a:cs typeface="Poppins" panose="00000500000000000000" pitchFamily="2" charset="0"/>
                          <a:sym typeface="DM Sans"/>
                        </a:rPr>
                        <a:t>The app must comply with data privacy and security regulations.</a:t>
                      </a:r>
                    </a:p>
                    <a:p>
                      <a:pPr marL="342900" lvl="0" indent="-342900">
                        <a:spcBef>
                          <a:spcPct val="0"/>
                        </a:spcBef>
                        <a:buFont typeface="Arial" panose="020B0604020202020204" pitchFamily="34" charset="0"/>
                        <a:buChar char="•"/>
                      </a:pPr>
                      <a:r>
                        <a:rPr lang="en-GB" sz="1200" spc="112" dirty="0">
                          <a:solidFill>
                            <a:srgbClr val="000000"/>
                          </a:solidFill>
                          <a:latin typeface="Poppins" panose="00000500000000000000" pitchFamily="2" charset="0"/>
                          <a:ea typeface="DM Sans"/>
                          <a:cs typeface="Poppins" panose="00000500000000000000" pitchFamily="2" charset="0"/>
                          <a:sym typeface="DM Sans"/>
                        </a:rPr>
                        <a:t>The app must run on Android 10 or higher.</a:t>
                      </a:r>
                    </a:p>
                    <a:p>
                      <a:pPr marL="342900" lvl="0" indent="-342900">
                        <a:spcBef>
                          <a:spcPct val="0"/>
                        </a:spcBef>
                        <a:buFont typeface="Arial" panose="020B0604020202020204" pitchFamily="34" charset="0"/>
                        <a:buChar char="•"/>
                      </a:pPr>
                      <a:r>
                        <a:rPr lang="en-GB" sz="1200" spc="112" dirty="0">
                          <a:solidFill>
                            <a:srgbClr val="000000"/>
                          </a:solidFill>
                          <a:latin typeface="Poppins" panose="00000500000000000000" pitchFamily="2" charset="0"/>
                          <a:ea typeface="DM Sans"/>
                          <a:cs typeface="Poppins" panose="00000500000000000000" pitchFamily="2" charset="0"/>
                          <a:sym typeface="DM Sans"/>
                        </a:rPr>
                        <a:t>All design and code must be completed using open-source tools.</a:t>
                      </a:r>
                    </a:p>
                  </a:txBody>
                  <a:tcPr marL="91442" marR="91442">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4050737383"/>
                  </a:ext>
                </a:extLst>
              </a:tr>
            </a:tbl>
          </a:graphicData>
        </a:graphic>
      </p:graphicFrame>
      <p:graphicFrame>
        <p:nvGraphicFramePr>
          <p:cNvPr id="31" name="Table 30">
            <a:extLst>
              <a:ext uri="{FF2B5EF4-FFF2-40B4-BE49-F238E27FC236}">
                <a16:creationId xmlns:a16="http://schemas.microsoft.com/office/drawing/2014/main" id="{1AB66214-3ACD-C0F0-5D8F-08195CB7D6B6}"/>
              </a:ext>
            </a:extLst>
          </p:cNvPr>
          <p:cNvGraphicFramePr>
            <a:graphicFrameLocks noGrp="1"/>
          </p:cNvGraphicFramePr>
          <p:nvPr>
            <p:extLst>
              <p:ext uri="{D42A27DB-BD31-4B8C-83A1-F6EECF244321}">
                <p14:modId xmlns:p14="http://schemas.microsoft.com/office/powerpoint/2010/main" val="172362082"/>
              </p:ext>
            </p:extLst>
          </p:nvPr>
        </p:nvGraphicFramePr>
        <p:xfrm>
          <a:off x="6506159" y="4635186"/>
          <a:ext cx="3045270" cy="3413760"/>
        </p:xfrm>
        <a:graphic>
          <a:graphicData uri="http://schemas.openxmlformats.org/drawingml/2006/table">
            <a:tbl>
              <a:tblPr firstRow="1" bandRow="1">
                <a:tableStyleId>{5C22544A-7EE6-4342-B048-85BDC9FD1C3A}</a:tableStyleId>
              </a:tblPr>
              <a:tblGrid>
                <a:gridCol w="3045270">
                  <a:extLst>
                    <a:ext uri="{9D8B030D-6E8A-4147-A177-3AD203B41FA5}">
                      <a16:colId xmlns:a16="http://schemas.microsoft.com/office/drawing/2014/main" val="2648260252"/>
                    </a:ext>
                  </a:extLst>
                </a:gridCol>
              </a:tblGrid>
              <a:tr h="308341">
                <a:tc>
                  <a:txBody>
                    <a:bodyPr/>
                    <a:lstStyle/>
                    <a:p>
                      <a:pPr algn="l"/>
                      <a:r>
                        <a:rPr lang="en-US" sz="2000" dirty="0">
                          <a:solidFill>
                            <a:schemeClr val="tx1"/>
                          </a:solidFill>
                        </a:rPr>
                        <a:t>   </a:t>
                      </a:r>
                      <a:r>
                        <a:rPr lang="en-US" sz="1800" dirty="0">
                          <a:solidFill>
                            <a:schemeClr val="tx1"/>
                          </a:solidFill>
                        </a:rPr>
                        <a:t>Assumptions</a:t>
                      </a:r>
                      <a:endParaRPr lang="en-US" sz="2000" dirty="0">
                        <a:solidFill>
                          <a:schemeClr val="tx1"/>
                        </a:solidFill>
                      </a:endParaRPr>
                    </a:p>
                  </a:txBody>
                  <a:tcPr marL="91442" marR="91442" anchor="ctr">
                    <a:lnB w="38100" cmpd="sng">
                      <a:noFill/>
                    </a:lnB>
                    <a:solidFill>
                      <a:schemeClr val="accent1">
                        <a:lumMod val="60000"/>
                        <a:lumOff val="40000"/>
                      </a:schemeClr>
                    </a:solidFill>
                  </a:tcPr>
                </a:tc>
                <a:extLst>
                  <a:ext uri="{0D108BD9-81ED-4DB2-BD59-A6C34878D82A}">
                    <a16:rowId xmlns:a16="http://schemas.microsoft.com/office/drawing/2014/main" val="427377648"/>
                  </a:ext>
                </a:extLst>
              </a:tr>
              <a:tr h="2433549">
                <a:tc>
                  <a:txBody>
                    <a:bodyPr/>
                    <a:lstStyle/>
                    <a:p>
                      <a:pPr marL="342900" lvl="0" indent="-342900">
                        <a:spcBef>
                          <a:spcPct val="0"/>
                        </a:spcBef>
                        <a:buFont typeface="Arial" panose="020B0604020202020204" pitchFamily="34" charset="0"/>
                        <a:buChar char="•"/>
                      </a:pPr>
                      <a:r>
                        <a:rPr lang="en-GB" sz="1200" spc="112" dirty="0">
                          <a:solidFill>
                            <a:srgbClr val="000000"/>
                          </a:solidFill>
                          <a:latin typeface="Poppins" panose="00000500000000000000" pitchFamily="2" charset="0"/>
                          <a:ea typeface="DM Sans"/>
                          <a:cs typeface="Poppins" panose="00000500000000000000" pitchFamily="2" charset="0"/>
                          <a:sym typeface="DM Sans"/>
                        </a:rPr>
                        <a:t>Users will have access to smartphones with working cameras.</a:t>
                      </a:r>
                    </a:p>
                    <a:p>
                      <a:pPr marL="342900" lvl="0" indent="-342900">
                        <a:spcBef>
                          <a:spcPct val="0"/>
                        </a:spcBef>
                        <a:buFont typeface="Arial" panose="020B0604020202020204" pitchFamily="34" charset="0"/>
                        <a:buChar char="•"/>
                      </a:pPr>
                      <a:r>
                        <a:rPr lang="en-GB" sz="1200" spc="112" dirty="0">
                          <a:solidFill>
                            <a:srgbClr val="000000"/>
                          </a:solidFill>
                          <a:latin typeface="Poppins" panose="00000500000000000000" pitchFamily="2" charset="0"/>
                          <a:ea typeface="DM Sans"/>
                          <a:cs typeface="Poppins" panose="00000500000000000000" pitchFamily="2" charset="0"/>
                          <a:sym typeface="DM Sans"/>
                        </a:rPr>
                        <a:t>Users will have a stable internet connection when using the app.</a:t>
                      </a:r>
                    </a:p>
                    <a:p>
                      <a:pPr marL="342900" lvl="0" indent="-342900">
                        <a:spcBef>
                          <a:spcPct val="0"/>
                        </a:spcBef>
                        <a:buFont typeface="Arial" panose="020B0604020202020204" pitchFamily="34" charset="0"/>
                        <a:buChar char="•"/>
                      </a:pPr>
                      <a:r>
                        <a:rPr lang="en-GB" sz="1200" u="none" spc="112" dirty="0">
                          <a:solidFill>
                            <a:srgbClr val="000000"/>
                          </a:solidFill>
                          <a:latin typeface="Poppins" panose="00000500000000000000" pitchFamily="2" charset="0"/>
                          <a:ea typeface="DM Sans"/>
                          <a:cs typeface="Poppins" panose="00000500000000000000" pitchFamily="2" charset="0"/>
                          <a:sym typeface="DM Sans"/>
                        </a:rPr>
                        <a:t>The image recognition API will function accurately and consistently.</a:t>
                      </a:r>
                    </a:p>
                    <a:p>
                      <a:pPr marL="342900" lvl="0" indent="-342900">
                        <a:spcBef>
                          <a:spcPct val="0"/>
                        </a:spcBef>
                        <a:buFont typeface="Arial" panose="020B0604020202020204" pitchFamily="34" charset="0"/>
                        <a:buChar char="•"/>
                      </a:pPr>
                      <a:r>
                        <a:rPr lang="en-GB" sz="1200" u="none" spc="112" dirty="0">
                          <a:solidFill>
                            <a:srgbClr val="000000"/>
                          </a:solidFill>
                          <a:latin typeface="Poppins" panose="00000500000000000000" pitchFamily="2" charset="0"/>
                          <a:ea typeface="DM Sans"/>
                          <a:cs typeface="Poppins" panose="00000500000000000000" pitchFamily="2" charset="0"/>
                          <a:sym typeface="DM Sans"/>
                        </a:rPr>
                        <a:t>Required datasets (ingredients, recipes) will be provided or found online.</a:t>
                      </a:r>
                    </a:p>
                    <a:p>
                      <a:pPr marL="342900" lvl="0" indent="-342900">
                        <a:spcBef>
                          <a:spcPct val="0"/>
                        </a:spcBef>
                        <a:buFont typeface="Arial" panose="020B0604020202020204" pitchFamily="34" charset="0"/>
                        <a:buChar char="•"/>
                      </a:pPr>
                      <a:r>
                        <a:rPr lang="en-GB" sz="1200" u="none" spc="112" dirty="0">
                          <a:solidFill>
                            <a:srgbClr val="000000"/>
                          </a:solidFill>
                          <a:latin typeface="Poppins" panose="00000500000000000000" pitchFamily="2" charset="0"/>
                          <a:ea typeface="DM Sans"/>
                          <a:cs typeface="Poppins" panose="00000500000000000000" pitchFamily="2" charset="0"/>
                          <a:sym typeface="DM Sans"/>
                        </a:rPr>
                        <a:t>Team members will be available throughout the project period.</a:t>
                      </a:r>
                    </a:p>
                  </a:txBody>
                  <a:tcPr marL="91442" marR="91442">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4050737383"/>
                  </a:ext>
                </a:extLst>
              </a:tr>
            </a:tbl>
          </a:graphicData>
        </a:graphic>
      </p:graphicFrame>
    </p:spTree>
    <p:extLst>
      <p:ext uri="{BB962C8B-B14F-4D97-AF65-F5344CB8AC3E}">
        <p14:creationId xmlns:p14="http://schemas.microsoft.com/office/powerpoint/2010/main" val="34752500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AAD7D4"/>
        </a:solidFill>
        <a:effectLst/>
      </p:bgPr>
    </p:bg>
    <p:spTree>
      <p:nvGrpSpPr>
        <p:cNvPr id="1" name=""/>
        <p:cNvGrpSpPr/>
        <p:nvPr/>
      </p:nvGrpSpPr>
      <p:grpSpPr>
        <a:xfrm>
          <a:off x="0" y="0"/>
          <a:ext cx="0" cy="0"/>
          <a:chOff x="0" y="0"/>
          <a:chExt cx="0" cy="0"/>
        </a:xfrm>
      </p:grpSpPr>
      <p:sp>
        <p:nvSpPr>
          <p:cNvPr id="2" name="TextBox 2"/>
          <p:cNvSpPr txBox="1"/>
          <p:nvPr/>
        </p:nvSpPr>
        <p:spPr>
          <a:xfrm>
            <a:off x="3182036" y="3699035"/>
            <a:ext cx="11923967" cy="2788071"/>
          </a:xfrm>
          <a:prstGeom prst="rect">
            <a:avLst/>
          </a:prstGeom>
        </p:spPr>
        <p:txBody>
          <a:bodyPr lIns="0" tIns="0" rIns="0" bIns="0" rtlCol="0" anchor="t">
            <a:spAutoFit/>
          </a:bodyPr>
          <a:lstStyle/>
          <a:p>
            <a:pPr algn="ctr">
              <a:lnSpc>
                <a:spcPts val="10460"/>
              </a:lnSpc>
            </a:pPr>
            <a:r>
              <a:rPr lang="en-US" sz="12021" b="1" dirty="0">
                <a:solidFill>
                  <a:srgbClr val="1C2120"/>
                </a:solidFill>
                <a:latin typeface="Poppins Bold"/>
                <a:ea typeface="Poppins Bold"/>
                <a:cs typeface="Poppins Bold"/>
                <a:sym typeface="Poppins Bold"/>
              </a:rPr>
              <a:t>Thank you very much!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235</TotalTime>
  <Words>1283</Words>
  <Application>Microsoft Office PowerPoint</Application>
  <PresentationFormat>Custom</PresentationFormat>
  <Paragraphs>193</Paragraphs>
  <Slides>14</Slides>
  <Notes>1</Notes>
  <HiddenSlides>0</HiddenSlides>
  <MMClips>0</MMClips>
  <ScaleCrop>false</ScaleCrop>
  <HeadingPairs>
    <vt:vector size="8" baseType="variant">
      <vt:variant>
        <vt:lpstr>Fonts Used</vt:lpstr>
      </vt:variant>
      <vt:variant>
        <vt:i4>7</vt:i4>
      </vt:variant>
      <vt:variant>
        <vt:lpstr>Theme</vt:lpstr>
      </vt:variant>
      <vt:variant>
        <vt:i4>1</vt:i4>
      </vt:variant>
      <vt:variant>
        <vt:lpstr>Slide Titles</vt:lpstr>
      </vt:variant>
      <vt:variant>
        <vt:i4>14</vt:i4>
      </vt:variant>
      <vt:variant>
        <vt:lpstr>Custom Shows</vt:lpstr>
      </vt:variant>
      <vt:variant>
        <vt:i4>1</vt:i4>
      </vt:variant>
    </vt:vector>
  </HeadingPairs>
  <TitlesOfParts>
    <vt:vector size="23" baseType="lpstr">
      <vt:lpstr>Calibri</vt:lpstr>
      <vt:lpstr>Aptos</vt:lpstr>
      <vt:lpstr>Poppins Semi-Bold</vt:lpstr>
      <vt:lpstr>Poppins Bold</vt:lpstr>
      <vt:lpstr>Arial</vt:lpstr>
      <vt:lpstr>Poppins</vt:lpstr>
      <vt:lpstr>DM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Custom Show 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Mahmoud Samer</dc:creator>
  <cp:lastModifiedBy>Mahmoud Samer</cp:lastModifiedBy>
  <cp:revision>16</cp:revision>
  <dcterms:created xsi:type="dcterms:W3CDTF">2006-08-16T00:00:00Z</dcterms:created>
  <dcterms:modified xsi:type="dcterms:W3CDTF">2025-10-28T21:32:26Z</dcterms:modified>
  <dc:identifier>DAG26tDMu3M</dc:identifier>
</cp:coreProperties>
</file>